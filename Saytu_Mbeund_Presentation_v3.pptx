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1.png"/><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0" Type="http://schemas.openxmlformats.org/officeDocument/2006/relationships/notesSlide" Target="../notesSlides/notesSlide8.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2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47A1"/>
        </a:solidFill>
        <a:effectLst/>
      </p:bgPr>
    </p:bg>
    <p:spTree>
      <p:nvGrpSpPr>
        <p:cNvPr id="1" name=""/>
        <p:cNvGrpSpPr/>
        <p:nvPr/>
      </p:nvGrpSpPr>
      <p:grpSpPr>
        <a:xfrm>
          <a:off x="0" y="0"/>
          <a:ext cx="0" cy="0"/>
          <a:chOff x="0" y="0"/>
          <a:chExt cx="0" cy="0"/>
        </a:xfrm>
      </p:grpSpPr>
      <p:sp>
        <p:nvSpPr>
          <p:cNvPr id="2" name="Shape 0"/>
          <p:cNvSpPr/>
          <p:nvPr/>
        </p:nvSpPr>
        <p:spPr>
          <a:xfrm>
            <a:off x="-1828800" y="-2743200"/>
            <a:ext cx="7315200" cy="7315200"/>
          </a:xfrm>
          <a:prstGeom prst="ellipse">
            <a:avLst/>
          </a:prstGeom>
          <a:solidFill>
            <a:srgbClr val="1565C0">
              <a:alpha val="40000"/>
            </a:srgbClr>
          </a:solidFill>
          <a:ln w="12700">
            <a:solidFill>
              <a:srgbClr val="1565C0"/>
            </a:solidFill>
            <a:prstDash val="solid"/>
          </a:ln>
        </p:spPr>
      </p:sp>
      <p:sp>
        <p:nvSpPr>
          <p:cNvPr id="3" name="Shape 1"/>
          <p:cNvSpPr/>
          <p:nvPr/>
        </p:nvSpPr>
        <p:spPr>
          <a:xfrm>
            <a:off x="8503920" y="3200400"/>
            <a:ext cx="6400800" cy="6400800"/>
          </a:xfrm>
          <a:prstGeom prst="ellipse">
            <a:avLst/>
          </a:prstGeom>
          <a:solidFill>
            <a:srgbClr val="1565C0">
              <a:alpha val="30000"/>
            </a:srgbClr>
          </a:solidFill>
          <a:ln w="12700">
            <a:solidFill>
              <a:srgbClr val="1565C0"/>
            </a:solidFill>
            <a:prstDash val="solid"/>
          </a:ln>
        </p:spPr>
      </p:sp>
      <p:pic>
        <p:nvPicPr>
          <p:cNvPr id="4" name="Image 0" descr="preencoded.png"/>
          <p:cNvPicPr>
            <a:picLocks noChangeAspect="1"/>
          </p:cNvPicPr>
          <p:nvPr/>
        </p:nvPicPr>
        <p:blipFill>
          <a:blip r:embed="rId1">
            <a:alphaModFix amt="50000"/>
          </a:blip>
          <a:stretch>
            <a:fillRect/>
          </a:stretch>
        </p:blipFill>
        <p:spPr>
          <a:xfrm>
            <a:off x="9784080" y="457200"/>
            <a:ext cx="1645920" cy="1645920"/>
          </a:xfrm>
          <a:prstGeom prst="rect">
            <a:avLst/>
          </a:prstGeom>
        </p:spPr>
      </p:pic>
      <p:sp>
        <p:nvSpPr>
          <p:cNvPr id="5" name="Text 2"/>
          <p:cNvSpPr/>
          <p:nvPr/>
        </p:nvSpPr>
        <p:spPr>
          <a:xfrm>
            <a:off x="731520" y="1097280"/>
            <a:ext cx="10058400" cy="365760"/>
          </a:xfrm>
          <a:prstGeom prst="rect">
            <a:avLst/>
          </a:prstGeom>
          <a:noFill/>
        </p:spPr>
        <p:txBody>
          <a:bodyPr wrap="square" lIns="0" tIns="0" rIns="0" bIns="0" rtlCol="0" anchor="ctr"/>
          <a:lstStyle/>
          <a:p>
            <a:pPr marL="0" indent="0">
              <a:buNone/>
            </a:pPr>
            <a:r>
              <a:rPr lang="en-US" sz="1100" b="1" kern="0" spc="500" dirty="0">
                <a:solidFill>
                  <a:srgbClr val="42A5F5"/>
                </a:solidFill>
                <a:latin typeface="Calibri" pitchFamily="34" charset="0"/>
                <a:ea typeface="Calibri" pitchFamily="34" charset="-122"/>
                <a:cs typeface="Calibri" pitchFamily="34" charset="-120"/>
              </a:rPr>
              <a:t>RÉPUBLIQUE DU SÉNÉGAL  ·  PROJET YAATAL DIGITAL</a:t>
            </a:r>
            <a:endParaRPr lang="en-US" sz="1100" dirty="0"/>
          </a:p>
        </p:txBody>
      </p:sp>
      <p:sp>
        <p:nvSpPr>
          <p:cNvPr id="6" name="Text 3"/>
          <p:cNvSpPr/>
          <p:nvPr/>
        </p:nvSpPr>
        <p:spPr>
          <a:xfrm>
            <a:off x="731520" y="1508760"/>
            <a:ext cx="10972800" cy="1371600"/>
          </a:xfrm>
          <a:prstGeom prst="rect">
            <a:avLst/>
          </a:prstGeom>
          <a:noFill/>
        </p:spPr>
        <p:txBody>
          <a:bodyPr wrap="square" lIns="0" tIns="0" rIns="0" bIns="0" rtlCol="0" anchor="ctr"/>
          <a:lstStyle/>
          <a:p>
            <a:pPr marL="0" indent="0">
              <a:buNone/>
            </a:pPr>
            <a:r>
              <a:rPr lang="en-US" sz="7800" b="1" kern="0" spc="200" dirty="0">
                <a:solidFill>
                  <a:srgbClr val="FFFFFF"/>
                </a:solidFill>
                <a:latin typeface="Georgia" panose="02040502050405090303" pitchFamily="34" charset="0"/>
                <a:ea typeface="Georgia" panose="02040502050405090303" pitchFamily="34" charset="-122"/>
                <a:cs typeface="Georgia" panose="02040502050405090303" pitchFamily="34" charset="-120"/>
              </a:rPr>
              <a:t>Saytu Mbeund</a:t>
            </a:r>
            <a:endParaRPr lang="en-US" sz="7800" dirty="0"/>
          </a:p>
        </p:txBody>
      </p:sp>
      <p:sp>
        <p:nvSpPr>
          <p:cNvPr id="7" name="Text 4"/>
          <p:cNvSpPr/>
          <p:nvPr/>
        </p:nvSpPr>
        <p:spPr>
          <a:xfrm>
            <a:off x="777240" y="2788920"/>
            <a:ext cx="10515600" cy="365760"/>
          </a:xfrm>
          <a:prstGeom prst="rect">
            <a:avLst/>
          </a:prstGeom>
          <a:noFill/>
        </p:spPr>
        <p:txBody>
          <a:bodyPr wrap="square" lIns="0" tIns="0" rIns="0" bIns="0" rtlCol="0" anchor="ctr"/>
          <a:lstStyle/>
          <a:p>
            <a:pPr marL="0" indent="0">
              <a:buNone/>
            </a:pPr>
            <a:r>
              <a:rPr lang="en-US" sz="1300" i="1" dirty="0">
                <a:solidFill>
                  <a:srgbClr val="F59E0B"/>
                </a:solidFill>
                <a:latin typeface="Georgia" panose="02040502050405090303" pitchFamily="34" charset="0"/>
                <a:ea typeface="Georgia" panose="02040502050405090303" pitchFamily="34" charset="-122"/>
                <a:cs typeface="Georgia" panose="02040502050405090303" pitchFamily="34" charset="-120"/>
              </a:rPr>
              <a:t>« Veiller sur les inondations »  ·  Plateforme FloodGuardAI</a:t>
            </a:r>
            <a:endParaRPr lang="en-US" sz="1300" dirty="0"/>
          </a:p>
        </p:txBody>
      </p:sp>
      <p:sp>
        <p:nvSpPr>
          <p:cNvPr id="8" name="Text 5"/>
          <p:cNvSpPr/>
          <p:nvPr/>
        </p:nvSpPr>
        <p:spPr>
          <a:xfrm>
            <a:off x="731520" y="3200400"/>
            <a:ext cx="10515600" cy="1097280"/>
          </a:xfrm>
          <a:prstGeom prst="rect">
            <a:avLst/>
          </a:prstGeom>
          <a:noFill/>
        </p:spPr>
        <p:txBody>
          <a:bodyPr wrap="square" lIns="0" tIns="0" rIns="0" bIns="0" rtlCol="0" anchor="ctr"/>
          <a:lstStyle/>
          <a:p>
            <a:pPr marL="0" indent="0">
              <a:buNone/>
            </a:pPr>
            <a:r>
              <a:rPr lang="en-US" sz="2100" i="1" dirty="0">
                <a:solidFill>
                  <a:srgbClr val="FFFFFF"/>
                </a:solidFill>
                <a:latin typeface="Georgia" panose="02040502050405090303" pitchFamily="34" charset="0"/>
                <a:ea typeface="Georgia" panose="02040502050405090303" pitchFamily="34" charset="-122"/>
                <a:cs typeface="Georgia" panose="02040502050405090303" pitchFamily="34" charset="-120"/>
              </a:rPr>
              <a:t>Système intégré de détection, prédiction et gestion</a:t>
            </a:r>
            <a:endParaRPr lang="en-US" sz="2100" dirty="0"/>
          </a:p>
          <a:p>
            <a:pPr marL="0" indent="0">
              <a:buNone/>
            </a:pPr>
            <a:r>
              <a:rPr lang="en-US" sz="2100" i="1" dirty="0">
                <a:solidFill>
                  <a:srgbClr val="FFFFFF"/>
                </a:solidFill>
                <a:latin typeface="Georgia" panose="02040502050405090303" pitchFamily="34" charset="0"/>
                <a:ea typeface="Georgia" panose="02040502050405090303" pitchFamily="34" charset="-122"/>
                <a:cs typeface="Georgia" panose="02040502050405090303" pitchFamily="34" charset="-120"/>
              </a:rPr>
              <a:t>des inondations au Sénégal par Intelligence Artificielle</a:t>
            </a:r>
            <a:endParaRPr lang="en-US" sz="2100" dirty="0"/>
          </a:p>
        </p:txBody>
      </p:sp>
      <p:sp>
        <p:nvSpPr>
          <p:cNvPr id="9" name="Shape 6"/>
          <p:cNvSpPr/>
          <p:nvPr/>
        </p:nvSpPr>
        <p:spPr>
          <a:xfrm>
            <a:off x="731520" y="4251960"/>
            <a:ext cx="73152" cy="457200"/>
          </a:xfrm>
          <a:prstGeom prst="rect">
            <a:avLst/>
          </a:prstGeom>
          <a:solidFill>
            <a:srgbClr val="F59E0B"/>
          </a:solidFill>
          <a:ln w="12700">
            <a:solidFill>
              <a:srgbClr val="F59E0B"/>
            </a:solidFill>
            <a:prstDash val="solid"/>
          </a:ln>
        </p:spPr>
      </p:sp>
      <p:sp>
        <p:nvSpPr>
          <p:cNvPr id="10" name="Text 7"/>
          <p:cNvSpPr/>
          <p:nvPr/>
        </p:nvSpPr>
        <p:spPr>
          <a:xfrm>
            <a:off x="914400" y="4251960"/>
            <a:ext cx="10058400" cy="457200"/>
          </a:xfrm>
          <a:prstGeom prst="rect">
            <a:avLst/>
          </a:prstGeom>
          <a:noFill/>
        </p:spPr>
        <p:txBody>
          <a:bodyPr wrap="square" lIns="0" tIns="0" rIns="0" bIns="0" rtlCol="0" anchor="ctr"/>
          <a:lstStyle/>
          <a:p>
            <a:pPr marL="0" indent="0">
              <a:buNone/>
            </a:pPr>
            <a:r>
              <a:rPr lang="en-US" sz="1600" b="1" dirty="0">
                <a:solidFill>
                  <a:srgbClr val="42A5F5"/>
                </a:solidFill>
                <a:latin typeface="Calibri" pitchFamily="34" charset="0"/>
                <a:ea typeface="Calibri" pitchFamily="34" charset="-122"/>
                <a:cs typeface="Calibri" pitchFamily="34" charset="-120"/>
              </a:rPr>
              <a:t>Hydraulique  ·  Intelligence Artificielle  ·  Participation Citoyenne</a:t>
            </a:r>
            <a:endParaRPr lang="en-US" sz="1600" dirty="0"/>
          </a:p>
        </p:txBody>
      </p:sp>
      <p:sp>
        <p:nvSpPr>
          <p:cNvPr id="11" name="Shape 8"/>
          <p:cNvSpPr/>
          <p:nvPr/>
        </p:nvSpPr>
        <p:spPr>
          <a:xfrm>
            <a:off x="0" y="5166360"/>
            <a:ext cx="12161520" cy="1691640"/>
          </a:xfrm>
          <a:prstGeom prst="rect">
            <a:avLst/>
          </a:prstGeom>
          <a:solidFill>
            <a:srgbClr val="000000">
              <a:alpha val="30000"/>
            </a:srgbClr>
          </a:solidFill>
          <a:ln w="12700">
            <a:solidFill>
              <a:srgbClr val="000000"/>
            </a:solidFill>
            <a:prstDash val="solid"/>
          </a:ln>
        </p:spPr>
      </p:sp>
      <p:sp>
        <p:nvSpPr>
          <p:cNvPr id="12" name="Text 9"/>
          <p:cNvSpPr/>
          <p:nvPr/>
        </p:nvSpPr>
        <p:spPr>
          <a:xfrm>
            <a:off x="731520" y="5230368"/>
            <a:ext cx="5486400" cy="274320"/>
          </a:xfrm>
          <a:prstGeom prst="rect">
            <a:avLst/>
          </a:prstGeom>
          <a:noFill/>
        </p:spPr>
        <p:txBody>
          <a:bodyPr wrap="square" lIns="0" tIns="0" rIns="0" bIns="0" rtlCol="0" anchor="ctr"/>
          <a:lstStyle/>
          <a:p>
            <a:pPr marL="0" indent="0">
              <a:buNone/>
            </a:pPr>
            <a:r>
              <a:rPr lang="en-US" sz="900" b="1" kern="0" spc="400" dirty="0">
                <a:solidFill>
                  <a:srgbClr val="F59E0B"/>
                </a:solidFill>
                <a:latin typeface="Calibri" pitchFamily="34" charset="0"/>
                <a:ea typeface="Calibri" pitchFamily="34" charset="-122"/>
                <a:cs typeface="Calibri" pitchFamily="34" charset="-120"/>
              </a:rPr>
              <a:t>CO-PORTEURS DU PROJET</a:t>
            </a:r>
            <a:endParaRPr lang="en-US" sz="900" dirty="0"/>
          </a:p>
        </p:txBody>
      </p:sp>
      <p:sp>
        <p:nvSpPr>
          <p:cNvPr id="13" name="Shape 10"/>
          <p:cNvSpPr/>
          <p:nvPr/>
        </p:nvSpPr>
        <p:spPr>
          <a:xfrm>
            <a:off x="731520" y="5577840"/>
            <a:ext cx="73152" cy="1005840"/>
          </a:xfrm>
          <a:prstGeom prst="rect">
            <a:avLst/>
          </a:prstGeom>
          <a:solidFill>
            <a:srgbClr val="0891B2"/>
          </a:solidFill>
          <a:ln w="12700">
            <a:solidFill>
              <a:srgbClr val="0891B2"/>
            </a:solidFill>
            <a:prstDash val="solid"/>
          </a:ln>
        </p:spPr>
      </p:sp>
      <p:sp>
        <p:nvSpPr>
          <p:cNvPr id="14" name="Text 11"/>
          <p:cNvSpPr/>
          <p:nvPr/>
        </p:nvSpPr>
        <p:spPr>
          <a:xfrm>
            <a:off x="960120" y="5577840"/>
            <a:ext cx="5029200" cy="100584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Adama Sow KÉBÉ</a:t>
            </a:r>
            <a:endParaRPr lang="en-US" sz="1400" dirty="0"/>
          </a:p>
          <a:p>
            <a:pPr marL="0" indent="0">
              <a:buNone/>
            </a:pPr>
            <a:r>
              <a:rPr lang="en-US" sz="1000" i="1" dirty="0">
                <a:solidFill>
                  <a:srgbClr val="42A5F5"/>
                </a:solidFill>
                <a:latin typeface="Calibri" pitchFamily="34" charset="0"/>
                <a:ea typeface="Calibri" pitchFamily="34" charset="-122"/>
                <a:cs typeface="Calibri" pitchFamily="34" charset="-120"/>
              </a:rPr>
              <a:t>Ingénieur en Hydraulique &amp; Assainissement</a:t>
            </a:r>
            <a:endParaRPr lang="en-US" sz="1400" dirty="0"/>
          </a:p>
          <a:p>
            <a:pPr marL="0" indent="0">
              <a:buNone/>
            </a:pPr>
            <a:r>
              <a:rPr lang="en-US" sz="900" dirty="0">
                <a:solidFill>
                  <a:srgbClr val="94A3B8"/>
                </a:solidFill>
                <a:latin typeface="Calibri" pitchFamily="34" charset="0"/>
                <a:ea typeface="Calibri" pitchFamily="34" charset="-122"/>
                <a:cs typeface="Calibri" pitchFamily="34" charset="-120"/>
              </a:rPr>
              <a:t>Yaatal Digital  ·  kebeadama100@gmail.com</a:t>
            </a:r>
            <a:endParaRPr lang="en-US" sz="1400" dirty="0"/>
          </a:p>
        </p:txBody>
      </p:sp>
      <p:sp>
        <p:nvSpPr>
          <p:cNvPr id="15" name="Shape 12"/>
          <p:cNvSpPr/>
          <p:nvPr/>
        </p:nvSpPr>
        <p:spPr>
          <a:xfrm>
            <a:off x="6126480" y="5577840"/>
            <a:ext cx="73152" cy="1005840"/>
          </a:xfrm>
          <a:prstGeom prst="rect">
            <a:avLst/>
          </a:prstGeom>
          <a:solidFill>
            <a:srgbClr val="7C3AED"/>
          </a:solidFill>
          <a:ln w="12700">
            <a:solidFill>
              <a:srgbClr val="7C3AED"/>
            </a:solidFill>
            <a:prstDash val="solid"/>
          </a:ln>
        </p:spPr>
      </p:sp>
      <p:sp>
        <p:nvSpPr>
          <p:cNvPr id="16" name="Text 13"/>
          <p:cNvSpPr/>
          <p:nvPr/>
        </p:nvSpPr>
        <p:spPr>
          <a:xfrm>
            <a:off x="6355080" y="5577840"/>
            <a:ext cx="5029200" cy="100584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Papa Ahmadou Seydou SOW</a:t>
            </a:r>
            <a:endParaRPr lang="en-US" sz="1400" dirty="0"/>
          </a:p>
          <a:p>
            <a:pPr marL="0" indent="0">
              <a:buNone/>
            </a:pPr>
            <a:r>
              <a:rPr lang="en-US" sz="1000" i="1" dirty="0">
                <a:solidFill>
                  <a:srgbClr val="42A5F5"/>
                </a:solidFill>
                <a:latin typeface="Calibri" pitchFamily="34" charset="0"/>
                <a:ea typeface="Calibri" pitchFamily="34" charset="-122"/>
                <a:cs typeface="Calibri" pitchFamily="34" charset="-120"/>
              </a:rPr>
              <a:t>Ingénieur en Intelligence Artificielle &amp; SmartTech</a:t>
            </a:r>
            <a:endParaRPr lang="en-US" sz="1400" dirty="0"/>
          </a:p>
          <a:p>
            <a:pPr marL="0" indent="0">
              <a:buNone/>
            </a:pPr>
            <a:r>
              <a:rPr lang="en-US" sz="900" dirty="0">
                <a:solidFill>
                  <a:srgbClr val="94A3B8"/>
                </a:solidFill>
                <a:latin typeface="Calibri" pitchFamily="34" charset="0"/>
                <a:ea typeface="Calibri" pitchFamily="34" charset="-122"/>
                <a:cs typeface="Calibri" pitchFamily="34" charset="-120"/>
              </a:rPr>
              <a:t>Yaatal Digital  ·  ahmadou@yaataldigital.com</a:t>
            </a:r>
            <a:endParaRPr lang="en-US" sz="1400" dirty="0"/>
          </a:p>
        </p:txBody>
      </p:sp>
      <p:sp>
        <p:nvSpPr>
          <p:cNvPr id="17" name="Text 14"/>
          <p:cNvSpPr/>
          <p:nvPr/>
        </p:nvSpPr>
        <p:spPr>
          <a:xfrm>
            <a:off x="10515600" y="6400800"/>
            <a:ext cx="1371600" cy="320040"/>
          </a:xfrm>
          <a:prstGeom prst="rect">
            <a:avLst/>
          </a:prstGeom>
          <a:noFill/>
        </p:spPr>
        <p:txBody>
          <a:bodyPr wrap="square" lIns="0" tIns="0" rIns="0" bIns="0" rtlCol="0" anchor="ctr"/>
          <a:lstStyle/>
          <a:p>
            <a:pPr marL="0" indent="0" algn="r">
              <a:buNone/>
            </a:pPr>
            <a:r>
              <a:rPr lang="en-US" sz="1000" dirty="0">
                <a:solidFill>
                  <a:srgbClr val="94A3B8"/>
                </a:solidFill>
                <a:latin typeface="Calibri" pitchFamily="34" charset="0"/>
                <a:ea typeface="Calibri" pitchFamily="34" charset="-122"/>
                <a:cs typeface="Calibri" pitchFamily="34" charset="-120"/>
              </a:rPr>
              <a:t>4 Mai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LE CONSTAT</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Un risque structurel, un coût hors de contrôle</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CONTEXTE</a:t>
            </a:r>
            <a:endParaRPr lang="en-US" sz="1000" dirty="0"/>
          </a:p>
        </p:txBody>
      </p:sp>
      <p:sp>
        <p:nvSpPr>
          <p:cNvPr id="9" name="Text 7"/>
          <p:cNvSpPr/>
          <p:nvPr/>
        </p:nvSpPr>
        <p:spPr>
          <a:xfrm>
            <a:off x="548640" y="1874520"/>
            <a:ext cx="11064240" cy="640080"/>
          </a:xfrm>
          <a:prstGeom prst="rect">
            <a:avLst/>
          </a:prstGeom>
          <a:noFill/>
        </p:spPr>
        <p:txBody>
          <a:bodyPr wrap="square" lIns="0" tIns="0" rIns="0" bIns="0"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Au Sénégal, les inondations ne sont plus un aléa saisonnier mais un risque structurel. Les épisodes majeurs de 2005, 2009, 2012 et 2024 ont révélé un système de réponse encore trop largement réactif.</a:t>
            </a:r>
            <a:endParaRPr lang="en-US" sz="1300" dirty="0"/>
          </a:p>
        </p:txBody>
      </p:sp>
      <p:sp>
        <p:nvSpPr>
          <p:cNvPr id="10" name="Shape 8"/>
          <p:cNvSpPr/>
          <p:nvPr/>
        </p:nvSpPr>
        <p:spPr>
          <a:xfrm>
            <a:off x="525780" y="2743200"/>
            <a:ext cx="2606040" cy="22860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1" name="Shape 9"/>
          <p:cNvSpPr/>
          <p:nvPr/>
        </p:nvSpPr>
        <p:spPr>
          <a:xfrm>
            <a:off x="525780" y="2743200"/>
            <a:ext cx="2606040" cy="73152"/>
          </a:xfrm>
          <a:prstGeom prst="rect">
            <a:avLst/>
          </a:prstGeom>
          <a:solidFill>
            <a:srgbClr val="DC2626"/>
          </a:solidFill>
          <a:ln w="12700">
            <a:solidFill>
              <a:srgbClr val="DC2626"/>
            </a:solidFill>
            <a:prstDash val="solid"/>
          </a:ln>
        </p:spPr>
      </p:sp>
      <p:sp>
        <p:nvSpPr>
          <p:cNvPr id="12" name="Shape 10"/>
          <p:cNvSpPr/>
          <p:nvPr/>
        </p:nvSpPr>
        <p:spPr>
          <a:xfrm>
            <a:off x="1463040" y="3017520"/>
            <a:ext cx="731520" cy="731520"/>
          </a:xfrm>
          <a:prstGeom prst="ellipse">
            <a:avLst/>
          </a:prstGeom>
          <a:solidFill>
            <a:srgbClr val="FEE2E2"/>
          </a:solidFill>
          <a:ln w="12700">
            <a:solidFill>
              <a:srgbClr val="FECACA"/>
            </a:solidFill>
            <a:prstDash val="solid"/>
          </a:ln>
        </p:spPr>
      </p:sp>
      <p:pic>
        <p:nvPicPr>
          <p:cNvPr id="13" name="Image 0" descr="preencoded.png"/>
          <p:cNvPicPr>
            <a:picLocks noChangeAspect="1"/>
          </p:cNvPicPr>
          <p:nvPr/>
        </p:nvPicPr>
        <p:blipFill>
          <a:blip r:embed="rId1"/>
          <a:stretch>
            <a:fillRect/>
          </a:stretch>
        </p:blipFill>
        <p:spPr>
          <a:xfrm>
            <a:off x="1600200" y="3154680"/>
            <a:ext cx="457200" cy="457200"/>
          </a:xfrm>
          <a:prstGeom prst="rect">
            <a:avLst/>
          </a:prstGeom>
        </p:spPr>
      </p:pic>
      <p:sp>
        <p:nvSpPr>
          <p:cNvPr id="14" name="Text 11"/>
          <p:cNvSpPr/>
          <p:nvPr/>
        </p:nvSpPr>
        <p:spPr>
          <a:xfrm>
            <a:off x="617220" y="3840480"/>
            <a:ext cx="2423160" cy="640080"/>
          </a:xfrm>
          <a:prstGeom prst="rect">
            <a:avLst/>
          </a:prstGeom>
          <a:noFill/>
        </p:spPr>
        <p:txBody>
          <a:bodyPr wrap="square" lIns="0" tIns="0" rIns="0" bIns="0" rtlCol="0" anchor="ctr"/>
          <a:lstStyle/>
          <a:p>
            <a:pPr marL="0" indent="0" algn="ctr">
              <a:buNone/>
            </a:pPr>
            <a:r>
              <a:rPr lang="en-US" sz="2400" b="1" dirty="0">
                <a:solidFill>
                  <a:srgbClr val="0D47A1"/>
                </a:solidFill>
                <a:latin typeface="Georgia" panose="02040502050405090303" pitchFamily="34" charset="0"/>
                <a:ea typeface="Georgia" panose="02040502050405090303" pitchFamily="34" charset="-122"/>
                <a:cs typeface="Georgia" panose="02040502050405090303" pitchFamily="34" charset="-120"/>
              </a:rPr>
              <a:t>+500 Mds</a:t>
            </a:r>
            <a:endParaRPr lang="en-US" sz="2400" dirty="0"/>
          </a:p>
          <a:p>
            <a:pPr marL="0" indent="0" algn="ctr">
              <a:buNone/>
            </a:pPr>
            <a:r>
              <a:rPr lang="en-US" sz="1000" i="1" dirty="0">
                <a:solidFill>
                  <a:srgbClr val="94A3B8"/>
                </a:solidFill>
                <a:latin typeface="Calibri" pitchFamily="34" charset="0"/>
                <a:ea typeface="Calibri" pitchFamily="34" charset="-122"/>
                <a:cs typeface="Calibri" pitchFamily="34" charset="-120"/>
              </a:rPr>
              <a:t>FCFA</a:t>
            </a:r>
            <a:endParaRPr lang="en-US" sz="2400" dirty="0"/>
          </a:p>
        </p:txBody>
      </p:sp>
      <p:sp>
        <p:nvSpPr>
          <p:cNvPr id="15" name="Text 12"/>
          <p:cNvSpPr/>
          <p:nvPr/>
        </p:nvSpPr>
        <p:spPr>
          <a:xfrm>
            <a:off x="662940" y="4498848"/>
            <a:ext cx="2331720" cy="457200"/>
          </a:xfrm>
          <a:prstGeom prst="rect">
            <a:avLst/>
          </a:prstGeom>
          <a:noFill/>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de pertes cumulées entre 2005 et 2020 (OCHA 2012)</a:t>
            </a:r>
            <a:endParaRPr lang="en-US" sz="1000" dirty="0"/>
          </a:p>
        </p:txBody>
      </p:sp>
      <p:sp>
        <p:nvSpPr>
          <p:cNvPr id="16" name="Shape 13"/>
          <p:cNvSpPr/>
          <p:nvPr/>
        </p:nvSpPr>
        <p:spPr>
          <a:xfrm>
            <a:off x="3360420" y="2743200"/>
            <a:ext cx="2606040" cy="22860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7" name="Shape 14"/>
          <p:cNvSpPr/>
          <p:nvPr/>
        </p:nvSpPr>
        <p:spPr>
          <a:xfrm>
            <a:off x="3360420" y="2743200"/>
            <a:ext cx="2606040" cy="73152"/>
          </a:xfrm>
          <a:prstGeom prst="rect">
            <a:avLst/>
          </a:prstGeom>
          <a:solidFill>
            <a:srgbClr val="DC2626"/>
          </a:solidFill>
          <a:ln w="12700">
            <a:solidFill>
              <a:srgbClr val="DC2626"/>
            </a:solidFill>
            <a:prstDash val="solid"/>
          </a:ln>
        </p:spPr>
      </p:sp>
      <p:sp>
        <p:nvSpPr>
          <p:cNvPr id="18" name="Shape 15"/>
          <p:cNvSpPr/>
          <p:nvPr/>
        </p:nvSpPr>
        <p:spPr>
          <a:xfrm>
            <a:off x="4297680" y="3017520"/>
            <a:ext cx="731520" cy="731520"/>
          </a:xfrm>
          <a:prstGeom prst="ellipse">
            <a:avLst/>
          </a:prstGeom>
          <a:solidFill>
            <a:srgbClr val="FEE2E2"/>
          </a:solidFill>
          <a:ln w="12700">
            <a:solidFill>
              <a:srgbClr val="FECACA"/>
            </a:solidFill>
            <a:prstDash val="solid"/>
          </a:ln>
        </p:spPr>
      </p:sp>
      <p:pic>
        <p:nvPicPr>
          <p:cNvPr id="19" name="Image 1" descr="preencoded.png"/>
          <p:cNvPicPr>
            <a:picLocks noChangeAspect="1"/>
          </p:cNvPicPr>
          <p:nvPr/>
        </p:nvPicPr>
        <p:blipFill>
          <a:blip r:embed="rId2"/>
          <a:stretch>
            <a:fillRect/>
          </a:stretch>
        </p:blipFill>
        <p:spPr>
          <a:xfrm>
            <a:off x="4434840" y="3154680"/>
            <a:ext cx="457200" cy="457200"/>
          </a:xfrm>
          <a:prstGeom prst="rect">
            <a:avLst/>
          </a:prstGeom>
        </p:spPr>
      </p:pic>
      <p:sp>
        <p:nvSpPr>
          <p:cNvPr id="20" name="Text 16"/>
          <p:cNvSpPr/>
          <p:nvPr/>
        </p:nvSpPr>
        <p:spPr>
          <a:xfrm>
            <a:off x="3451860" y="3840480"/>
            <a:ext cx="2423160" cy="640080"/>
          </a:xfrm>
          <a:prstGeom prst="rect">
            <a:avLst/>
          </a:prstGeom>
          <a:noFill/>
        </p:spPr>
        <p:txBody>
          <a:bodyPr wrap="square" lIns="0" tIns="0" rIns="0" bIns="0" rtlCol="0" anchor="ctr"/>
          <a:lstStyle/>
          <a:p>
            <a:pPr marL="0" indent="0" algn="ctr">
              <a:buNone/>
            </a:pPr>
            <a:r>
              <a:rPr lang="en-US" sz="2400" b="1" dirty="0">
                <a:solidFill>
                  <a:srgbClr val="0D47A1"/>
                </a:solidFill>
                <a:latin typeface="Georgia" panose="02040502050405090303" pitchFamily="34" charset="0"/>
                <a:ea typeface="Georgia" panose="02040502050405090303" pitchFamily="34" charset="-122"/>
                <a:cs typeface="Georgia" panose="02040502050405090303" pitchFamily="34" charset="-120"/>
              </a:rPr>
              <a:t>≈ 5 %</a:t>
            </a:r>
            <a:endParaRPr lang="en-US" sz="2400" dirty="0"/>
          </a:p>
          <a:p>
            <a:pPr marL="0" indent="0" algn="ctr">
              <a:buNone/>
            </a:pPr>
            <a:r>
              <a:rPr lang="en-US" sz="1000" i="1" dirty="0">
                <a:solidFill>
                  <a:srgbClr val="94A3B8"/>
                </a:solidFill>
                <a:latin typeface="Calibri" pitchFamily="34" charset="0"/>
                <a:ea typeface="Calibri" pitchFamily="34" charset="-122"/>
                <a:cs typeface="Calibri" pitchFamily="34" charset="-120"/>
              </a:rPr>
              <a:t>du PIB</a:t>
            </a:r>
            <a:endParaRPr lang="en-US" sz="2400" dirty="0"/>
          </a:p>
        </p:txBody>
      </p:sp>
      <p:sp>
        <p:nvSpPr>
          <p:cNvPr id="21" name="Text 17"/>
          <p:cNvSpPr/>
          <p:nvPr/>
        </p:nvSpPr>
        <p:spPr>
          <a:xfrm>
            <a:off x="3497580" y="4498848"/>
            <a:ext cx="2331720" cy="457200"/>
          </a:xfrm>
          <a:prstGeom prst="rect">
            <a:avLst/>
          </a:prstGeom>
          <a:noFill/>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du Sénégal absorbé par les épisodes majeurs</a:t>
            </a:r>
            <a:endParaRPr lang="en-US" sz="1000" dirty="0"/>
          </a:p>
        </p:txBody>
      </p:sp>
      <p:sp>
        <p:nvSpPr>
          <p:cNvPr id="22" name="Shape 18"/>
          <p:cNvSpPr/>
          <p:nvPr/>
        </p:nvSpPr>
        <p:spPr>
          <a:xfrm>
            <a:off x="6195060" y="2743200"/>
            <a:ext cx="2606040" cy="22860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3" name="Shape 19"/>
          <p:cNvSpPr/>
          <p:nvPr/>
        </p:nvSpPr>
        <p:spPr>
          <a:xfrm>
            <a:off x="6195060" y="2743200"/>
            <a:ext cx="2606040" cy="73152"/>
          </a:xfrm>
          <a:prstGeom prst="rect">
            <a:avLst/>
          </a:prstGeom>
          <a:solidFill>
            <a:srgbClr val="DC2626"/>
          </a:solidFill>
          <a:ln w="12700">
            <a:solidFill>
              <a:srgbClr val="DC2626"/>
            </a:solidFill>
            <a:prstDash val="solid"/>
          </a:ln>
        </p:spPr>
      </p:sp>
      <p:sp>
        <p:nvSpPr>
          <p:cNvPr id="24" name="Shape 20"/>
          <p:cNvSpPr/>
          <p:nvPr/>
        </p:nvSpPr>
        <p:spPr>
          <a:xfrm>
            <a:off x="7132320" y="3017520"/>
            <a:ext cx="731520" cy="731520"/>
          </a:xfrm>
          <a:prstGeom prst="ellipse">
            <a:avLst/>
          </a:prstGeom>
          <a:solidFill>
            <a:srgbClr val="FEE2E2"/>
          </a:solidFill>
          <a:ln w="12700">
            <a:solidFill>
              <a:srgbClr val="FECACA"/>
            </a:solidFill>
            <a:prstDash val="solid"/>
          </a:ln>
        </p:spPr>
      </p:sp>
      <p:pic>
        <p:nvPicPr>
          <p:cNvPr id="25" name="Image 2" descr="preencoded.png"/>
          <p:cNvPicPr>
            <a:picLocks noChangeAspect="1"/>
          </p:cNvPicPr>
          <p:nvPr/>
        </p:nvPicPr>
        <p:blipFill>
          <a:blip r:embed="rId3"/>
          <a:stretch>
            <a:fillRect/>
          </a:stretch>
        </p:blipFill>
        <p:spPr>
          <a:xfrm>
            <a:off x="7269480" y="3154680"/>
            <a:ext cx="457200" cy="457200"/>
          </a:xfrm>
          <a:prstGeom prst="rect">
            <a:avLst/>
          </a:prstGeom>
        </p:spPr>
      </p:pic>
      <p:sp>
        <p:nvSpPr>
          <p:cNvPr id="26" name="Text 21"/>
          <p:cNvSpPr/>
          <p:nvPr/>
        </p:nvSpPr>
        <p:spPr>
          <a:xfrm>
            <a:off x="6286500" y="3840480"/>
            <a:ext cx="2423160" cy="640080"/>
          </a:xfrm>
          <a:prstGeom prst="rect">
            <a:avLst/>
          </a:prstGeom>
          <a:noFill/>
        </p:spPr>
        <p:txBody>
          <a:bodyPr wrap="square" lIns="0" tIns="0" rIns="0" bIns="0" rtlCol="0" anchor="ctr"/>
          <a:lstStyle/>
          <a:p>
            <a:pPr marL="0" indent="0" algn="ctr">
              <a:buNone/>
            </a:pPr>
            <a:r>
              <a:rPr lang="en-US" sz="2400" b="1" dirty="0">
                <a:solidFill>
                  <a:srgbClr val="0D47A1"/>
                </a:solidFill>
                <a:latin typeface="Georgia" panose="02040502050405090303" pitchFamily="34" charset="0"/>
                <a:ea typeface="Georgia" panose="02040502050405090303" pitchFamily="34" charset="-122"/>
                <a:cs typeface="Georgia" panose="02040502050405090303" pitchFamily="34" charset="-120"/>
              </a:rPr>
              <a:t>6+</a:t>
            </a:r>
            <a:endParaRPr lang="en-US" sz="2400" dirty="0"/>
          </a:p>
          <a:p>
            <a:pPr marL="0" indent="0" algn="ctr">
              <a:buNone/>
            </a:pPr>
            <a:r>
              <a:rPr lang="en-US" sz="1000" i="1" dirty="0">
                <a:solidFill>
                  <a:srgbClr val="94A3B8"/>
                </a:solidFill>
                <a:latin typeface="Calibri" pitchFamily="34" charset="0"/>
                <a:ea typeface="Calibri" pitchFamily="34" charset="-122"/>
                <a:cs typeface="Calibri" pitchFamily="34" charset="-120"/>
              </a:rPr>
              <a:t>régions</a:t>
            </a:r>
            <a:endParaRPr lang="en-US" sz="2400" dirty="0"/>
          </a:p>
        </p:txBody>
      </p:sp>
      <p:sp>
        <p:nvSpPr>
          <p:cNvPr id="27" name="Text 22"/>
          <p:cNvSpPr/>
          <p:nvPr/>
        </p:nvSpPr>
        <p:spPr>
          <a:xfrm>
            <a:off x="6332220" y="4498848"/>
            <a:ext cx="2331720" cy="457200"/>
          </a:xfrm>
          <a:prstGeom prst="rect">
            <a:avLst/>
          </a:prstGeom>
          <a:noFill/>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Dakar, Pikine, Keur Massar, Touba, Kaolack, Matam…</a:t>
            </a:r>
            <a:endParaRPr lang="en-US" sz="1000" dirty="0"/>
          </a:p>
        </p:txBody>
      </p:sp>
      <p:sp>
        <p:nvSpPr>
          <p:cNvPr id="28" name="Shape 23"/>
          <p:cNvSpPr/>
          <p:nvPr/>
        </p:nvSpPr>
        <p:spPr>
          <a:xfrm>
            <a:off x="9029700" y="2743200"/>
            <a:ext cx="2606040" cy="22860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9" name="Shape 24"/>
          <p:cNvSpPr/>
          <p:nvPr/>
        </p:nvSpPr>
        <p:spPr>
          <a:xfrm>
            <a:off x="9029700" y="2743200"/>
            <a:ext cx="2606040" cy="73152"/>
          </a:xfrm>
          <a:prstGeom prst="rect">
            <a:avLst/>
          </a:prstGeom>
          <a:solidFill>
            <a:srgbClr val="DC2626"/>
          </a:solidFill>
          <a:ln w="12700">
            <a:solidFill>
              <a:srgbClr val="DC2626"/>
            </a:solidFill>
            <a:prstDash val="solid"/>
          </a:ln>
        </p:spPr>
      </p:sp>
      <p:sp>
        <p:nvSpPr>
          <p:cNvPr id="30" name="Shape 25"/>
          <p:cNvSpPr/>
          <p:nvPr/>
        </p:nvSpPr>
        <p:spPr>
          <a:xfrm>
            <a:off x="9966960" y="3017520"/>
            <a:ext cx="731520" cy="731520"/>
          </a:xfrm>
          <a:prstGeom prst="ellipse">
            <a:avLst/>
          </a:prstGeom>
          <a:solidFill>
            <a:srgbClr val="FEE2E2"/>
          </a:solidFill>
          <a:ln w="12700">
            <a:solidFill>
              <a:srgbClr val="FECACA"/>
            </a:solidFill>
            <a:prstDash val="solid"/>
          </a:ln>
        </p:spPr>
      </p:sp>
      <p:pic>
        <p:nvPicPr>
          <p:cNvPr id="31" name="Image 3" descr="preencoded.png"/>
          <p:cNvPicPr>
            <a:picLocks noChangeAspect="1"/>
          </p:cNvPicPr>
          <p:nvPr/>
        </p:nvPicPr>
        <p:blipFill>
          <a:blip r:embed="rId4"/>
          <a:stretch>
            <a:fillRect/>
          </a:stretch>
        </p:blipFill>
        <p:spPr>
          <a:xfrm>
            <a:off x="10104120" y="3154680"/>
            <a:ext cx="457200" cy="457200"/>
          </a:xfrm>
          <a:prstGeom prst="rect">
            <a:avLst/>
          </a:prstGeom>
        </p:spPr>
      </p:pic>
      <p:sp>
        <p:nvSpPr>
          <p:cNvPr id="32" name="Text 26"/>
          <p:cNvSpPr/>
          <p:nvPr/>
        </p:nvSpPr>
        <p:spPr>
          <a:xfrm>
            <a:off x="9121140" y="3840480"/>
            <a:ext cx="2423160" cy="640080"/>
          </a:xfrm>
          <a:prstGeom prst="rect">
            <a:avLst/>
          </a:prstGeom>
          <a:noFill/>
        </p:spPr>
        <p:txBody>
          <a:bodyPr wrap="square" lIns="0" tIns="0" rIns="0" bIns="0" rtlCol="0" anchor="ctr"/>
          <a:lstStyle/>
          <a:p>
            <a:pPr marL="0" indent="0" algn="ctr">
              <a:buNone/>
            </a:pPr>
            <a:r>
              <a:rPr lang="en-US" sz="2400" b="1" dirty="0">
                <a:solidFill>
                  <a:srgbClr val="0D47A1"/>
                </a:solidFill>
                <a:latin typeface="Georgia" panose="02040502050405090303" pitchFamily="34" charset="0"/>
                <a:ea typeface="Georgia" panose="02040502050405090303" pitchFamily="34" charset="-122"/>
                <a:cs typeface="Georgia" panose="02040502050405090303" pitchFamily="34" charset="-120"/>
              </a:rPr>
              <a:t>&lt;40 %</a:t>
            </a:r>
            <a:endParaRPr lang="en-US" sz="2400" dirty="0"/>
          </a:p>
          <a:p>
            <a:pPr marL="0" indent="0" algn="ctr">
              <a:buNone/>
            </a:pPr>
            <a:r>
              <a:rPr lang="en-US" sz="1000" i="1" dirty="0">
                <a:solidFill>
                  <a:srgbClr val="94A3B8"/>
                </a:solidFill>
                <a:latin typeface="Calibri" pitchFamily="34" charset="0"/>
                <a:ea typeface="Calibri" pitchFamily="34" charset="-122"/>
                <a:cs typeface="Calibri" pitchFamily="34" charset="-120"/>
              </a:rPr>
              <a:t>PDGI</a:t>
            </a:r>
            <a:endParaRPr lang="en-US" sz="2400" dirty="0"/>
          </a:p>
        </p:txBody>
      </p:sp>
      <p:sp>
        <p:nvSpPr>
          <p:cNvPr id="33" name="Text 27"/>
          <p:cNvSpPr/>
          <p:nvPr/>
        </p:nvSpPr>
        <p:spPr>
          <a:xfrm>
            <a:off x="9166860" y="4498848"/>
            <a:ext cx="2331720" cy="457200"/>
          </a:xfrm>
          <a:prstGeom prst="rect">
            <a:avLst/>
          </a:prstGeom>
          <a:noFill/>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taux de réalisation du Programme Décennal (2022)</a:t>
            </a:r>
            <a:endParaRPr lang="en-US" sz="1000" dirty="0"/>
          </a:p>
        </p:txBody>
      </p:sp>
      <p:sp>
        <p:nvSpPr>
          <p:cNvPr id="34" name="Shape 28"/>
          <p:cNvSpPr/>
          <p:nvPr/>
        </p:nvSpPr>
        <p:spPr>
          <a:xfrm>
            <a:off x="548640" y="5349240"/>
            <a:ext cx="11064240" cy="868680"/>
          </a:xfrm>
          <a:prstGeom prst="rect">
            <a:avLst/>
          </a:prstGeom>
          <a:solidFill>
            <a:srgbClr val="0D47A1"/>
          </a:solidFill>
          <a:ln w="12700">
            <a:solidFill>
              <a:srgbClr val="0D47A1"/>
            </a:solidFill>
            <a:prstDash val="solid"/>
          </a:ln>
        </p:spPr>
      </p:sp>
      <p:sp>
        <p:nvSpPr>
          <p:cNvPr id="35" name="Shape 29"/>
          <p:cNvSpPr/>
          <p:nvPr/>
        </p:nvSpPr>
        <p:spPr>
          <a:xfrm>
            <a:off x="548640" y="5349240"/>
            <a:ext cx="109728" cy="868680"/>
          </a:xfrm>
          <a:prstGeom prst="rect">
            <a:avLst/>
          </a:prstGeom>
          <a:solidFill>
            <a:srgbClr val="F59E0B"/>
          </a:solidFill>
          <a:ln w="12700">
            <a:solidFill>
              <a:srgbClr val="F59E0B"/>
            </a:solidFill>
            <a:prstDash val="solid"/>
          </a:ln>
        </p:spPr>
      </p:sp>
      <p:pic>
        <p:nvPicPr>
          <p:cNvPr id="36" name="Image 4" descr="preencoded.png"/>
          <p:cNvPicPr>
            <a:picLocks noChangeAspect="1"/>
          </p:cNvPicPr>
          <p:nvPr/>
        </p:nvPicPr>
        <p:blipFill>
          <a:blip r:embed="rId5"/>
          <a:stretch>
            <a:fillRect/>
          </a:stretch>
        </p:blipFill>
        <p:spPr>
          <a:xfrm>
            <a:off x="868680" y="5532120"/>
            <a:ext cx="502920" cy="502920"/>
          </a:xfrm>
          <a:prstGeom prst="rect">
            <a:avLst/>
          </a:prstGeom>
        </p:spPr>
      </p:pic>
      <p:sp>
        <p:nvSpPr>
          <p:cNvPr id="37" name="Text 30"/>
          <p:cNvSpPr/>
          <p:nvPr/>
        </p:nvSpPr>
        <p:spPr>
          <a:xfrm>
            <a:off x="1554480" y="5349240"/>
            <a:ext cx="9966960" cy="868680"/>
          </a:xfrm>
          <a:prstGeom prst="rect">
            <a:avLst/>
          </a:prstGeom>
          <a:noFill/>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Les prévisions de l'ANACIM, utiles à l'échelle nationale, opèrent à des échelles spatiales et temporelles trop larges pour mobiliser efficacement à l'échelle du quartier (Mémoire, p.13).</a:t>
            </a:r>
            <a:endParaRPr lang="en-US" sz="1200" dirty="0"/>
          </a:p>
        </p:txBody>
      </p:sp>
      <p:sp>
        <p:nvSpPr>
          <p:cNvPr id="38" name="Shape 31"/>
          <p:cNvSpPr/>
          <p:nvPr/>
        </p:nvSpPr>
        <p:spPr>
          <a:xfrm>
            <a:off x="0" y="6537960"/>
            <a:ext cx="12161520" cy="320040"/>
          </a:xfrm>
          <a:prstGeom prst="rect">
            <a:avLst/>
          </a:prstGeom>
          <a:solidFill>
            <a:srgbClr val="0D47A1"/>
          </a:solidFill>
          <a:ln w="12700">
            <a:solidFill>
              <a:srgbClr val="0D47A1"/>
            </a:solidFill>
            <a:prstDash val="solid"/>
          </a:ln>
        </p:spPr>
      </p:sp>
      <p:sp>
        <p:nvSpPr>
          <p:cNvPr id="39" name="Text 32"/>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0" name="Text 33"/>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41" name="Text 34"/>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NOTRE HISTOIRE</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Du hackathon de Keur Massar à un système national</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ORIGINE</a:t>
            </a:r>
            <a:endParaRPr lang="en-US" sz="1000" dirty="0"/>
          </a:p>
        </p:txBody>
      </p:sp>
      <p:sp>
        <p:nvSpPr>
          <p:cNvPr id="9" name="Text 7"/>
          <p:cNvSpPr/>
          <p:nvPr/>
        </p:nvSpPr>
        <p:spPr>
          <a:xfrm>
            <a:off x="548640" y="1874520"/>
            <a:ext cx="11064240" cy="457200"/>
          </a:xfrm>
          <a:prstGeom prst="rect">
            <a:avLst/>
          </a:prstGeom>
          <a:noFill/>
        </p:spPr>
        <p:txBody>
          <a:bodyPr wrap="square" lIns="0" tIns="0" rIns="0" bIns="0" rtlCol="0" anchor="ctr"/>
          <a:lstStyle/>
          <a:p>
            <a:pPr marL="0" indent="0">
              <a:buNone/>
            </a:pPr>
            <a:r>
              <a:rPr lang="en-US" sz="1400" b="1" i="1" dirty="0">
                <a:solidFill>
                  <a:srgbClr val="1565C0"/>
                </a:solidFill>
                <a:latin typeface="Georgia" panose="02040502050405090303" pitchFamily="34" charset="0"/>
                <a:ea typeface="Georgia" panose="02040502050405090303" pitchFamily="34" charset="-122"/>
                <a:cs typeface="Georgia" panose="02040502050405090303" pitchFamily="34" charset="-120"/>
              </a:rPr>
              <a:t>Né d'une idée commune lors d'un hackathon dédié à Keur Massar, devenu un système d'IA déployé au Sénégal.</a:t>
            </a:r>
            <a:endParaRPr lang="en-US" sz="1400" dirty="0"/>
          </a:p>
        </p:txBody>
      </p:sp>
      <p:sp>
        <p:nvSpPr>
          <p:cNvPr id="10" name="Shape 8"/>
          <p:cNvSpPr/>
          <p:nvPr/>
        </p:nvSpPr>
        <p:spPr>
          <a:xfrm>
            <a:off x="548640" y="2468880"/>
            <a:ext cx="3657600" cy="3657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1" name="Shape 9"/>
          <p:cNvSpPr/>
          <p:nvPr/>
        </p:nvSpPr>
        <p:spPr>
          <a:xfrm>
            <a:off x="548640" y="2468880"/>
            <a:ext cx="3657600" cy="457200"/>
          </a:xfrm>
          <a:prstGeom prst="rect">
            <a:avLst/>
          </a:prstGeom>
          <a:solidFill>
            <a:srgbClr val="F59E0B"/>
          </a:solidFill>
          <a:ln w="12700">
            <a:solidFill>
              <a:srgbClr val="F59E0B"/>
            </a:solidFill>
            <a:prstDash val="solid"/>
          </a:ln>
        </p:spPr>
      </p:sp>
      <p:sp>
        <p:nvSpPr>
          <p:cNvPr id="12" name="Text 10"/>
          <p:cNvSpPr/>
          <p:nvPr/>
        </p:nvSpPr>
        <p:spPr>
          <a:xfrm>
            <a:off x="731520" y="2468880"/>
            <a:ext cx="1097280" cy="457200"/>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Été 2024</a:t>
            </a:r>
            <a:endParaRPr lang="en-US" sz="1400" dirty="0"/>
          </a:p>
        </p:txBody>
      </p:sp>
      <p:sp>
        <p:nvSpPr>
          <p:cNvPr id="13" name="Text 11"/>
          <p:cNvSpPr/>
          <p:nvPr/>
        </p:nvSpPr>
        <p:spPr>
          <a:xfrm>
            <a:off x="1828800" y="2468880"/>
            <a:ext cx="2286000" cy="45720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HACKATHON KEUR MASSAR</a:t>
            </a:r>
            <a:endParaRPr lang="en-US" sz="1100" dirty="0"/>
          </a:p>
        </p:txBody>
      </p:sp>
      <p:sp>
        <p:nvSpPr>
          <p:cNvPr id="14" name="Text 12"/>
          <p:cNvSpPr/>
          <p:nvPr/>
        </p:nvSpPr>
        <p:spPr>
          <a:xfrm>
            <a:off x="777240" y="3108960"/>
            <a:ext cx="3200400" cy="365760"/>
          </a:xfrm>
          <a:prstGeom prst="rect">
            <a:avLst/>
          </a:prstGeom>
          <a:noFill/>
        </p:spPr>
        <p:txBody>
          <a:bodyPr wrap="square" lIns="0" tIns="0" rIns="0" bIns="0" rtlCol="0" anchor="ctr"/>
          <a:lstStyle/>
          <a:p>
            <a:pPr marL="0" indent="0">
              <a:buNone/>
            </a:pPr>
            <a:r>
              <a:rPr lang="en-US" sz="1400" b="1" dirty="0">
                <a:solidFill>
                  <a:srgbClr val="0D47A1"/>
                </a:solidFill>
                <a:latin typeface="Georgia" panose="02040502050405090303" pitchFamily="34" charset="0"/>
                <a:ea typeface="Georgia" panose="02040502050405090303" pitchFamily="34" charset="-122"/>
                <a:cs typeface="Georgia" panose="02040502050405090303" pitchFamily="34" charset="-120"/>
              </a:rPr>
              <a:t>Adama  +  Papa</a:t>
            </a:r>
            <a:endParaRPr lang="en-US" sz="1400" dirty="0"/>
          </a:p>
        </p:txBody>
      </p:sp>
      <p:sp>
        <p:nvSpPr>
          <p:cNvPr id="15" name="Text 13"/>
          <p:cNvSpPr/>
          <p:nvPr/>
        </p:nvSpPr>
        <p:spPr>
          <a:xfrm>
            <a:off x="777240" y="3474720"/>
            <a:ext cx="3200400" cy="274320"/>
          </a:xfrm>
          <a:prstGeom prst="rect">
            <a:avLst/>
          </a:prstGeom>
          <a:noFill/>
        </p:spPr>
        <p:txBody>
          <a:bodyPr wrap="square" lIns="0" tIns="0" rIns="0" bIns="0" rtlCol="0" anchor="ctr"/>
          <a:lstStyle/>
          <a:p>
            <a:pPr marL="0" indent="0">
              <a:buNone/>
            </a:pPr>
            <a:r>
              <a:rPr lang="en-US" sz="1000" b="1" i="1" dirty="0">
                <a:solidFill>
                  <a:srgbClr val="F59E0B"/>
                </a:solidFill>
                <a:latin typeface="Calibri" pitchFamily="34" charset="0"/>
                <a:ea typeface="Calibri" pitchFamily="34" charset="-122"/>
                <a:cs typeface="Calibri" pitchFamily="34" charset="-120"/>
              </a:rPr>
              <a:t>Idée commune</a:t>
            </a:r>
            <a:endParaRPr lang="en-US" sz="1000" dirty="0"/>
          </a:p>
        </p:txBody>
      </p:sp>
      <p:sp>
        <p:nvSpPr>
          <p:cNvPr id="16" name="Text 14"/>
          <p:cNvSpPr/>
          <p:nvPr/>
        </p:nvSpPr>
        <p:spPr>
          <a:xfrm>
            <a:off x="777240" y="3886200"/>
            <a:ext cx="3200400" cy="210312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Pendant les grandes vacances, lors d'un hackathon dédié aux solutions pour Keur Massar, nous proposons ensemble un système d'alerte inondation simple, accessible et collaboratif.</a:t>
            </a:r>
            <a:endParaRPr lang="en-US" sz="1100" dirty="0"/>
          </a:p>
        </p:txBody>
      </p:sp>
      <p:sp>
        <p:nvSpPr>
          <p:cNvPr id="17" name="Shape 15"/>
          <p:cNvSpPr/>
          <p:nvPr/>
        </p:nvSpPr>
        <p:spPr>
          <a:xfrm>
            <a:off x="4343400" y="2468880"/>
            <a:ext cx="3657600" cy="3657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8" name="Shape 16"/>
          <p:cNvSpPr/>
          <p:nvPr/>
        </p:nvSpPr>
        <p:spPr>
          <a:xfrm>
            <a:off x="4343400" y="2468880"/>
            <a:ext cx="3657600" cy="457200"/>
          </a:xfrm>
          <a:prstGeom prst="rect">
            <a:avLst/>
          </a:prstGeom>
          <a:solidFill>
            <a:srgbClr val="7C3AED"/>
          </a:solidFill>
          <a:ln w="12700">
            <a:solidFill>
              <a:srgbClr val="7C3AED"/>
            </a:solidFill>
            <a:prstDash val="solid"/>
          </a:ln>
        </p:spPr>
      </p:sp>
      <p:sp>
        <p:nvSpPr>
          <p:cNvPr id="19" name="Text 17"/>
          <p:cNvSpPr/>
          <p:nvPr/>
        </p:nvSpPr>
        <p:spPr>
          <a:xfrm>
            <a:off x="4526280" y="2468880"/>
            <a:ext cx="1097280" cy="457200"/>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2025</a:t>
            </a:r>
            <a:endParaRPr lang="en-US" sz="1400" dirty="0"/>
          </a:p>
        </p:txBody>
      </p:sp>
      <p:sp>
        <p:nvSpPr>
          <p:cNvPr id="20" name="Text 18"/>
          <p:cNvSpPr/>
          <p:nvPr/>
        </p:nvSpPr>
        <p:spPr>
          <a:xfrm>
            <a:off x="5623560" y="2468880"/>
            <a:ext cx="2286000" cy="45720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MÉMOIRE DE MASTER</a:t>
            </a:r>
            <a:endParaRPr lang="en-US" sz="1100" dirty="0"/>
          </a:p>
        </p:txBody>
      </p:sp>
      <p:sp>
        <p:nvSpPr>
          <p:cNvPr id="21" name="Text 19"/>
          <p:cNvSpPr/>
          <p:nvPr/>
        </p:nvSpPr>
        <p:spPr>
          <a:xfrm>
            <a:off x="4572000" y="3108960"/>
            <a:ext cx="3200400" cy="365760"/>
          </a:xfrm>
          <a:prstGeom prst="rect">
            <a:avLst/>
          </a:prstGeom>
          <a:noFill/>
        </p:spPr>
        <p:txBody>
          <a:bodyPr wrap="square" lIns="0" tIns="0" rIns="0" bIns="0" rtlCol="0" anchor="ctr"/>
          <a:lstStyle/>
          <a:p>
            <a:pPr marL="0" indent="0">
              <a:buNone/>
            </a:pPr>
            <a:r>
              <a:rPr lang="en-US" sz="1400" b="1" dirty="0">
                <a:solidFill>
                  <a:srgbClr val="0D47A1"/>
                </a:solidFill>
                <a:latin typeface="Georgia" panose="02040502050405090303" pitchFamily="34" charset="0"/>
                <a:ea typeface="Georgia" panose="02040502050405090303" pitchFamily="34" charset="-122"/>
                <a:cs typeface="Georgia" panose="02040502050405090303" pitchFamily="34" charset="-120"/>
              </a:rPr>
              <a:t>Papa Ahmadou Seydou Sow</a:t>
            </a:r>
            <a:endParaRPr lang="en-US" sz="1400" dirty="0"/>
          </a:p>
        </p:txBody>
      </p:sp>
      <p:sp>
        <p:nvSpPr>
          <p:cNvPr id="22" name="Text 20"/>
          <p:cNvSpPr/>
          <p:nvPr/>
        </p:nvSpPr>
        <p:spPr>
          <a:xfrm>
            <a:off x="4572000" y="3474720"/>
            <a:ext cx="3200400" cy="274320"/>
          </a:xfrm>
          <a:prstGeom prst="rect">
            <a:avLst/>
          </a:prstGeom>
          <a:noFill/>
        </p:spPr>
        <p:txBody>
          <a:bodyPr wrap="square" lIns="0" tIns="0" rIns="0" bIns="0" rtlCol="0" anchor="ctr"/>
          <a:lstStyle/>
          <a:p>
            <a:pPr marL="0" indent="0">
              <a:buNone/>
            </a:pPr>
            <a:r>
              <a:rPr lang="en-US" sz="1000" b="1" i="1" dirty="0">
                <a:solidFill>
                  <a:srgbClr val="7C3AED"/>
                </a:solidFill>
                <a:latin typeface="Calibri" pitchFamily="34" charset="0"/>
                <a:ea typeface="Calibri" pitchFamily="34" charset="-122"/>
                <a:cs typeface="Calibri" pitchFamily="34" charset="-120"/>
              </a:rPr>
              <a:t>Validation scientifique</a:t>
            </a:r>
            <a:endParaRPr lang="en-US" sz="1000" dirty="0"/>
          </a:p>
        </p:txBody>
      </p:sp>
      <p:sp>
        <p:nvSpPr>
          <p:cNvPr id="23" name="Text 21"/>
          <p:cNvSpPr/>
          <p:nvPr/>
        </p:nvSpPr>
        <p:spPr>
          <a:xfrm>
            <a:off x="4572000" y="3886200"/>
            <a:ext cx="3200400" cy="210312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Papa adopte l'idée comme sujet de mémoire à l'UIDT/UTT. Il développe les modèles ML/DL, valide leur performance (AUC = 1,000 ; F1 = 96,48 %) et structure l'architecture technique complète.</a:t>
            </a:r>
            <a:endParaRPr lang="en-US" sz="1100" dirty="0"/>
          </a:p>
        </p:txBody>
      </p:sp>
      <p:sp>
        <p:nvSpPr>
          <p:cNvPr id="24" name="Shape 22"/>
          <p:cNvSpPr/>
          <p:nvPr/>
        </p:nvSpPr>
        <p:spPr>
          <a:xfrm>
            <a:off x="8138160" y="2468880"/>
            <a:ext cx="3657600" cy="3657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5" name="Shape 23"/>
          <p:cNvSpPr/>
          <p:nvPr/>
        </p:nvSpPr>
        <p:spPr>
          <a:xfrm>
            <a:off x="8138160" y="2468880"/>
            <a:ext cx="3657600" cy="457200"/>
          </a:xfrm>
          <a:prstGeom prst="rect">
            <a:avLst/>
          </a:prstGeom>
          <a:solidFill>
            <a:srgbClr val="059669"/>
          </a:solidFill>
          <a:ln w="12700">
            <a:solidFill>
              <a:srgbClr val="059669"/>
            </a:solidFill>
            <a:prstDash val="solid"/>
          </a:ln>
        </p:spPr>
      </p:sp>
      <p:sp>
        <p:nvSpPr>
          <p:cNvPr id="26" name="Text 24"/>
          <p:cNvSpPr/>
          <p:nvPr/>
        </p:nvSpPr>
        <p:spPr>
          <a:xfrm>
            <a:off x="8321040" y="2468880"/>
            <a:ext cx="1097280" cy="457200"/>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2026</a:t>
            </a:r>
            <a:endParaRPr lang="en-US" sz="1400" dirty="0"/>
          </a:p>
        </p:txBody>
      </p:sp>
      <p:sp>
        <p:nvSpPr>
          <p:cNvPr id="27" name="Text 25"/>
          <p:cNvSpPr/>
          <p:nvPr/>
        </p:nvSpPr>
        <p:spPr>
          <a:xfrm>
            <a:off x="9418320" y="2468880"/>
            <a:ext cx="2286000" cy="45720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PLATEFORME DÉPLOYÉE</a:t>
            </a:r>
            <a:endParaRPr lang="en-US" sz="1100" dirty="0"/>
          </a:p>
        </p:txBody>
      </p:sp>
      <p:sp>
        <p:nvSpPr>
          <p:cNvPr id="28" name="Text 26"/>
          <p:cNvSpPr/>
          <p:nvPr/>
        </p:nvSpPr>
        <p:spPr>
          <a:xfrm>
            <a:off x="8366760" y="3108960"/>
            <a:ext cx="3200400" cy="365760"/>
          </a:xfrm>
          <a:prstGeom prst="rect">
            <a:avLst/>
          </a:prstGeom>
          <a:noFill/>
        </p:spPr>
        <p:txBody>
          <a:bodyPr wrap="square" lIns="0" tIns="0" rIns="0" bIns="0" rtlCol="0" anchor="ctr"/>
          <a:lstStyle/>
          <a:p>
            <a:pPr marL="0" indent="0">
              <a:buNone/>
            </a:pPr>
            <a:r>
              <a:rPr lang="en-US" sz="1400" b="1" dirty="0">
                <a:solidFill>
                  <a:srgbClr val="0D47A1"/>
                </a:solidFill>
                <a:latin typeface="Georgia" panose="02040502050405090303" pitchFamily="34" charset="0"/>
                <a:ea typeface="Georgia" panose="02040502050405090303" pitchFamily="34" charset="-122"/>
                <a:cs typeface="Georgia" panose="02040502050405090303" pitchFamily="34" charset="-120"/>
              </a:rPr>
              <a:t>Yaatal Digital</a:t>
            </a:r>
            <a:endParaRPr lang="en-US" sz="1400" dirty="0"/>
          </a:p>
        </p:txBody>
      </p:sp>
      <p:sp>
        <p:nvSpPr>
          <p:cNvPr id="29" name="Text 27"/>
          <p:cNvSpPr/>
          <p:nvPr/>
        </p:nvSpPr>
        <p:spPr>
          <a:xfrm>
            <a:off x="8366760" y="3474720"/>
            <a:ext cx="3200400" cy="274320"/>
          </a:xfrm>
          <a:prstGeom prst="rect">
            <a:avLst/>
          </a:prstGeom>
          <a:noFill/>
        </p:spPr>
        <p:txBody>
          <a:bodyPr wrap="square" lIns="0" tIns="0" rIns="0" bIns="0" rtlCol="0" anchor="ctr"/>
          <a:lstStyle/>
          <a:p>
            <a:pPr marL="0" indent="0">
              <a:buNone/>
            </a:pPr>
            <a:r>
              <a:rPr lang="en-US" sz="1000" b="1" i="1" dirty="0">
                <a:solidFill>
                  <a:srgbClr val="059669"/>
                </a:solidFill>
                <a:latin typeface="Calibri" pitchFamily="34" charset="0"/>
                <a:ea typeface="Calibri" pitchFamily="34" charset="-122"/>
                <a:cs typeface="Calibri" pitchFamily="34" charset="-120"/>
              </a:rPr>
              <a:t>Production</a:t>
            </a:r>
            <a:endParaRPr lang="en-US" sz="1000" dirty="0"/>
          </a:p>
        </p:txBody>
      </p:sp>
      <p:sp>
        <p:nvSpPr>
          <p:cNvPr id="30" name="Text 28"/>
          <p:cNvSpPr/>
          <p:nvPr/>
        </p:nvSpPr>
        <p:spPr>
          <a:xfrm>
            <a:off x="8366760" y="3886200"/>
            <a:ext cx="3200400" cy="210312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Le système est mis en production sous le nom FloodGuardAI / Saytu Mbeund. 112 alertes traitées, 76,8 % automatisées par IA, taux de clôture à 98,2 %.</a:t>
            </a:r>
            <a:endParaRPr lang="en-US" sz="1100" dirty="0"/>
          </a:p>
        </p:txBody>
      </p:sp>
      <p:sp>
        <p:nvSpPr>
          <p:cNvPr id="31" name="Text 29"/>
          <p:cNvSpPr/>
          <p:nvPr/>
        </p:nvSpPr>
        <p:spPr>
          <a:xfrm>
            <a:off x="548640" y="6263640"/>
            <a:ext cx="11064240" cy="365760"/>
          </a:xfrm>
          <a:prstGeom prst="rect">
            <a:avLst/>
          </a:prstGeom>
          <a:noFill/>
        </p:spPr>
        <p:txBody>
          <a:bodyPr wrap="square" lIns="0" tIns="0" rIns="0" bIns="0" rtlCol="0" anchor="ctr"/>
          <a:lstStyle/>
          <a:p>
            <a:pPr marL="0" indent="0" algn="ctr">
              <a:buNone/>
            </a:pPr>
            <a:r>
              <a:rPr lang="en-US" sz="1200" b="1" i="1" dirty="0">
                <a:solidFill>
                  <a:srgbClr val="1565C0"/>
                </a:solidFill>
                <a:latin typeface="Calibri" pitchFamily="34" charset="0"/>
                <a:ea typeface="Calibri" pitchFamily="34" charset="-122"/>
                <a:cs typeface="Calibri" pitchFamily="34" charset="-120"/>
              </a:rPr>
              <a:t>De l'intuition citoyenne à la rigueur scientifique : un projet qui a grandi avec ses auteurs.</a:t>
            </a:r>
            <a:endParaRPr lang="en-US" sz="1200" dirty="0"/>
          </a:p>
        </p:txBody>
      </p:sp>
      <p:sp>
        <p:nvSpPr>
          <p:cNvPr id="32" name="Shape 30"/>
          <p:cNvSpPr/>
          <p:nvPr/>
        </p:nvSpPr>
        <p:spPr>
          <a:xfrm>
            <a:off x="0" y="6537960"/>
            <a:ext cx="12161520" cy="320040"/>
          </a:xfrm>
          <a:prstGeom prst="rect">
            <a:avLst/>
          </a:prstGeom>
          <a:solidFill>
            <a:srgbClr val="0D47A1"/>
          </a:solidFill>
          <a:ln w="12700">
            <a:solidFill>
              <a:srgbClr val="0D47A1"/>
            </a:solidFill>
            <a:prstDash val="solid"/>
          </a:ln>
        </p:spPr>
      </p:sp>
      <p:sp>
        <p:nvSpPr>
          <p:cNvPr id="33" name="Text 31"/>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34" name="Text 32"/>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35" name="Text 33"/>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VUE D'ENSEMBLE DU SYSTÈME</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Une architecture hybride en 3 composantes</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7C3AED"/>
          </a:solidFill>
          <a:ln w="12700">
            <a:solidFill>
              <a:srgbClr val="7C3AED"/>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PAPA  ·  TECHNIQUE</a:t>
            </a:r>
            <a:endParaRPr lang="en-US" sz="1000" dirty="0"/>
          </a:p>
        </p:txBody>
      </p:sp>
      <p:sp>
        <p:nvSpPr>
          <p:cNvPr id="9" name="Shape 7"/>
          <p:cNvSpPr/>
          <p:nvPr/>
        </p:nvSpPr>
        <p:spPr>
          <a:xfrm>
            <a:off x="548640" y="1920240"/>
            <a:ext cx="3520440" cy="10972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0" name="Shape 8"/>
          <p:cNvSpPr/>
          <p:nvPr/>
        </p:nvSpPr>
        <p:spPr>
          <a:xfrm>
            <a:off x="548640" y="1920240"/>
            <a:ext cx="91440" cy="1097280"/>
          </a:xfrm>
          <a:prstGeom prst="rect">
            <a:avLst/>
          </a:prstGeom>
          <a:solidFill>
            <a:srgbClr val="1565C0"/>
          </a:solidFill>
          <a:ln w="12700">
            <a:solidFill>
              <a:srgbClr val="1565C0"/>
            </a:solidFill>
            <a:prstDash val="solid"/>
          </a:ln>
        </p:spPr>
      </p:sp>
      <p:sp>
        <p:nvSpPr>
          <p:cNvPr id="11" name="Shape 9"/>
          <p:cNvSpPr/>
          <p:nvPr/>
        </p:nvSpPr>
        <p:spPr>
          <a:xfrm>
            <a:off x="777240" y="2194560"/>
            <a:ext cx="548640" cy="548640"/>
          </a:xfrm>
          <a:prstGeom prst="ellipse">
            <a:avLst/>
          </a:prstGeom>
          <a:solidFill>
            <a:srgbClr val="E3F2FD"/>
          </a:solidFill>
          <a:ln w="12700">
            <a:solidFill>
              <a:srgbClr val="E3F2FD"/>
            </a:solidFill>
            <a:prstDash val="solid"/>
          </a:ln>
        </p:spPr>
      </p:sp>
      <p:pic>
        <p:nvPicPr>
          <p:cNvPr id="12" name="Image 0" descr="preencoded.png"/>
          <p:cNvPicPr>
            <a:picLocks noChangeAspect="1"/>
          </p:cNvPicPr>
          <p:nvPr/>
        </p:nvPicPr>
        <p:blipFill>
          <a:blip r:embed="rId1"/>
          <a:stretch>
            <a:fillRect/>
          </a:stretch>
        </p:blipFill>
        <p:spPr>
          <a:xfrm>
            <a:off x="868680" y="2286000"/>
            <a:ext cx="365760" cy="365760"/>
          </a:xfrm>
          <a:prstGeom prst="rect">
            <a:avLst/>
          </a:prstGeom>
        </p:spPr>
      </p:pic>
      <p:sp>
        <p:nvSpPr>
          <p:cNvPr id="13" name="Text 10"/>
          <p:cNvSpPr/>
          <p:nvPr/>
        </p:nvSpPr>
        <p:spPr>
          <a:xfrm>
            <a:off x="1463040" y="1920240"/>
            <a:ext cx="2514600" cy="1097280"/>
          </a:xfrm>
          <a:prstGeom prst="rect">
            <a:avLst/>
          </a:prstGeom>
          <a:noFill/>
        </p:spPr>
        <p:txBody>
          <a:bodyPr wrap="square" lIns="0" tIns="0" rIns="0" bIns="0" rtlCol="0" anchor="ctr"/>
          <a:lstStyle/>
          <a:p>
            <a:pPr marL="0" indent="0">
              <a:buNone/>
            </a:pPr>
            <a:r>
              <a:rPr lang="en-US" sz="1300" b="1" dirty="0">
                <a:solidFill>
                  <a:srgbClr val="0D47A1"/>
                </a:solidFill>
                <a:latin typeface="Calibri" pitchFamily="34" charset="0"/>
                <a:ea typeface="Calibri" pitchFamily="34" charset="-122"/>
                <a:cs typeface="Calibri" pitchFamily="34" charset="-120"/>
              </a:rPr>
              <a:t>Données météo</a:t>
            </a:r>
            <a:endParaRPr lang="en-US" sz="1300" dirty="0"/>
          </a:p>
          <a:p>
            <a:pPr marL="0" indent="0">
              <a:buNone/>
            </a:pPr>
            <a:r>
              <a:rPr lang="en-US" sz="1000" dirty="0">
                <a:solidFill>
                  <a:srgbClr val="475569"/>
                </a:solidFill>
                <a:latin typeface="Calibri" pitchFamily="34" charset="0"/>
                <a:ea typeface="Calibri" pitchFamily="34" charset="-122"/>
                <a:cs typeface="Calibri" pitchFamily="34" charset="-120"/>
              </a:rPr>
              <a:t>Open-Meteo (2005-2025) → ANACIM (cible)</a:t>
            </a:r>
            <a:endParaRPr lang="en-US" sz="1300" dirty="0"/>
          </a:p>
        </p:txBody>
      </p:sp>
      <p:sp>
        <p:nvSpPr>
          <p:cNvPr id="14" name="Shape 11"/>
          <p:cNvSpPr/>
          <p:nvPr/>
        </p:nvSpPr>
        <p:spPr>
          <a:xfrm>
            <a:off x="4206240" y="1920240"/>
            <a:ext cx="3520440" cy="10972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5" name="Shape 12"/>
          <p:cNvSpPr/>
          <p:nvPr/>
        </p:nvSpPr>
        <p:spPr>
          <a:xfrm>
            <a:off x="4206240" y="1920240"/>
            <a:ext cx="91440" cy="1097280"/>
          </a:xfrm>
          <a:prstGeom prst="rect">
            <a:avLst/>
          </a:prstGeom>
          <a:solidFill>
            <a:srgbClr val="1565C0"/>
          </a:solidFill>
          <a:ln w="12700">
            <a:solidFill>
              <a:srgbClr val="1565C0"/>
            </a:solidFill>
            <a:prstDash val="solid"/>
          </a:ln>
        </p:spPr>
      </p:sp>
      <p:sp>
        <p:nvSpPr>
          <p:cNvPr id="16" name="Shape 13"/>
          <p:cNvSpPr/>
          <p:nvPr/>
        </p:nvSpPr>
        <p:spPr>
          <a:xfrm>
            <a:off x="4434840" y="2194560"/>
            <a:ext cx="548640" cy="548640"/>
          </a:xfrm>
          <a:prstGeom prst="ellipse">
            <a:avLst/>
          </a:prstGeom>
          <a:solidFill>
            <a:srgbClr val="E3F2FD"/>
          </a:solidFill>
          <a:ln w="12700">
            <a:solidFill>
              <a:srgbClr val="E3F2FD"/>
            </a:solidFill>
            <a:prstDash val="solid"/>
          </a:ln>
        </p:spPr>
      </p:sp>
      <p:pic>
        <p:nvPicPr>
          <p:cNvPr id="17" name="Image 1" descr="preencoded.png"/>
          <p:cNvPicPr>
            <a:picLocks noChangeAspect="1"/>
          </p:cNvPicPr>
          <p:nvPr/>
        </p:nvPicPr>
        <p:blipFill>
          <a:blip r:embed="rId2"/>
          <a:stretch>
            <a:fillRect/>
          </a:stretch>
        </p:blipFill>
        <p:spPr>
          <a:xfrm>
            <a:off x="4526280" y="2286000"/>
            <a:ext cx="365760" cy="365760"/>
          </a:xfrm>
          <a:prstGeom prst="rect">
            <a:avLst/>
          </a:prstGeom>
        </p:spPr>
      </p:pic>
      <p:sp>
        <p:nvSpPr>
          <p:cNvPr id="18" name="Text 14"/>
          <p:cNvSpPr/>
          <p:nvPr/>
        </p:nvSpPr>
        <p:spPr>
          <a:xfrm>
            <a:off x="5120640" y="1920240"/>
            <a:ext cx="2514600" cy="1097280"/>
          </a:xfrm>
          <a:prstGeom prst="rect">
            <a:avLst/>
          </a:prstGeom>
          <a:noFill/>
        </p:spPr>
        <p:txBody>
          <a:bodyPr wrap="square" lIns="0" tIns="0" rIns="0" bIns="0" rtlCol="0" anchor="ctr"/>
          <a:lstStyle/>
          <a:p>
            <a:pPr marL="0" indent="0">
              <a:buNone/>
            </a:pPr>
            <a:r>
              <a:rPr lang="en-US" sz="1300" b="1" dirty="0">
                <a:solidFill>
                  <a:srgbClr val="0D47A1"/>
                </a:solidFill>
                <a:latin typeface="Calibri" pitchFamily="34" charset="0"/>
                <a:ea typeface="Calibri" pitchFamily="34" charset="-122"/>
                <a:cs typeface="Calibri" pitchFamily="34" charset="-120"/>
              </a:rPr>
              <a:t>Images citoyennes</a:t>
            </a:r>
            <a:endParaRPr lang="en-US" sz="1300" dirty="0"/>
          </a:p>
          <a:p>
            <a:pPr marL="0" indent="0">
              <a:buNone/>
            </a:pPr>
            <a:r>
              <a:rPr lang="en-US" sz="1000" dirty="0">
                <a:solidFill>
                  <a:srgbClr val="475569"/>
                </a:solidFill>
                <a:latin typeface="Calibri" pitchFamily="34" charset="0"/>
                <a:ea typeface="Calibri" pitchFamily="34" charset="-122"/>
                <a:cs typeface="Calibri" pitchFamily="34" charset="-120"/>
              </a:rPr>
              <a:t>Photos GPS via app mobile / web</a:t>
            </a:r>
            <a:endParaRPr lang="en-US" sz="1300" dirty="0"/>
          </a:p>
        </p:txBody>
      </p:sp>
      <p:sp>
        <p:nvSpPr>
          <p:cNvPr id="19" name="Shape 15"/>
          <p:cNvSpPr/>
          <p:nvPr/>
        </p:nvSpPr>
        <p:spPr>
          <a:xfrm>
            <a:off x="7863840" y="1920240"/>
            <a:ext cx="3520440" cy="10972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0" name="Shape 16"/>
          <p:cNvSpPr/>
          <p:nvPr/>
        </p:nvSpPr>
        <p:spPr>
          <a:xfrm>
            <a:off x="7863840" y="1920240"/>
            <a:ext cx="91440" cy="1097280"/>
          </a:xfrm>
          <a:prstGeom prst="rect">
            <a:avLst/>
          </a:prstGeom>
          <a:solidFill>
            <a:srgbClr val="1565C0"/>
          </a:solidFill>
          <a:ln w="12700">
            <a:solidFill>
              <a:srgbClr val="1565C0"/>
            </a:solidFill>
            <a:prstDash val="solid"/>
          </a:ln>
        </p:spPr>
      </p:sp>
      <p:sp>
        <p:nvSpPr>
          <p:cNvPr id="21" name="Shape 17"/>
          <p:cNvSpPr/>
          <p:nvPr/>
        </p:nvSpPr>
        <p:spPr>
          <a:xfrm>
            <a:off x="8092440" y="2194560"/>
            <a:ext cx="548640" cy="548640"/>
          </a:xfrm>
          <a:prstGeom prst="ellipse">
            <a:avLst/>
          </a:prstGeom>
          <a:solidFill>
            <a:srgbClr val="E3F2FD"/>
          </a:solidFill>
          <a:ln w="12700">
            <a:solidFill>
              <a:srgbClr val="E3F2FD"/>
            </a:solidFill>
            <a:prstDash val="solid"/>
          </a:ln>
        </p:spPr>
      </p:sp>
      <p:pic>
        <p:nvPicPr>
          <p:cNvPr id="22" name="Image 2" descr="preencoded.png"/>
          <p:cNvPicPr>
            <a:picLocks noChangeAspect="1"/>
          </p:cNvPicPr>
          <p:nvPr/>
        </p:nvPicPr>
        <p:blipFill>
          <a:blip r:embed="rId3"/>
          <a:stretch>
            <a:fillRect/>
          </a:stretch>
        </p:blipFill>
        <p:spPr>
          <a:xfrm>
            <a:off x="8183880" y="2286000"/>
            <a:ext cx="365760" cy="365760"/>
          </a:xfrm>
          <a:prstGeom prst="rect">
            <a:avLst/>
          </a:prstGeom>
        </p:spPr>
      </p:pic>
      <p:sp>
        <p:nvSpPr>
          <p:cNvPr id="23" name="Text 18"/>
          <p:cNvSpPr/>
          <p:nvPr/>
        </p:nvSpPr>
        <p:spPr>
          <a:xfrm>
            <a:off x="8778240" y="1920240"/>
            <a:ext cx="2514600" cy="1097280"/>
          </a:xfrm>
          <a:prstGeom prst="rect">
            <a:avLst/>
          </a:prstGeom>
          <a:noFill/>
        </p:spPr>
        <p:txBody>
          <a:bodyPr wrap="square" lIns="0" tIns="0" rIns="0" bIns="0" rtlCol="0" anchor="ctr"/>
          <a:lstStyle/>
          <a:p>
            <a:pPr marL="0" indent="0">
              <a:buNone/>
            </a:pPr>
            <a:r>
              <a:rPr lang="en-US" sz="1300" b="1" dirty="0">
                <a:solidFill>
                  <a:srgbClr val="0D47A1"/>
                </a:solidFill>
                <a:latin typeface="Calibri" pitchFamily="34" charset="0"/>
                <a:ea typeface="Calibri" pitchFamily="34" charset="-122"/>
                <a:cs typeface="Calibri" pitchFamily="34" charset="-120"/>
              </a:rPr>
              <a:t>Données géo</a:t>
            </a:r>
            <a:endParaRPr lang="en-US" sz="1300" dirty="0"/>
          </a:p>
          <a:p>
            <a:pPr marL="0" indent="0">
              <a:buNone/>
            </a:pPr>
            <a:r>
              <a:rPr lang="en-US" sz="1000" dirty="0">
                <a:solidFill>
                  <a:srgbClr val="475569"/>
                </a:solidFill>
                <a:latin typeface="Calibri" pitchFamily="34" charset="0"/>
                <a:ea typeface="Calibri" pitchFamily="34" charset="-122"/>
                <a:cs typeface="Calibri" pitchFamily="34" charset="-120"/>
              </a:rPr>
              <a:t>Shapefiles, zones inondables, bassins</a:t>
            </a:r>
            <a:endParaRPr lang="en-US" sz="1300" dirty="0"/>
          </a:p>
        </p:txBody>
      </p:sp>
      <p:sp>
        <p:nvSpPr>
          <p:cNvPr id="24" name="Shape 19"/>
          <p:cNvSpPr/>
          <p:nvPr/>
        </p:nvSpPr>
        <p:spPr>
          <a:xfrm>
            <a:off x="2263140" y="3108960"/>
            <a:ext cx="91440" cy="320040"/>
          </a:xfrm>
          <a:prstGeom prst="rect">
            <a:avLst/>
          </a:prstGeom>
          <a:solidFill>
            <a:srgbClr val="94A3B8"/>
          </a:solidFill>
          <a:ln w="12700">
            <a:solidFill>
              <a:srgbClr val="94A3B8"/>
            </a:solidFill>
            <a:prstDash val="solid"/>
          </a:ln>
        </p:spPr>
      </p:sp>
      <p:sp>
        <p:nvSpPr>
          <p:cNvPr id="25" name="Shape 20"/>
          <p:cNvSpPr/>
          <p:nvPr/>
        </p:nvSpPr>
        <p:spPr>
          <a:xfrm>
            <a:off x="5920740" y="3108960"/>
            <a:ext cx="91440" cy="320040"/>
          </a:xfrm>
          <a:prstGeom prst="rect">
            <a:avLst/>
          </a:prstGeom>
          <a:solidFill>
            <a:srgbClr val="94A3B8"/>
          </a:solidFill>
          <a:ln w="12700">
            <a:solidFill>
              <a:srgbClr val="94A3B8"/>
            </a:solidFill>
            <a:prstDash val="solid"/>
          </a:ln>
        </p:spPr>
      </p:sp>
      <p:sp>
        <p:nvSpPr>
          <p:cNvPr id="26" name="Shape 21"/>
          <p:cNvSpPr/>
          <p:nvPr/>
        </p:nvSpPr>
        <p:spPr>
          <a:xfrm>
            <a:off x="9578340" y="3108960"/>
            <a:ext cx="91440" cy="320040"/>
          </a:xfrm>
          <a:prstGeom prst="rect">
            <a:avLst/>
          </a:prstGeom>
          <a:solidFill>
            <a:srgbClr val="94A3B8"/>
          </a:solidFill>
          <a:ln w="12700">
            <a:solidFill>
              <a:srgbClr val="94A3B8"/>
            </a:solidFill>
            <a:prstDash val="solid"/>
          </a:ln>
        </p:spPr>
      </p:sp>
      <p:sp>
        <p:nvSpPr>
          <p:cNvPr id="27" name="Shape 22"/>
          <p:cNvSpPr/>
          <p:nvPr/>
        </p:nvSpPr>
        <p:spPr>
          <a:xfrm>
            <a:off x="548640" y="3520440"/>
            <a:ext cx="11064240" cy="141732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28" name="Shape 23"/>
          <p:cNvSpPr/>
          <p:nvPr/>
        </p:nvSpPr>
        <p:spPr>
          <a:xfrm>
            <a:off x="548640" y="3520440"/>
            <a:ext cx="11064240" cy="365760"/>
          </a:xfrm>
          <a:prstGeom prst="rect">
            <a:avLst/>
          </a:prstGeom>
          <a:solidFill>
            <a:srgbClr val="F59E0B"/>
          </a:solidFill>
          <a:ln w="12700">
            <a:solidFill>
              <a:srgbClr val="F59E0B"/>
            </a:solidFill>
            <a:prstDash val="solid"/>
          </a:ln>
        </p:spPr>
      </p:sp>
      <p:sp>
        <p:nvSpPr>
          <p:cNvPr id="29" name="Text 24"/>
          <p:cNvSpPr/>
          <p:nvPr/>
        </p:nvSpPr>
        <p:spPr>
          <a:xfrm>
            <a:off x="548640" y="3520440"/>
            <a:ext cx="11064240" cy="365760"/>
          </a:xfrm>
          <a:prstGeom prst="rect">
            <a:avLst/>
          </a:prstGeom>
          <a:noFill/>
        </p:spPr>
        <p:txBody>
          <a:bodyPr wrap="square" lIns="0" tIns="0" rIns="0" bIns="0" rtlCol="0" anchor="ctr"/>
          <a:lstStyle/>
          <a:p>
            <a:pPr marL="0" indent="0" algn="ctr">
              <a:buNone/>
            </a:pPr>
            <a:r>
              <a:rPr lang="en-US" sz="1100" b="1" kern="0" spc="400" dirty="0">
                <a:solidFill>
                  <a:srgbClr val="0D47A1"/>
                </a:solidFill>
                <a:latin typeface="Calibri" pitchFamily="34" charset="0"/>
                <a:ea typeface="Calibri" pitchFamily="34" charset="-122"/>
                <a:cs typeface="Calibri" pitchFamily="34" charset="-120"/>
              </a:rPr>
              <a:t>MOTEUR D'INTELLIGENCE ARTIFICIELLE</a:t>
            </a:r>
            <a:endParaRPr lang="en-US" sz="1100" dirty="0"/>
          </a:p>
        </p:txBody>
      </p:sp>
      <p:sp>
        <p:nvSpPr>
          <p:cNvPr id="30" name="Shape 25"/>
          <p:cNvSpPr/>
          <p:nvPr/>
        </p:nvSpPr>
        <p:spPr>
          <a:xfrm>
            <a:off x="777240" y="4069080"/>
            <a:ext cx="731520" cy="731520"/>
          </a:xfrm>
          <a:prstGeom prst="ellipse">
            <a:avLst/>
          </a:prstGeom>
          <a:solidFill>
            <a:srgbClr val="1565C0"/>
          </a:solidFill>
          <a:ln w="12700">
            <a:solidFill>
              <a:srgbClr val="1565C0"/>
            </a:solidFill>
            <a:prstDash val="solid"/>
          </a:ln>
        </p:spPr>
      </p:sp>
      <p:pic>
        <p:nvPicPr>
          <p:cNvPr id="31" name="Image 3" descr="preencoded.png"/>
          <p:cNvPicPr>
            <a:picLocks noChangeAspect="1"/>
          </p:cNvPicPr>
          <p:nvPr/>
        </p:nvPicPr>
        <p:blipFill>
          <a:blip r:embed="rId4"/>
          <a:stretch>
            <a:fillRect/>
          </a:stretch>
        </p:blipFill>
        <p:spPr>
          <a:xfrm>
            <a:off x="914400" y="4206240"/>
            <a:ext cx="457200" cy="457200"/>
          </a:xfrm>
          <a:prstGeom prst="rect">
            <a:avLst/>
          </a:prstGeom>
        </p:spPr>
      </p:pic>
      <p:sp>
        <p:nvSpPr>
          <p:cNvPr id="32" name="Text 26"/>
          <p:cNvSpPr/>
          <p:nvPr/>
        </p:nvSpPr>
        <p:spPr>
          <a:xfrm>
            <a:off x="1645920" y="4023360"/>
            <a:ext cx="4434840" cy="91440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Random Forest</a:t>
            </a:r>
            <a:endParaRPr lang="en-US" sz="1400" dirty="0"/>
          </a:p>
          <a:p>
            <a:pPr marL="0" indent="0">
              <a:buNone/>
            </a:pPr>
            <a:r>
              <a:rPr lang="en-US" sz="1100" dirty="0">
                <a:solidFill>
                  <a:srgbClr val="42A5F5"/>
                </a:solidFill>
                <a:latin typeface="Calibri" pitchFamily="34" charset="0"/>
                <a:ea typeface="Calibri" pitchFamily="34" charset="-122"/>
                <a:cs typeface="Calibri" pitchFamily="34" charset="-120"/>
              </a:rPr>
              <a:t>Prédiction risque météo  ·  AUC = 1,000  ·  Recall = 100 %</a:t>
            </a:r>
            <a:endParaRPr lang="en-US" sz="1400" dirty="0"/>
          </a:p>
        </p:txBody>
      </p:sp>
      <p:sp>
        <p:nvSpPr>
          <p:cNvPr id="33" name="Shape 27"/>
          <p:cNvSpPr/>
          <p:nvPr/>
        </p:nvSpPr>
        <p:spPr>
          <a:xfrm>
            <a:off x="6263640" y="4069080"/>
            <a:ext cx="731520" cy="731520"/>
          </a:xfrm>
          <a:prstGeom prst="ellipse">
            <a:avLst/>
          </a:prstGeom>
          <a:solidFill>
            <a:srgbClr val="1565C0"/>
          </a:solidFill>
          <a:ln w="12700">
            <a:solidFill>
              <a:srgbClr val="1565C0"/>
            </a:solidFill>
            <a:prstDash val="solid"/>
          </a:ln>
        </p:spPr>
      </p:sp>
      <p:pic>
        <p:nvPicPr>
          <p:cNvPr id="34" name="Image 4" descr="preencoded.png"/>
          <p:cNvPicPr>
            <a:picLocks noChangeAspect="1"/>
          </p:cNvPicPr>
          <p:nvPr/>
        </p:nvPicPr>
        <p:blipFill>
          <a:blip r:embed="rId5"/>
          <a:stretch>
            <a:fillRect/>
          </a:stretch>
        </p:blipFill>
        <p:spPr>
          <a:xfrm>
            <a:off x="6400800" y="4206240"/>
            <a:ext cx="457200" cy="457200"/>
          </a:xfrm>
          <a:prstGeom prst="rect">
            <a:avLst/>
          </a:prstGeom>
        </p:spPr>
      </p:pic>
      <p:sp>
        <p:nvSpPr>
          <p:cNvPr id="35" name="Text 28"/>
          <p:cNvSpPr/>
          <p:nvPr/>
        </p:nvSpPr>
        <p:spPr>
          <a:xfrm>
            <a:off x="7132320" y="4023360"/>
            <a:ext cx="4434840" cy="91440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ConvNeXt-Tiny</a:t>
            </a:r>
            <a:endParaRPr lang="en-US" sz="1400" dirty="0"/>
          </a:p>
          <a:p>
            <a:pPr marL="0" indent="0">
              <a:buNone/>
            </a:pPr>
            <a:r>
              <a:rPr lang="en-US" sz="1100" dirty="0">
                <a:solidFill>
                  <a:srgbClr val="42A5F5"/>
                </a:solidFill>
                <a:latin typeface="Calibri" pitchFamily="34" charset="0"/>
                <a:ea typeface="Calibri" pitchFamily="34" charset="-122"/>
                <a:cs typeface="Calibri" pitchFamily="34" charset="-120"/>
              </a:rPr>
              <a:t>Validation visuelle  ·  F1 = 96,48 %  ·  0 fausse alerte</a:t>
            </a:r>
            <a:endParaRPr lang="en-US" sz="1400" dirty="0"/>
          </a:p>
        </p:txBody>
      </p:sp>
      <p:sp>
        <p:nvSpPr>
          <p:cNvPr id="36" name="Shape 29"/>
          <p:cNvSpPr/>
          <p:nvPr/>
        </p:nvSpPr>
        <p:spPr>
          <a:xfrm>
            <a:off x="6035040" y="5029200"/>
            <a:ext cx="91440" cy="320040"/>
          </a:xfrm>
          <a:prstGeom prst="rect">
            <a:avLst/>
          </a:prstGeom>
          <a:solidFill>
            <a:srgbClr val="94A3B8"/>
          </a:solidFill>
          <a:ln w="12700">
            <a:solidFill>
              <a:srgbClr val="94A3B8"/>
            </a:solidFill>
            <a:prstDash val="solid"/>
          </a:ln>
        </p:spPr>
      </p:sp>
      <p:sp>
        <p:nvSpPr>
          <p:cNvPr id="37" name="Shape 30"/>
          <p:cNvSpPr/>
          <p:nvPr/>
        </p:nvSpPr>
        <p:spPr>
          <a:xfrm>
            <a:off x="548640" y="5440680"/>
            <a:ext cx="11064240" cy="777240"/>
          </a:xfrm>
          <a:prstGeom prst="rect">
            <a:avLst/>
          </a:prstGeom>
          <a:solidFill>
            <a:srgbClr val="059669"/>
          </a:solidFill>
          <a:ln w="12700">
            <a:solidFill>
              <a:srgbClr val="059669"/>
            </a:solidFill>
            <a:prstDash val="solid"/>
          </a:ln>
          <a:effectLst>
            <a:outerShdw blurRad="101600" dist="25400" dir="5400000" algn="bl" rotWithShape="0">
              <a:srgbClr val="000000">
                <a:alpha val="10000"/>
              </a:srgbClr>
            </a:outerShdw>
          </a:effectLst>
        </p:spPr>
      </p:sp>
      <p:pic>
        <p:nvPicPr>
          <p:cNvPr id="38" name="Image 5" descr="preencoded.png"/>
          <p:cNvPicPr>
            <a:picLocks noChangeAspect="1"/>
          </p:cNvPicPr>
          <p:nvPr/>
        </p:nvPicPr>
        <p:blipFill>
          <a:blip r:embed="rId6"/>
          <a:stretch>
            <a:fillRect/>
          </a:stretch>
        </p:blipFill>
        <p:spPr>
          <a:xfrm>
            <a:off x="777240" y="5577840"/>
            <a:ext cx="502920" cy="502920"/>
          </a:xfrm>
          <a:prstGeom prst="rect">
            <a:avLst/>
          </a:prstGeom>
        </p:spPr>
      </p:pic>
      <p:sp>
        <p:nvSpPr>
          <p:cNvPr id="39" name="Text 31"/>
          <p:cNvSpPr/>
          <p:nvPr/>
        </p:nvSpPr>
        <p:spPr>
          <a:xfrm>
            <a:off x="1417320" y="5440680"/>
            <a:ext cx="10058400" cy="77724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Plateforme FloodGuardAI  </a:t>
            </a:r>
            <a:r>
              <a:rPr lang="en-US" sz="1100" dirty="0">
                <a:solidFill>
                  <a:srgbClr val="ECFDF5"/>
                </a:solidFill>
                <a:latin typeface="Calibri" pitchFamily="34" charset="0"/>
                <a:ea typeface="Calibri" pitchFamily="34" charset="-122"/>
                <a:cs typeface="Calibri" pitchFamily="34" charset="-120"/>
              </a:rPr>
              <a:t>·  Carte temps réel · alertes ciblées · console admin · API ouverte · numéros utiles</a:t>
            </a:r>
            <a:endParaRPr lang="en-US" sz="1400" dirty="0"/>
          </a:p>
        </p:txBody>
      </p:sp>
      <p:sp>
        <p:nvSpPr>
          <p:cNvPr id="40" name="Shape 32"/>
          <p:cNvSpPr/>
          <p:nvPr/>
        </p:nvSpPr>
        <p:spPr>
          <a:xfrm>
            <a:off x="0" y="6537960"/>
            <a:ext cx="12161520" cy="320040"/>
          </a:xfrm>
          <a:prstGeom prst="rect">
            <a:avLst/>
          </a:prstGeom>
          <a:solidFill>
            <a:srgbClr val="0D47A1"/>
          </a:solidFill>
          <a:ln w="12700">
            <a:solidFill>
              <a:srgbClr val="0D47A1"/>
            </a:solidFill>
            <a:prstDash val="solid"/>
          </a:ln>
        </p:spPr>
      </p:sp>
      <p:sp>
        <p:nvSpPr>
          <p:cNvPr id="41" name="Text 33"/>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2" name="Text 34"/>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PAPA</a:t>
            </a:r>
            <a:endParaRPr lang="en-US" sz="900" dirty="0"/>
          </a:p>
        </p:txBody>
      </p:sp>
      <p:sp>
        <p:nvSpPr>
          <p:cNvPr id="43" name="Text 35"/>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ANTICIPATION 24-48H</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Composante 1 — Prédiction météo (Random Forest)</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7C3AED"/>
          </a:solidFill>
          <a:ln w="12700">
            <a:solidFill>
              <a:srgbClr val="7C3AED"/>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PAPA  ·  IA</a:t>
            </a:r>
            <a:endParaRPr lang="en-US" sz="1000" dirty="0"/>
          </a:p>
        </p:txBody>
      </p:sp>
      <p:sp>
        <p:nvSpPr>
          <p:cNvPr id="9" name="Text 7"/>
          <p:cNvSpPr/>
          <p:nvPr/>
        </p:nvSpPr>
        <p:spPr>
          <a:xfrm>
            <a:off x="548640" y="2011680"/>
            <a:ext cx="5852160" cy="457200"/>
          </a:xfrm>
          <a:prstGeom prst="rect">
            <a:avLst/>
          </a:prstGeom>
          <a:noFill/>
        </p:spPr>
        <p:txBody>
          <a:bodyPr wrap="square" lIns="0" tIns="0" rIns="0" bIns="0" rtlCol="0" anchor="ctr"/>
          <a:lstStyle/>
          <a:p>
            <a:pPr marL="0" indent="0">
              <a:buNone/>
            </a:pPr>
            <a:r>
              <a:rPr lang="en-US" sz="1400" b="1" i="1" dirty="0">
                <a:solidFill>
                  <a:srgbClr val="1565C0"/>
                </a:solidFill>
                <a:latin typeface="Georgia" panose="02040502050405090303" pitchFamily="34" charset="0"/>
                <a:ea typeface="Georgia" panose="02040502050405090303" pitchFamily="34" charset="-122"/>
                <a:cs typeface="Georgia" panose="02040502050405090303" pitchFamily="34" charset="-120"/>
              </a:rPr>
              <a:t>Anticiper les épisodes critiques à partir de 20 ans de réanalyses horaires.</a:t>
            </a:r>
            <a:endParaRPr lang="en-US" sz="1400" dirty="0"/>
          </a:p>
        </p:txBody>
      </p:sp>
      <p:sp>
        <p:nvSpPr>
          <p:cNvPr id="10" name="Text 8"/>
          <p:cNvSpPr/>
          <p:nvPr/>
        </p:nvSpPr>
        <p:spPr>
          <a:xfrm>
            <a:off x="548640" y="2514600"/>
            <a:ext cx="5852160" cy="1280160"/>
          </a:xfrm>
          <a:prstGeom prst="rect">
            <a:avLst/>
          </a:prstGeom>
          <a:noFill/>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Modèle Random Forest entraîné sur les données Open-Meteo 2005-2025, sur 6 zones représentatives du Sénégal (Dakar, Touba, Kaolack, Kolda, Matam, Tambacounda). Validation croisée temporelle stricte (TimeSeriesSplit, 5 folds).</a:t>
            </a:r>
            <a:endParaRPr lang="en-US" sz="1200" dirty="0"/>
          </a:p>
        </p:txBody>
      </p:sp>
      <p:sp>
        <p:nvSpPr>
          <p:cNvPr id="11" name="Text 9"/>
          <p:cNvSpPr/>
          <p:nvPr/>
        </p:nvSpPr>
        <p:spPr>
          <a:xfrm>
            <a:off x="548640" y="3840480"/>
            <a:ext cx="5852160" cy="365760"/>
          </a:xfrm>
          <a:prstGeom prst="rect">
            <a:avLst/>
          </a:prstGeom>
          <a:noFill/>
        </p:spPr>
        <p:txBody>
          <a:bodyPr wrap="square" lIns="0" tIns="0" rIns="0" bIns="0" rtlCol="0" anchor="ctr"/>
          <a:lstStyle/>
          <a:p>
            <a:pPr marL="0" indent="0">
              <a:buNone/>
            </a:pPr>
            <a:r>
              <a:rPr lang="en-US" sz="1200" b="1" dirty="0">
                <a:solidFill>
                  <a:srgbClr val="0D47A1"/>
                </a:solidFill>
                <a:latin typeface="Calibri" pitchFamily="34" charset="0"/>
                <a:ea typeface="Calibri" pitchFamily="34" charset="-122"/>
                <a:cs typeface="Calibri" pitchFamily="34" charset="-120"/>
              </a:rPr>
              <a:t>Importance des variables (Gini)</a:t>
            </a:r>
            <a:endParaRPr lang="en-US" sz="1200" dirty="0"/>
          </a:p>
        </p:txBody>
      </p:sp>
      <p:sp>
        <p:nvSpPr>
          <p:cNvPr id="12" name="Text 10"/>
          <p:cNvSpPr/>
          <p:nvPr/>
        </p:nvSpPr>
        <p:spPr>
          <a:xfrm>
            <a:off x="548640" y="4251960"/>
            <a:ext cx="155448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precip_3d_sum</a:t>
            </a:r>
            <a:endParaRPr lang="en-US" sz="1000" dirty="0"/>
          </a:p>
        </p:txBody>
      </p:sp>
      <p:sp>
        <p:nvSpPr>
          <p:cNvPr id="13" name="Shape 11"/>
          <p:cNvSpPr/>
          <p:nvPr/>
        </p:nvSpPr>
        <p:spPr>
          <a:xfrm>
            <a:off x="2194560" y="4297680"/>
            <a:ext cx="3474720" cy="228600"/>
          </a:xfrm>
          <a:prstGeom prst="rect">
            <a:avLst/>
          </a:prstGeom>
          <a:solidFill>
            <a:srgbClr val="E2E8F0"/>
          </a:solidFill>
          <a:ln w="12700">
            <a:solidFill>
              <a:srgbClr val="E2E8F0"/>
            </a:solidFill>
            <a:prstDash val="solid"/>
          </a:ln>
        </p:spPr>
      </p:sp>
      <p:sp>
        <p:nvSpPr>
          <p:cNvPr id="14" name="Shape 12"/>
          <p:cNvSpPr/>
          <p:nvPr/>
        </p:nvSpPr>
        <p:spPr>
          <a:xfrm>
            <a:off x="2194560" y="4297680"/>
            <a:ext cx="3314883" cy="228600"/>
          </a:xfrm>
          <a:prstGeom prst="rect">
            <a:avLst/>
          </a:prstGeom>
          <a:solidFill>
            <a:srgbClr val="F59E0B"/>
          </a:solidFill>
          <a:ln w="12700">
            <a:solidFill>
              <a:srgbClr val="F59E0B"/>
            </a:solidFill>
            <a:prstDash val="solid"/>
          </a:ln>
        </p:spPr>
      </p:sp>
      <p:sp>
        <p:nvSpPr>
          <p:cNvPr id="15" name="Text 13"/>
          <p:cNvSpPr/>
          <p:nvPr/>
        </p:nvSpPr>
        <p:spPr>
          <a:xfrm>
            <a:off x="5715000" y="4251960"/>
            <a:ext cx="731520" cy="320040"/>
          </a:xfrm>
          <a:prstGeom prst="rect">
            <a:avLst/>
          </a:prstGeom>
          <a:noFill/>
        </p:spPr>
        <p:txBody>
          <a:bodyPr wrap="square" lIns="0" tIns="0" rIns="0" bIns="0" rtlCol="0" anchor="ctr"/>
          <a:lstStyle/>
          <a:p>
            <a:pPr marL="0" indent="0">
              <a:buNone/>
            </a:pPr>
            <a:r>
              <a:rPr lang="en-US" sz="1000" b="1" dirty="0">
                <a:solidFill>
                  <a:srgbClr val="0D47A1"/>
                </a:solidFill>
                <a:latin typeface="Calibri" pitchFamily="34" charset="0"/>
                <a:ea typeface="Calibri" pitchFamily="34" charset="-122"/>
                <a:cs typeface="Calibri" pitchFamily="34" charset="-120"/>
              </a:rPr>
              <a:t>47.7 %</a:t>
            </a:r>
            <a:endParaRPr lang="en-US" sz="1000" dirty="0"/>
          </a:p>
        </p:txBody>
      </p:sp>
      <p:sp>
        <p:nvSpPr>
          <p:cNvPr id="16" name="Text 14"/>
          <p:cNvSpPr/>
          <p:nvPr/>
        </p:nvSpPr>
        <p:spPr>
          <a:xfrm>
            <a:off x="548640" y="4617720"/>
            <a:ext cx="155448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precip_24h</a:t>
            </a:r>
            <a:endParaRPr lang="en-US" sz="1000" dirty="0"/>
          </a:p>
        </p:txBody>
      </p:sp>
      <p:sp>
        <p:nvSpPr>
          <p:cNvPr id="17" name="Shape 15"/>
          <p:cNvSpPr/>
          <p:nvPr/>
        </p:nvSpPr>
        <p:spPr>
          <a:xfrm>
            <a:off x="2194560" y="4663440"/>
            <a:ext cx="3474720" cy="228600"/>
          </a:xfrm>
          <a:prstGeom prst="rect">
            <a:avLst/>
          </a:prstGeom>
          <a:solidFill>
            <a:srgbClr val="E2E8F0"/>
          </a:solidFill>
          <a:ln w="12700">
            <a:solidFill>
              <a:srgbClr val="E2E8F0"/>
            </a:solidFill>
            <a:prstDash val="solid"/>
          </a:ln>
        </p:spPr>
      </p:sp>
      <p:sp>
        <p:nvSpPr>
          <p:cNvPr id="18" name="Shape 16"/>
          <p:cNvSpPr/>
          <p:nvPr/>
        </p:nvSpPr>
        <p:spPr>
          <a:xfrm>
            <a:off x="2194560" y="4663440"/>
            <a:ext cx="1271748" cy="228600"/>
          </a:xfrm>
          <a:prstGeom prst="rect">
            <a:avLst/>
          </a:prstGeom>
          <a:solidFill>
            <a:srgbClr val="1565C0"/>
          </a:solidFill>
          <a:ln w="12700">
            <a:solidFill>
              <a:srgbClr val="1565C0"/>
            </a:solidFill>
            <a:prstDash val="solid"/>
          </a:ln>
        </p:spPr>
      </p:sp>
      <p:sp>
        <p:nvSpPr>
          <p:cNvPr id="19" name="Text 17"/>
          <p:cNvSpPr/>
          <p:nvPr/>
        </p:nvSpPr>
        <p:spPr>
          <a:xfrm>
            <a:off x="5715000" y="4617720"/>
            <a:ext cx="731520" cy="320040"/>
          </a:xfrm>
          <a:prstGeom prst="rect">
            <a:avLst/>
          </a:prstGeom>
          <a:noFill/>
        </p:spPr>
        <p:txBody>
          <a:bodyPr wrap="square" lIns="0" tIns="0" rIns="0" bIns="0" rtlCol="0" anchor="ctr"/>
          <a:lstStyle/>
          <a:p>
            <a:pPr marL="0" indent="0">
              <a:buNone/>
            </a:pPr>
            <a:r>
              <a:rPr lang="en-US" sz="1000" b="1" dirty="0">
                <a:solidFill>
                  <a:srgbClr val="0D47A1"/>
                </a:solidFill>
                <a:latin typeface="Calibri" pitchFamily="34" charset="0"/>
                <a:ea typeface="Calibri" pitchFamily="34" charset="-122"/>
                <a:cs typeface="Calibri" pitchFamily="34" charset="-120"/>
              </a:rPr>
              <a:t>18.3 %</a:t>
            </a:r>
            <a:endParaRPr lang="en-US" sz="1000" dirty="0"/>
          </a:p>
        </p:txBody>
      </p:sp>
      <p:sp>
        <p:nvSpPr>
          <p:cNvPr id="20" name="Text 18"/>
          <p:cNvSpPr/>
          <p:nvPr/>
        </p:nvSpPr>
        <p:spPr>
          <a:xfrm>
            <a:off x="548640" y="4983480"/>
            <a:ext cx="155448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humidity_72h</a:t>
            </a:r>
            <a:endParaRPr lang="en-US" sz="1000" dirty="0"/>
          </a:p>
        </p:txBody>
      </p:sp>
      <p:sp>
        <p:nvSpPr>
          <p:cNvPr id="21" name="Shape 19"/>
          <p:cNvSpPr/>
          <p:nvPr/>
        </p:nvSpPr>
        <p:spPr>
          <a:xfrm>
            <a:off x="2194560" y="5029200"/>
            <a:ext cx="3474720" cy="228600"/>
          </a:xfrm>
          <a:prstGeom prst="rect">
            <a:avLst/>
          </a:prstGeom>
          <a:solidFill>
            <a:srgbClr val="E2E8F0"/>
          </a:solidFill>
          <a:ln w="12700">
            <a:solidFill>
              <a:srgbClr val="E2E8F0"/>
            </a:solidFill>
            <a:prstDash val="solid"/>
          </a:ln>
        </p:spPr>
      </p:sp>
      <p:sp>
        <p:nvSpPr>
          <p:cNvPr id="22" name="Shape 20"/>
          <p:cNvSpPr/>
          <p:nvPr/>
        </p:nvSpPr>
        <p:spPr>
          <a:xfrm>
            <a:off x="2194560" y="5029200"/>
            <a:ext cx="868680" cy="228600"/>
          </a:xfrm>
          <a:prstGeom prst="rect">
            <a:avLst/>
          </a:prstGeom>
          <a:solidFill>
            <a:srgbClr val="1565C0"/>
          </a:solidFill>
          <a:ln w="12700">
            <a:solidFill>
              <a:srgbClr val="1565C0"/>
            </a:solidFill>
            <a:prstDash val="solid"/>
          </a:ln>
        </p:spPr>
      </p:sp>
      <p:sp>
        <p:nvSpPr>
          <p:cNvPr id="23" name="Text 21"/>
          <p:cNvSpPr/>
          <p:nvPr/>
        </p:nvSpPr>
        <p:spPr>
          <a:xfrm>
            <a:off x="5715000" y="4983480"/>
            <a:ext cx="731520" cy="320040"/>
          </a:xfrm>
          <a:prstGeom prst="rect">
            <a:avLst/>
          </a:prstGeom>
          <a:noFill/>
        </p:spPr>
        <p:txBody>
          <a:bodyPr wrap="square" lIns="0" tIns="0" rIns="0" bIns="0" rtlCol="0" anchor="ctr"/>
          <a:lstStyle/>
          <a:p>
            <a:pPr marL="0" indent="0">
              <a:buNone/>
            </a:pPr>
            <a:r>
              <a:rPr lang="en-US" sz="1000" b="1" dirty="0">
                <a:solidFill>
                  <a:srgbClr val="0D47A1"/>
                </a:solidFill>
                <a:latin typeface="Calibri" pitchFamily="34" charset="0"/>
                <a:ea typeface="Calibri" pitchFamily="34" charset="-122"/>
                <a:cs typeface="Calibri" pitchFamily="34" charset="-120"/>
              </a:rPr>
              <a:t>12.5 %</a:t>
            </a:r>
            <a:endParaRPr lang="en-US" sz="1000" dirty="0"/>
          </a:p>
        </p:txBody>
      </p:sp>
      <p:sp>
        <p:nvSpPr>
          <p:cNvPr id="24" name="Text 22"/>
          <p:cNvSpPr/>
          <p:nvPr/>
        </p:nvSpPr>
        <p:spPr>
          <a:xfrm>
            <a:off x="548640" y="5349240"/>
            <a:ext cx="155448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temp_max_3d</a:t>
            </a:r>
            <a:endParaRPr lang="en-US" sz="1000" dirty="0"/>
          </a:p>
        </p:txBody>
      </p:sp>
      <p:sp>
        <p:nvSpPr>
          <p:cNvPr id="25" name="Shape 23"/>
          <p:cNvSpPr/>
          <p:nvPr/>
        </p:nvSpPr>
        <p:spPr>
          <a:xfrm>
            <a:off x="2194560" y="5394960"/>
            <a:ext cx="3474720" cy="228600"/>
          </a:xfrm>
          <a:prstGeom prst="rect">
            <a:avLst/>
          </a:prstGeom>
          <a:solidFill>
            <a:srgbClr val="E2E8F0"/>
          </a:solidFill>
          <a:ln w="12700">
            <a:solidFill>
              <a:srgbClr val="E2E8F0"/>
            </a:solidFill>
            <a:prstDash val="solid"/>
          </a:ln>
        </p:spPr>
      </p:sp>
      <p:sp>
        <p:nvSpPr>
          <p:cNvPr id="26" name="Shape 24"/>
          <p:cNvSpPr/>
          <p:nvPr/>
        </p:nvSpPr>
        <p:spPr>
          <a:xfrm>
            <a:off x="2194560" y="5394960"/>
            <a:ext cx="639348" cy="228600"/>
          </a:xfrm>
          <a:prstGeom prst="rect">
            <a:avLst/>
          </a:prstGeom>
          <a:solidFill>
            <a:srgbClr val="1565C0"/>
          </a:solidFill>
          <a:ln w="12700">
            <a:solidFill>
              <a:srgbClr val="1565C0"/>
            </a:solidFill>
            <a:prstDash val="solid"/>
          </a:ln>
        </p:spPr>
      </p:sp>
      <p:sp>
        <p:nvSpPr>
          <p:cNvPr id="27" name="Text 25"/>
          <p:cNvSpPr/>
          <p:nvPr/>
        </p:nvSpPr>
        <p:spPr>
          <a:xfrm>
            <a:off x="5715000" y="5349240"/>
            <a:ext cx="731520" cy="320040"/>
          </a:xfrm>
          <a:prstGeom prst="rect">
            <a:avLst/>
          </a:prstGeom>
          <a:noFill/>
        </p:spPr>
        <p:txBody>
          <a:bodyPr wrap="square" lIns="0" tIns="0" rIns="0" bIns="0" rtlCol="0" anchor="ctr"/>
          <a:lstStyle/>
          <a:p>
            <a:pPr marL="0" indent="0">
              <a:buNone/>
            </a:pPr>
            <a:r>
              <a:rPr lang="en-US" sz="1000" b="1" dirty="0">
                <a:solidFill>
                  <a:srgbClr val="0D47A1"/>
                </a:solidFill>
                <a:latin typeface="Calibri" pitchFamily="34" charset="0"/>
                <a:ea typeface="Calibri" pitchFamily="34" charset="-122"/>
                <a:cs typeface="Calibri" pitchFamily="34" charset="-120"/>
              </a:rPr>
              <a:t>9.2 %</a:t>
            </a:r>
            <a:endParaRPr lang="en-US" sz="1000" dirty="0"/>
          </a:p>
        </p:txBody>
      </p:sp>
      <p:sp>
        <p:nvSpPr>
          <p:cNvPr id="28" name="Text 26"/>
          <p:cNvSpPr/>
          <p:nvPr/>
        </p:nvSpPr>
        <p:spPr>
          <a:xfrm>
            <a:off x="548640" y="5715000"/>
            <a:ext cx="155448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wind_max</a:t>
            </a:r>
            <a:endParaRPr lang="en-US" sz="1000" dirty="0"/>
          </a:p>
        </p:txBody>
      </p:sp>
      <p:sp>
        <p:nvSpPr>
          <p:cNvPr id="29" name="Shape 27"/>
          <p:cNvSpPr/>
          <p:nvPr/>
        </p:nvSpPr>
        <p:spPr>
          <a:xfrm>
            <a:off x="2194560" y="5760720"/>
            <a:ext cx="3474720" cy="228600"/>
          </a:xfrm>
          <a:prstGeom prst="rect">
            <a:avLst/>
          </a:prstGeom>
          <a:solidFill>
            <a:srgbClr val="E2E8F0"/>
          </a:solidFill>
          <a:ln w="12700">
            <a:solidFill>
              <a:srgbClr val="E2E8F0"/>
            </a:solidFill>
            <a:prstDash val="solid"/>
          </a:ln>
        </p:spPr>
      </p:sp>
      <p:sp>
        <p:nvSpPr>
          <p:cNvPr id="30" name="Shape 28"/>
          <p:cNvSpPr/>
          <p:nvPr/>
        </p:nvSpPr>
        <p:spPr>
          <a:xfrm>
            <a:off x="2194560" y="5760720"/>
            <a:ext cx="423916" cy="228600"/>
          </a:xfrm>
          <a:prstGeom prst="rect">
            <a:avLst/>
          </a:prstGeom>
          <a:solidFill>
            <a:srgbClr val="1565C0"/>
          </a:solidFill>
          <a:ln w="12700">
            <a:solidFill>
              <a:srgbClr val="1565C0"/>
            </a:solidFill>
            <a:prstDash val="solid"/>
          </a:ln>
        </p:spPr>
      </p:sp>
      <p:sp>
        <p:nvSpPr>
          <p:cNvPr id="31" name="Text 29"/>
          <p:cNvSpPr/>
          <p:nvPr/>
        </p:nvSpPr>
        <p:spPr>
          <a:xfrm>
            <a:off x="5715000" y="5715000"/>
            <a:ext cx="731520" cy="320040"/>
          </a:xfrm>
          <a:prstGeom prst="rect">
            <a:avLst/>
          </a:prstGeom>
          <a:noFill/>
        </p:spPr>
        <p:txBody>
          <a:bodyPr wrap="square" lIns="0" tIns="0" rIns="0" bIns="0" rtlCol="0" anchor="ctr"/>
          <a:lstStyle/>
          <a:p>
            <a:pPr marL="0" indent="0">
              <a:buNone/>
            </a:pPr>
            <a:r>
              <a:rPr lang="en-US" sz="1000" b="1" dirty="0">
                <a:solidFill>
                  <a:srgbClr val="0D47A1"/>
                </a:solidFill>
                <a:latin typeface="Calibri" pitchFamily="34" charset="0"/>
                <a:ea typeface="Calibri" pitchFamily="34" charset="-122"/>
                <a:cs typeface="Calibri" pitchFamily="34" charset="-120"/>
              </a:rPr>
              <a:t>6.1 %</a:t>
            </a:r>
            <a:endParaRPr lang="en-US" sz="1000" dirty="0"/>
          </a:p>
        </p:txBody>
      </p:sp>
      <p:sp>
        <p:nvSpPr>
          <p:cNvPr id="32" name="Shape 30"/>
          <p:cNvSpPr/>
          <p:nvPr/>
        </p:nvSpPr>
        <p:spPr>
          <a:xfrm>
            <a:off x="6858000" y="2011680"/>
            <a:ext cx="4754880" cy="416052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33" name="Shape 31"/>
          <p:cNvSpPr/>
          <p:nvPr/>
        </p:nvSpPr>
        <p:spPr>
          <a:xfrm>
            <a:off x="6858000" y="2011680"/>
            <a:ext cx="4754880" cy="457200"/>
          </a:xfrm>
          <a:prstGeom prst="rect">
            <a:avLst/>
          </a:prstGeom>
          <a:solidFill>
            <a:srgbClr val="F59E0B"/>
          </a:solidFill>
          <a:ln w="12700">
            <a:solidFill>
              <a:srgbClr val="F59E0B"/>
            </a:solidFill>
            <a:prstDash val="solid"/>
          </a:ln>
        </p:spPr>
      </p:sp>
      <p:sp>
        <p:nvSpPr>
          <p:cNvPr id="34" name="Text 32"/>
          <p:cNvSpPr/>
          <p:nvPr/>
        </p:nvSpPr>
        <p:spPr>
          <a:xfrm>
            <a:off x="6858000" y="2011680"/>
            <a:ext cx="4754880" cy="457200"/>
          </a:xfrm>
          <a:prstGeom prst="rect">
            <a:avLst/>
          </a:prstGeom>
          <a:noFill/>
        </p:spPr>
        <p:txBody>
          <a:bodyPr wrap="square" lIns="0" tIns="0" rIns="0" bIns="0" rtlCol="0" anchor="ctr"/>
          <a:lstStyle/>
          <a:p>
            <a:pPr marL="0" indent="0" algn="ctr">
              <a:buNone/>
            </a:pPr>
            <a:r>
              <a:rPr lang="en-US" sz="1000" b="1" kern="0" spc="200" dirty="0">
                <a:solidFill>
                  <a:srgbClr val="0D47A1"/>
                </a:solidFill>
                <a:latin typeface="Calibri" pitchFamily="34" charset="0"/>
                <a:ea typeface="Calibri" pitchFamily="34" charset="-122"/>
                <a:cs typeface="Calibri" pitchFamily="34" charset="-120"/>
              </a:rPr>
              <a:t>RÉSULTATS — TEST 2023-2025 (2 202 OBSERVATIONS)</a:t>
            </a:r>
            <a:endParaRPr lang="en-US" sz="1000" dirty="0"/>
          </a:p>
        </p:txBody>
      </p:sp>
      <p:sp>
        <p:nvSpPr>
          <p:cNvPr id="35" name="Text 33"/>
          <p:cNvSpPr/>
          <p:nvPr/>
        </p:nvSpPr>
        <p:spPr>
          <a:xfrm>
            <a:off x="7040880" y="2697480"/>
            <a:ext cx="2011680" cy="502920"/>
          </a:xfrm>
          <a:prstGeom prst="rect">
            <a:avLst/>
          </a:prstGeom>
          <a:noFill/>
        </p:spPr>
        <p:txBody>
          <a:bodyPr wrap="square" lIns="0" tIns="0" rIns="0" bIns="0" rtlCol="0" anchor="ctr"/>
          <a:lstStyle/>
          <a:p>
            <a:pPr marL="0" indent="0">
              <a:buNone/>
            </a:pPr>
            <a:r>
              <a:rPr lang="en-US" sz="2800" b="1" dirty="0">
                <a:solidFill>
                  <a:srgbClr val="F59E0B"/>
                </a:solidFill>
                <a:latin typeface="Georgia" panose="02040502050405090303" pitchFamily="34" charset="0"/>
                <a:ea typeface="Georgia" panose="02040502050405090303" pitchFamily="34" charset="-122"/>
                <a:cs typeface="Georgia" panose="02040502050405090303" pitchFamily="34" charset="-120"/>
              </a:rPr>
              <a:t>1,000</a:t>
            </a:r>
            <a:endParaRPr lang="en-US" sz="2800" dirty="0"/>
          </a:p>
        </p:txBody>
      </p:sp>
      <p:sp>
        <p:nvSpPr>
          <p:cNvPr id="36" name="Text 34"/>
          <p:cNvSpPr/>
          <p:nvPr/>
        </p:nvSpPr>
        <p:spPr>
          <a:xfrm>
            <a:off x="9098280" y="2697480"/>
            <a:ext cx="24688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AUC-ROC</a:t>
            </a:r>
            <a:endParaRPr lang="en-US" sz="1100" dirty="0"/>
          </a:p>
        </p:txBody>
      </p:sp>
      <p:sp>
        <p:nvSpPr>
          <p:cNvPr id="37" name="Shape 35"/>
          <p:cNvSpPr/>
          <p:nvPr/>
        </p:nvSpPr>
        <p:spPr>
          <a:xfrm>
            <a:off x="7040880" y="3337560"/>
            <a:ext cx="4434840" cy="0"/>
          </a:xfrm>
          <a:prstGeom prst="line">
            <a:avLst/>
          </a:prstGeom>
          <a:noFill/>
          <a:ln w="6350">
            <a:solidFill>
              <a:srgbClr val="1565C0"/>
            </a:solidFill>
            <a:prstDash val="solid"/>
          </a:ln>
        </p:spPr>
      </p:sp>
      <p:sp>
        <p:nvSpPr>
          <p:cNvPr id="38" name="Text 36"/>
          <p:cNvSpPr/>
          <p:nvPr/>
        </p:nvSpPr>
        <p:spPr>
          <a:xfrm>
            <a:off x="7040880" y="3547872"/>
            <a:ext cx="2011680" cy="502920"/>
          </a:xfrm>
          <a:prstGeom prst="rect">
            <a:avLst/>
          </a:prstGeom>
          <a:noFill/>
        </p:spPr>
        <p:txBody>
          <a:bodyPr wrap="square" lIns="0" tIns="0" rIns="0" bIns="0" rtlCol="0" anchor="ctr"/>
          <a:lstStyle/>
          <a:p>
            <a:pPr marL="0" indent="0">
              <a:buNone/>
            </a:pPr>
            <a:r>
              <a:rPr lang="en-US" sz="2800" b="1" dirty="0">
                <a:solidFill>
                  <a:srgbClr val="F59E0B"/>
                </a:solidFill>
                <a:latin typeface="Georgia" panose="02040502050405090303" pitchFamily="34" charset="0"/>
                <a:ea typeface="Georgia" panose="02040502050405090303" pitchFamily="34" charset="-122"/>
                <a:cs typeface="Georgia" panose="02040502050405090303" pitchFamily="34" charset="-120"/>
              </a:rPr>
              <a:t>100 %</a:t>
            </a:r>
            <a:endParaRPr lang="en-US" sz="2800" dirty="0"/>
          </a:p>
        </p:txBody>
      </p:sp>
      <p:sp>
        <p:nvSpPr>
          <p:cNvPr id="39" name="Text 37"/>
          <p:cNvSpPr/>
          <p:nvPr/>
        </p:nvSpPr>
        <p:spPr>
          <a:xfrm>
            <a:off x="9098280" y="3547872"/>
            <a:ext cx="24688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Rappel (zéro faux négatif)</a:t>
            </a:r>
            <a:endParaRPr lang="en-US" sz="1100" dirty="0"/>
          </a:p>
        </p:txBody>
      </p:sp>
      <p:sp>
        <p:nvSpPr>
          <p:cNvPr id="40" name="Shape 38"/>
          <p:cNvSpPr/>
          <p:nvPr/>
        </p:nvSpPr>
        <p:spPr>
          <a:xfrm>
            <a:off x="7040880" y="4187952"/>
            <a:ext cx="4434840" cy="0"/>
          </a:xfrm>
          <a:prstGeom prst="line">
            <a:avLst/>
          </a:prstGeom>
          <a:noFill/>
          <a:ln w="6350">
            <a:solidFill>
              <a:srgbClr val="1565C0"/>
            </a:solidFill>
            <a:prstDash val="solid"/>
          </a:ln>
        </p:spPr>
      </p:sp>
      <p:sp>
        <p:nvSpPr>
          <p:cNvPr id="41" name="Text 39"/>
          <p:cNvSpPr/>
          <p:nvPr/>
        </p:nvSpPr>
        <p:spPr>
          <a:xfrm>
            <a:off x="7040880" y="4398264"/>
            <a:ext cx="2011680" cy="502920"/>
          </a:xfrm>
          <a:prstGeom prst="rect">
            <a:avLst/>
          </a:prstGeom>
          <a:noFill/>
        </p:spPr>
        <p:txBody>
          <a:bodyPr wrap="square" lIns="0" tIns="0" rIns="0" bIns="0" rtlCol="0" anchor="ctr"/>
          <a:lstStyle/>
          <a:p>
            <a:pPr marL="0" indent="0">
              <a:buNone/>
            </a:pPr>
            <a:r>
              <a:rPr lang="en-US" sz="2800" b="1" dirty="0">
                <a:solidFill>
                  <a:srgbClr val="F59E0B"/>
                </a:solidFill>
                <a:latin typeface="Georgia" panose="02040502050405090303" pitchFamily="34" charset="0"/>
                <a:ea typeface="Georgia" panose="02040502050405090303" pitchFamily="34" charset="-122"/>
                <a:cs typeface="Georgia" panose="02040502050405090303" pitchFamily="34" charset="-120"/>
              </a:rPr>
              <a:t>99,5 %</a:t>
            </a:r>
            <a:endParaRPr lang="en-US" sz="2800" dirty="0"/>
          </a:p>
        </p:txBody>
      </p:sp>
      <p:sp>
        <p:nvSpPr>
          <p:cNvPr id="42" name="Text 40"/>
          <p:cNvSpPr/>
          <p:nvPr/>
        </p:nvSpPr>
        <p:spPr>
          <a:xfrm>
            <a:off x="9098280" y="4398264"/>
            <a:ext cx="24688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Précision</a:t>
            </a:r>
            <a:endParaRPr lang="en-US" sz="1100" dirty="0"/>
          </a:p>
        </p:txBody>
      </p:sp>
      <p:sp>
        <p:nvSpPr>
          <p:cNvPr id="43" name="Shape 41"/>
          <p:cNvSpPr/>
          <p:nvPr/>
        </p:nvSpPr>
        <p:spPr>
          <a:xfrm>
            <a:off x="7040880" y="5038344"/>
            <a:ext cx="4434840" cy="0"/>
          </a:xfrm>
          <a:prstGeom prst="line">
            <a:avLst/>
          </a:prstGeom>
          <a:noFill/>
          <a:ln w="6350">
            <a:solidFill>
              <a:srgbClr val="1565C0"/>
            </a:solidFill>
            <a:prstDash val="solid"/>
          </a:ln>
        </p:spPr>
      </p:sp>
      <p:sp>
        <p:nvSpPr>
          <p:cNvPr id="44" name="Text 42"/>
          <p:cNvSpPr/>
          <p:nvPr/>
        </p:nvSpPr>
        <p:spPr>
          <a:xfrm>
            <a:off x="7040880" y="5248656"/>
            <a:ext cx="2011680" cy="502920"/>
          </a:xfrm>
          <a:prstGeom prst="rect">
            <a:avLst/>
          </a:prstGeom>
          <a:noFill/>
        </p:spPr>
        <p:txBody>
          <a:bodyPr wrap="square" lIns="0" tIns="0" rIns="0" bIns="0" rtlCol="0" anchor="ctr"/>
          <a:lstStyle/>
          <a:p>
            <a:pPr marL="0" indent="0">
              <a:buNone/>
            </a:pPr>
            <a:r>
              <a:rPr lang="en-US" sz="2800" b="1" dirty="0">
                <a:solidFill>
                  <a:srgbClr val="F59E0B"/>
                </a:solidFill>
                <a:latin typeface="Georgia" panose="02040502050405090303" pitchFamily="34" charset="0"/>
                <a:ea typeface="Georgia" panose="02040502050405090303" pitchFamily="34" charset="-122"/>
                <a:cs typeface="Georgia" panose="02040502050405090303" pitchFamily="34" charset="-120"/>
              </a:rPr>
              <a:t>0,9999</a:t>
            </a:r>
            <a:endParaRPr lang="en-US" sz="2800" dirty="0"/>
          </a:p>
        </p:txBody>
      </p:sp>
      <p:sp>
        <p:nvSpPr>
          <p:cNvPr id="45" name="Text 43"/>
          <p:cNvSpPr/>
          <p:nvPr/>
        </p:nvSpPr>
        <p:spPr>
          <a:xfrm>
            <a:off x="9098280" y="5248656"/>
            <a:ext cx="24688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AUC moyen sur 5 folds (TimeSeriesSplit)</a:t>
            </a:r>
            <a:endParaRPr lang="en-US" sz="1100" dirty="0"/>
          </a:p>
        </p:txBody>
      </p:sp>
      <p:sp>
        <p:nvSpPr>
          <p:cNvPr id="46" name="Shape 44"/>
          <p:cNvSpPr/>
          <p:nvPr/>
        </p:nvSpPr>
        <p:spPr>
          <a:xfrm>
            <a:off x="0" y="6537960"/>
            <a:ext cx="12161520" cy="320040"/>
          </a:xfrm>
          <a:prstGeom prst="rect">
            <a:avLst/>
          </a:prstGeom>
          <a:solidFill>
            <a:srgbClr val="0D47A1"/>
          </a:solidFill>
          <a:ln w="12700">
            <a:solidFill>
              <a:srgbClr val="0D47A1"/>
            </a:solidFill>
            <a:prstDash val="solid"/>
          </a:ln>
        </p:spPr>
      </p:sp>
      <p:sp>
        <p:nvSpPr>
          <p:cNvPr id="47" name="Text 45"/>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8" name="Text 46"/>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PAPA</a:t>
            </a:r>
            <a:endParaRPr lang="en-US" sz="900" dirty="0"/>
          </a:p>
        </p:txBody>
      </p:sp>
      <p:sp>
        <p:nvSpPr>
          <p:cNvPr id="49" name="Text 47"/>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VALIDATION PAR IMAGE</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Composante 2 — Détection visuelle (ConvNeXt-Tiny)</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7C3AED"/>
          </a:solidFill>
          <a:ln w="12700">
            <a:solidFill>
              <a:srgbClr val="7C3AED"/>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PAPA  ·  IA</a:t>
            </a:r>
            <a:endParaRPr lang="en-US" sz="1000" dirty="0"/>
          </a:p>
        </p:txBody>
      </p:sp>
      <p:sp>
        <p:nvSpPr>
          <p:cNvPr id="9" name="Text 7"/>
          <p:cNvSpPr/>
          <p:nvPr/>
        </p:nvSpPr>
        <p:spPr>
          <a:xfrm>
            <a:off x="548640" y="2011680"/>
            <a:ext cx="11064240" cy="457200"/>
          </a:xfrm>
          <a:prstGeom prst="rect">
            <a:avLst/>
          </a:prstGeom>
          <a:noFill/>
        </p:spPr>
        <p:txBody>
          <a:bodyPr wrap="square" lIns="0" tIns="0" rIns="0" bIns="0" rtlCol="0" anchor="ctr"/>
          <a:lstStyle/>
          <a:p>
            <a:pPr marL="0" indent="0">
              <a:buNone/>
            </a:pPr>
            <a:r>
              <a:rPr lang="en-US" sz="1400" b="1" i="1" dirty="0">
                <a:solidFill>
                  <a:srgbClr val="1565C0"/>
                </a:solidFill>
                <a:latin typeface="Georgia" panose="02040502050405090303" pitchFamily="34" charset="0"/>
                <a:ea typeface="Georgia" panose="02040502050405090303" pitchFamily="34" charset="-122"/>
                <a:cs typeface="Georgia" panose="02040502050405090303" pitchFamily="34" charset="-120"/>
              </a:rPr>
              <a:t>Valider chaque signalement citoyen en moins de 2 secondes — sans aucune fausse alerte.</a:t>
            </a:r>
            <a:endParaRPr lang="en-US" sz="1400" dirty="0"/>
          </a:p>
        </p:txBody>
      </p:sp>
      <p:sp>
        <p:nvSpPr>
          <p:cNvPr id="10" name="Text 8"/>
          <p:cNvSpPr/>
          <p:nvPr/>
        </p:nvSpPr>
        <p:spPr>
          <a:xfrm>
            <a:off x="548640" y="2606040"/>
            <a:ext cx="5943600" cy="365760"/>
          </a:xfrm>
          <a:prstGeom prst="rect">
            <a:avLst/>
          </a:prstGeom>
          <a:noFill/>
        </p:spPr>
        <p:txBody>
          <a:bodyPr wrap="square" lIns="0" tIns="0" rIns="0" bIns="0" rtlCol="0" anchor="ctr"/>
          <a:lstStyle/>
          <a:p>
            <a:pPr marL="0" indent="0">
              <a:buNone/>
            </a:pPr>
            <a:r>
              <a:rPr lang="en-US" sz="1200" b="1" dirty="0">
                <a:solidFill>
                  <a:srgbClr val="0D47A1"/>
                </a:solidFill>
                <a:latin typeface="Calibri" pitchFamily="34" charset="0"/>
                <a:ea typeface="Calibri" pitchFamily="34" charset="-122"/>
                <a:cs typeface="Calibri" pitchFamily="34" charset="-120"/>
              </a:rPr>
              <a:t>Comparaison de 4 architectures CNN (F1-Score)</a:t>
            </a:r>
            <a:endParaRPr lang="en-US" sz="1200" dirty="0"/>
          </a:p>
        </p:txBody>
      </p:sp>
      <p:sp>
        <p:nvSpPr>
          <p:cNvPr id="11" name="Text 9"/>
          <p:cNvSpPr/>
          <p:nvPr/>
        </p:nvSpPr>
        <p:spPr>
          <a:xfrm>
            <a:off x="548640" y="3108960"/>
            <a:ext cx="210312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ResNet-18 (baseline)</a:t>
            </a:r>
            <a:endParaRPr lang="en-US" sz="1100" dirty="0"/>
          </a:p>
        </p:txBody>
      </p:sp>
      <p:sp>
        <p:nvSpPr>
          <p:cNvPr id="12" name="Shape 10"/>
          <p:cNvSpPr/>
          <p:nvPr/>
        </p:nvSpPr>
        <p:spPr>
          <a:xfrm>
            <a:off x="2743200" y="3182112"/>
            <a:ext cx="3200400" cy="274320"/>
          </a:xfrm>
          <a:prstGeom prst="rect">
            <a:avLst/>
          </a:prstGeom>
          <a:solidFill>
            <a:srgbClr val="E2E8F0"/>
          </a:solidFill>
          <a:ln w="12700">
            <a:solidFill>
              <a:srgbClr val="E2E8F0"/>
            </a:solidFill>
            <a:prstDash val="solid"/>
          </a:ln>
        </p:spPr>
      </p:sp>
      <p:sp>
        <p:nvSpPr>
          <p:cNvPr id="13" name="Shape 11"/>
          <p:cNvSpPr/>
          <p:nvPr/>
        </p:nvSpPr>
        <p:spPr>
          <a:xfrm>
            <a:off x="2743200" y="3182112"/>
            <a:ext cx="2553919" cy="274320"/>
          </a:xfrm>
          <a:prstGeom prst="rect">
            <a:avLst/>
          </a:prstGeom>
          <a:solidFill>
            <a:srgbClr val="94A3B8"/>
          </a:solidFill>
          <a:ln w="12700">
            <a:solidFill>
              <a:srgbClr val="94A3B8"/>
            </a:solidFill>
            <a:prstDash val="solid"/>
          </a:ln>
        </p:spPr>
      </p:sp>
      <p:sp>
        <p:nvSpPr>
          <p:cNvPr id="14" name="Text 12"/>
          <p:cNvSpPr/>
          <p:nvPr/>
        </p:nvSpPr>
        <p:spPr>
          <a:xfrm>
            <a:off x="5989320" y="3108960"/>
            <a:ext cx="777240" cy="411480"/>
          </a:xfrm>
          <a:prstGeom prst="rect">
            <a:avLst/>
          </a:prstGeom>
          <a:noFill/>
        </p:spPr>
        <p:txBody>
          <a:bodyPr wrap="square" lIns="0" tIns="0" rIns="0" bIns="0"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79.80 %</a:t>
            </a:r>
            <a:endParaRPr lang="en-US" sz="1100" dirty="0"/>
          </a:p>
        </p:txBody>
      </p:sp>
      <p:sp>
        <p:nvSpPr>
          <p:cNvPr id="15" name="Text 13"/>
          <p:cNvSpPr/>
          <p:nvPr/>
        </p:nvSpPr>
        <p:spPr>
          <a:xfrm>
            <a:off x="548640" y="3611880"/>
            <a:ext cx="210312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EfficientNet-B3</a:t>
            </a:r>
            <a:endParaRPr lang="en-US" sz="1100" dirty="0"/>
          </a:p>
        </p:txBody>
      </p:sp>
      <p:sp>
        <p:nvSpPr>
          <p:cNvPr id="16" name="Shape 14"/>
          <p:cNvSpPr/>
          <p:nvPr/>
        </p:nvSpPr>
        <p:spPr>
          <a:xfrm>
            <a:off x="2743200" y="3685032"/>
            <a:ext cx="3200400" cy="274320"/>
          </a:xfrm>
          <a:prstGeom prst="rect">
            <a:avLst/>
          </a:prstGeom>
          <a:solidFill>
            <a:srgbClr val="E2E8F0"/>
          </a:solidFill>
          <a:ln w="12700">
            <a:solidFill>
              <a:srgbClr val="E2E8F0"/>
            </a:solidFill>
            <a:prstDash val="solid"/>
          </a:ln>
        </p:spPr>
      </p:sp>
      <p:sp>
        <p:nvSpPr>
          <p:cNvPr id="17" name="Shape 15"/>
          <p:cNvSpPr/>
          <p:nvPr/>
        </p:nvSpPr>
        <p:spPr>
          <a:xfrm>
            <a:off x="2743200" y="3685032"/>
            <a:ext cx="2891561" cy="274320"/>
          </a:xfrm>
          <a:prstGeom prst="rect">
            <a:avLst/>
          </a:prstGeom>
          <a:solidFill>
            <a:srgbClr val="1565C0"/>
          </a:solidFill>
          <a:ln w="12700">
            <a:solidFill>
              <a:srgbClr val="1565C0"/>
            </a:solidFill>
            <a:prstDash val="solid"/>
          </a:ln>
        </p:spPr>
      </p:sp>
      <p:sp>
        <p:nvSpPr>
          <p:cNvPr id="18" name="Text 16"/>
          <p:cNvSpPr/>
          <p:nvPr/>
        </p:nvSpPr>
        <p:spPr>
          <a:xfrm>
            <a:off x="5989320" y="3611880"/>
            <a:ext cx="777240" cy="411480"/>
          </a:xfrm>
          <a:prstGeom prst="rect">
            <a:avLst/>
          </a:prstGeom>
          <a:noFill/>
        </p:spPr>
        <p:txBody>
          <a:bodyPr wrap="square" lIns="0" tIns="0" rIns="0" bIns="0"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90.35 %</a:t>
            </a:r>
            <a:endParaRPr lang="en-US" sz="1100" dirty="0"/>
          </a:p>
        </p:txBody>
      </p:sp>
      <p:sp>
        <p:nvSpPr>
          <p:cNvPr id="19" name="Text 17"/>
          <p:cNvSpPr/>
          <p:nvPr/>
        </p:nvSpPr>
        <p:spPr>
          <a:xfrm>
            <a:off x="548640" y="4114800"/>
            <a:ext cx="210312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Swin-Tiny</a:t>
            </a:r>
            <a:endParaRPr lang="en-US" sz="1100" dirty="0"/>
          </a:p>
        </p:txBody>
      </p:sp>
      <p:sp>
        <p:nvSpPr>
          <p:cNvPr id="20" name="Shape 18"/>
          <p:cNvSpPr/>
          <p:nvPr/>
        </p:nvSpPr>
        <p:spPr>
          <a:xfrm>
            <a:off x="2743200" y="4187952"/>
            <a:ext cx="3200400" cy="274320"/>
          </a:xfrm>
          <a:prstGeom prst="rect">
            <a:avLst/>
          </a:prstGeom>
          <a:solidFill>
            <a:srgbClr val="E2E8F0"/>
          </a:solidFill>
          <a:ln w="12700">
            <a:solidFill>
              <a:srgbClr val="E2E8F0"/>
            </a:solidFill>
            <a:prstDash val="solid"/>
          </a:ln>
        </p:spPr>
      </p:sp>
      <p:sp>
        <p:nvSpPr>
          <p:cNvPr id="21" name="Shape 19"/>
          <p:cNvSpPr/>
          <p:nvPr/>
        </p:nvSpPr>
        <p:spPr>
          <a:xfrm>
            <a:off x="2743200" y="4187952"/>
            <a:ext cx="3057982" cy="274320"/>
          </a:xfrm>
          <a:prstGeom prst="rect">
            <a:avLst/>
          </a:prstGeom>
          <a:solidFill>
            <a:srgbClr val="1565C0"/>
          </a:solidFill>
          <a:ln w="12700">
            <a:solidFill>
              <a:srgbClr val="1565C0"/>
            </a:solidFill>
            <a:prstDash val="solid"/>
          </a:ln>
        </p:spPr>
      </p:sp>
      <p:sp>
        <p:nvSpPr>
          <p:cNvPr id="22" name="Text 20"/>
          <p:cNvSpPr/>
          <p:nvPr/>
        </p:nvSpPr>
        <p:spPr>
          <a:xfrm>
            <a:off x="5989320" y="4114800"/>
            <a:ext cx="777240" cy="411480"/>
          </a:xfrm>
          <a:prstGeom prst="rect">
            <a:avLst/>
          </a:prstGeom>
          <a:noFill/>
        </p:spPr>
        <p:txBody>
          <a:bodyPr wrap="square" lIns="0" tIns="0" rIns="0" bIns="0"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95.55 %</a:t>
            </a:r>
            <a:endParaRPr lang="en-US" sz="1100" dirty="0"/>
          </a:p>
        </p:txBody>
      </p:sp>
      <p:sp>
        <p:nvSpPr>
          <p:cNvPr id="23" name="Text 21"/>
          <p:cNvSpPr/>
          <p:nvPr/>
        </p:nvSpPr>
        <p:spPr>
          <a:xfrm>
            <a:off x="548640" y="4617720"/>
            <a:ext cx="2103120" cy="411480"/>
          </a:xfrm>
          <a:prstGeom prst="rect">
            <a:avLst/>
          </a:prstGeom>
          <a:noFill/>
        </p:spPr>
        <p:txBody>
          <a:bodyPr wrap="square" lIns="0" tIns="0" rIns="0" bIns="0"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ConvNeXt-Tiny  ★</a:t>
            </a:r>
            <a:endParaRPr lang="en-US" sz="1100" dirty="0"/>
          </a:p>
        </p:txBody>
      </p:sp>
      <p:sp>
        <p:nvSpPr>
          <p:cNvPr id="24" name="Shape 22"/>
          <p:cNvSpPr/>
          <p:nvPr/>
        </p:nvSpPr>
        <p:spPr>
          <a:xfrm>
            <a:off x="2743200" y="4690872"/>
            <a:ext cx="3200400" cy="274320"/>
          </a:xfrm>
          <a:prstGeom prst="rect">
            <a:avLst/>
          </a:prstGeom>
          <a:solidFill>
            <a:srgbClr val="E2E8F0"/>
          </a:solidFill>
          <a:ln w="12700">
            <a:solidFill>
              <a:srgbClr val="E2E8F0"/>
            </a:solidFill>
            <a:prstDash val="solid"/>
          </a:ln>
        </p:spPr>
      </p:sp>
      <p:sp>
        <p:nvSpPr>
          <p:cNvPr id="25" name="Shape 23"/>
          <p:cNvSpPr/>
          <p:nvPr/>
        </p:nvSpPr>
        <p:spPr>
          <a:xfrm>
            <a:off x="2743200" y="4690872"/>
            <a:ext cx="3087746" cy="274320"/>
          </a:xfrm>
          <a:prstGeom prst="rect">
            <a:avLst/>
          </a:prstGeom>
          <a:solidFill>
            <a:srgbClr val="F59E0B"/>
          </a:solidFill>
          <a:ln w="12700">
            <a:solidFill>
              <a:srgbClr val="F59E0B"/>
            </a:solidFill>
            <a:prstDash val="solid"/>
          </a:ln>
        </p:spPr>
      </p:sp>
      <p:sp>
        <p:nvSpPr>
          <p:cNvPr id="26" name="Text 24"/>
          <p:cNvSpPr/>
          <p:nvPr/>
        </p:nvSpPr>
        <p:spPr>
          <a:xfrm>
            <a:off x="5989320" y="4617720"/>
            <a:ext cx="777240" cy="411480"/>
          </a:xfrm>
          <a:prstGeom prst="rect">
            <a:avLst/>
          </a:prstGeom>
          <a:noFill/>
        </p:spPr>
        <p:txBody>
          <a:bodyPr wrap="square" lIns="0" tIns="0" rIns="0" bIns="0"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96.48 %</a:t>
            </a:r>
            <a:endParaRPr lang="en-US" sz="1100" dirty="0"/>
          </a:p>
        </p:txBody>
      </p:sp>
      <p:sp>
        <p:nvSpPr>
          <p:cNvPr id="27" name="Text 25"/>
          <p:cNvSpPr/>
          <p:nvPr/>
        </p:nvSpPr>
        <p:spPr>
          <a:xfrm>
            <a:off x="548640" y="5349240"/>
            <a:ext cx="6263640" cy="777240"/>
          </a:xfrm>
          <a:prstGeom prst="rect">
            <a:avLst/>
          </a:prstGeom>
          <a:noFill/>
        </p:spPr>
        <p:txBody>
          <a:bodyPr wrap="square" lIns="0" tIns="0" rIns="0" bIns="0"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ConvNeXt-Tiny est la première évaluation publiée de cette architecture pour la détection d'inondations en Afrique subsaharienne.</a:t>
            </a:r>
            <a:endParaRPr lang="en-US" sz="1100" dirty="0"/>
          </a:p>
        </p:txBody>
      </p:sp>
      <p:sp>
        <p:nvSpPr>
          <p:cNvPr id="28" name="Shape 26"/>
          <p:cNvSpPr/>
          <p:nvPr/>
        </p:nvSpPr>
        <p:spPr>
          <a:xfrm>
            <a:off x="7040880" y="2606040"/>
            <a:ext cx="4572000" cy="352044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29" name="Shape 27"/>
          <p:cNvSpPr/>
          <p:nvPr/>
        </p:nvSpPr>
        <p:spPr>
          <a:xfrm>
            <a:off x="7040880" y="2606040"/>
            <a:ext cx="4572000" cy="457200"/>
          </a:xfrm>
          <a:prstGeom prst="rect">
            <a:avLst/>
          </a:prstGeom>
          <a:solidFill>
            <a:srgbClr val="F59E0B"/>
          </a:solidFill>
          <a:ln w="12700">
            <a:solidFill>
              <a:srgbClr val="F59E0B"/>
            </a:solidFill>
            <a:prstDash val="solid"/>
          </a:ln>
        </p:spPr>
      </p:sp>
      <p:sp>
        <p:nvSpPr>
          <p:cNvPr id="30" name="Text 28"/>
          <p:cNvSpPr/>
          <p:nvPr/>
        </p:nvSpPr>
        <p:spPr>
          <a:xfrm>
            <a:off x="7040880" y="2606040"/>
            <a:ext cx="4572000" cy="457200"/>
          </a:xfrm>
          <a:prstGeom prst="rect">
            <a:avLst/>
          </a:prstGeom>
          <a:noFill/>
        </p:spPr>
        <p:txBody>
          <a:bodyPr wrap="square" lIns="0" tIns="0" rIns="0" bIns="0" rtlCol="0" anchor="ctr"/>
          <a:lstStyle/>
          <a:p>
            <a:pPr marL="0" indent="0" algn="ctr">
              <a:buNone/>
            </a:pPr>
            <a:r>
              <a:rPr lang="en-US" sz="1100" b="1" kern="0" spc="200" dirty="0">
                <a:solidFill>
                  <a:srgbClr val="0D47A1"/>
                </a:solidFill>
                <a:latin typeface="Calibri" pitchFamily="34" charset="0"/>
                <a:ea typeface="Calibri" pitchFamily="34" charset="-122"/>
                <a:cs typeface="Calibri" pitchFamily="34" charset="-120"/>
              </a:rPr>
              <a:t>CONVNEXT-TINY — MODÈLE RETENU</a:t>
            </a:r>
            <a:endParaRPr lang="en-US" sz="1100" dirty="0"/>
          </a:p>
        </p:txBody>
      </p:sp>
      <p:sp>
        <p:nvSpPr>
          <p:cNvPr id="31" name="Text 29"/>
          <p:cNvSpPr/>
          <p:nvPr/>
        </p:nvSpPr>
        <p:spPr>
          <a:xfrm>
            <a:off x="7223760" y="3246120"/>
            <a:ext cx="1645920" cy="502920"/>
          </a:xfrm>
          <a:prstGeom prst="rect">
            <a:avLst/>
          </a:prstGeom>
          <a:noFill/>
        </p:spPr>
        <p:txBody>
          <a:bodyPr wrap="square" lIns="0" tIns="0" rIns="0" bIns="0" rtlCol="0" anchor="ctr"/>
          <a:lstStyle/>
          <a:p>
            <a:pPr marL="0" indent="0">
              <a:buNone/>
            </a:pPr>
            <a:r>
              <a:rPr lang="en-US" sz="2200" b="1" dirty="0">
                <a:solidFill>
                  <a:srgbClr val="F59E0B"/>
                </a:solidFill>
                <a:latin typeface="Georgia" panose="02040502050405090303" pitchFamily="34" charset="0"/>
                <a:ea typeface="Georgia" panose="02040502050405090303" pitchFamily="34" charset="-122"/>
                <a:cs typeface="Georgia" panose="02040502050405090303" pitchFamily="34" charset="-120"/>
              </a:rPr>
              <a:t>96,48 %</a:t>
            </a:r>
            <a:endParaRPr lang="en-US" sz="2200" dirty="0"/>
          </a:p>
        </p:txBody>
      </p:sp>
      <p:sp>
        <p:nvSpPr>
          <p:cNvPr id="32" name="Text 30"/>
          <p:cNvSpPr/>
          <p:nvPr/>
        </p:nvSpPr>
        <p:spPr>
          <a:xfrm>
            <a:off x="8869680" y="3246120"/>
            <a:ext cx="26974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F1-Score sur 113 images de validation</a:t>
            </a:r>
            <a:endParaRPr lang="en-US" sz="1100" dirty="0"/>
          </a:p>
        </p:txBody>
      </p:sp>
      <p:sp>
        <p:nvSpPr>
          <p:cNvPr id="33" name="Text 31"/>
          <p:cNvSpPr/>
          <p:nvPr/>
        </p:nvSpPr>
        <p:spPr>
          <a:xfrm>
            <a:off x="7223760" y="3959352"/>
            <a:ext cx="1645920" cy="502920"/>
          </a:xfrm>
          <a:prstGeom prst="rect">
            <a:avLst/>
          </a:prstGeom>
          <a:noFill/>
        </p:spPr>
        <p:txBody>
          <a:bodyPr wrap="square" lIns="0" tIns="0" rIns="0" bIns="0" rtlCol="0" anchor="ctr"/>
          <a:lstStyle/>
          <a:p>
            <a:pPr marL="0" indent="0">
              <a:buNone/>
            </a:pPr>
            <a:r>
              <a:rPr lang="en-US" sz="2200" b="1" dirty="0">
                <a:solidFill>
                  <a:srgbClr val="F59E0B"/>
                </a:solidFill>
                <a:latin typeface="Georgia" panose="02040502050405090303" pitchFamily="34" charset="0"/>
                <a:ea typeface="Georgia" panose="02040502050405090303" pitchFamily="34" charset="-122"/>
                <a:cs typeface="Georgia" panose="02040502050405090303" pitchFamily="34" charset="-120"/>
              </a:rPr>
              <a:t>100 %</a:t>
            </a:r>
            <a:endParaRPr lang="en-US" sz="2200" dirty="0"/>
          </a:p>
        </p:txBody>
      </p:sp>
      <p:sp>
        <p:nvSpPr>
          <p:cNvPr id="34" name="Text 32"/>
          <p:cNvSpPr/>
          <p:nvPr/>
        </p:nvSpPr>
        <p:spPr>
          <a:xfrm>
            <a:off x="8869680" y="3959352"/>
            <a:ext cx="26974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Précision inondation (FP = 0)</a:t>
            </a:r>
            <a:endParaRPr lang="en-US" sz="1100" dirty="0"/>
          </a:p>
        </p:txBody>
      </p:sp>
      <p:sp>
        <p:nvSpPr>
          <p:cNvPr id="35" name="Text 33"/>
          <p:cNvSpPr/>
          <p:nvPr/>
        </p:nvSpPr>
        <p:spPr>
          <a:xfrm>
            <a:off x="7223760" y="4672584"/>
            <a:ext cx="1645920" cy="502920"/>
          </a:xfrm>
          <a:prstGeom prst="rect">
            <a:avLst/>
          </a:prstGeom>
          <a:noFill/>
        </p:spPr>
        <p:txBody>
          <a:bodyPr wrap="square" lIns="0" tIns="0" rIns="0" bIns="0" rtlCol="0" anchor="ctr"/>
          <a:lstStyle/>
          <a:p>
            <a:pPr marL="0" indent="0">
              <a:buNone/>
            </a:pPr>
            <a:r>
              <a:rPr lang="en-US" sz="2200" b="1" dirty="0">
                <a:solidFill>
                  <a:srgbClr val="F59E0B"/>
                </a:solidFill>
                <a:latin typeface="Georgia" panose="02040502050405090303" pitchFamily="34" charset="0"/>
                <a:ea typeface="Georgia" panose="02040502050405090303" pitchFamily="34" charset="-122"/>
                <a:cs typeface="Georgia" panose="02040502050405090303" pitchFamily="34" charset="-120"/>
              </a:rPr>
              <a:t>0,988</a:t>
            </a:r>
            <a:endParaRPr lang="en-US" sz="2200" dirty="0"/>
          </a:p>
        </p:txBody>
      </p:sp>
      <p:sp>
        <p:nvSpPr>
          <p:cNvPr id="36" name="Text 34"/>
          <p:cNvSpPr/>
          <p:nvPr/>
        </p:nvSpPr>
        <p:spPr>
          <a:xfrm>
            <a:off x="8869680" y="4672584"/>
            <a:ext cx="26974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AUC-ROC</a:t>
            </a:r>
            <a:endParaRPr lang="en-US" sz="1100" dirty="0"/>
          </a:p>
        </p:txBody>
      </p:sp>
      <p:sp>
        <p:nvSpPr>
          <p:cNvPr id="37" name="Text 35"/>
          <p:cNvSpPr/>
          <p:nvPr/>
        </p:nvSpPr>
        <p:spPr>
          <a:xfrm>
            <a:off x="7223760" y="5385816"/>
            <a:ext cx="1645920" cy="502920"/>
          </a:xfrm>
          <a:prstGeom prst="rect">
            <a:avLst/>
          </a:prstGeom>
          <a:noFill/>
        </p:spPr>
        <p:txBody>
          <a:bodyPr wrap="square" lIns="0" tIns="0" rIns="0" bIns="0" rtlCol="0" anchor="ctr"/>
          <a:lstStyle/>
          <a:p>
            <a:pPr marL="0" indent="0">
              <a:buNone/>
            </a:pPr>
            <a:r>
              <a:rPr lang="en-US" sz="2200" b="1" dirty="0">
                <a:solidFill>
                  <a:srgbClr val="F59E0B"/>
                </a:solidFill>
                <a:latin typeface="Georgia" panose="02040502050405090303" pitchFamily="34" charset="0"/>
                <a:ea typeface="Georgia" panose="02040502050405090303" pitchFamily="34" charset="-122"/>
                <a:cs typeface="Georgia" panose="02040502050405090303" pitchFamily="34" charset="-120"/>
              </a:rPr>
              <a:t>27,8 M</a:t>
            </a:r>
            <a:endParaRPr lang="en-US" sz="2200" dirty="0"/>
          </a:p>
        </p:txBody>
      </p:sp>
      <p:sp>
        <p:nvSpPr>
          <p:cNvPr id="38" name="Text 36"/>
          <p:cNvSpPr/>
          <p:nvPr/>
        </p:nvSpPr>
        <p:spPr>
          <a:xfrm>
            <a:off x="8869680" y="5385816"/>
            <a:ext cx="2697480" cy="502920"/>
          </a:xfrm>
          <a:prstGeom prst="rect">
            <a:avLst/>
          </a:prstGeom>
          <a:noFill/>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paramètres entraînables</a:t>
            </a:r>
            <a:endParaRPr lang="en-US" sz="1100" dirty="0"/>
          </a:p>
        </p:txBody>
      </p:sp>
      <p:sp>
        <p:nvSpPr>
          <p:cNvPr id="39" name="Shape 37"/>
          <p:cNvSpPr/>
          <p:nvPr/>
        </p:nvSpPr>
        <p:spPr>
          <a:xfrm>
            <a:off x="0" y="6537960"/>
            <a:ext cx="12161520" cy="320040"/>
          </a:xfrm>
          <a:prstGeom prst="rect">
            <a:avLst/>
          </a:prstGeom>
          <a:solidFill>
            <a:srgbClr val="0D47A1"/>
          </a:solidFill>
          <a:ln w="12700">
            <a:solidFill>
              <a:srgbClr val="0D47A1"/>
            </a:solidFill>
            <a:prstDash val="solid"/>
          </a:ln>
        </p:spPr>
      </p:sp>
      <p:sp>
        <p:nvSpPr>
          <p:cNvPr id="40" name="Text 38"/>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1" name="Text 39"/>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PAPA</a:t>
            </a:r>
            <a:endParaRPr lang="en-US" sz="900" dirty="0"/>
          </a:p>
        </p:txBody>
      </p:sp>
      <p:sp>
        <p:nvSpPr>
          <p:cNvPr id="42" name="Text 40"/>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COMPOSANTE 3</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FloodGuardAI : la plateforme en production</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7C3AED"/>
          </a:solidFill>
          <a:ln w="12700">
            <a:solidFill>
              <a:srgbClr val="7C3AED"/>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PAPA  ·  PLATEFORME</a:t>
            </a:r>
            <a:endParaRPr lang="en-US" sz="1000" dirty="0"/>
          </a:p>
        </p:txBody>
      </p:sp>
      <p:sp>
        <p:nvSpPr>
          <p:cNvPr id="9" name="Shape 7"/>
          <p:cNvSpPr/>
          <p:nvPr/>
        </p:nvSpPr>
        <p:spPr>
          <a:xfrm>
            <a:off x="548640" y="1874520"/>
            <a:ext cx="11064240" cy="548640"/>
          </a:xfrm>
          <a:prstGeom prst="rect">
            <a:avLst/>
          </a:prstGeom>
          <a:solidFill>
            <a:srgbClr val="059669"/>
          </a:solidFill>
          <a:ln w="12700">
            <a:solidFill>
              <a:srgbClr val="059669"/>
            </a:solidFill>
            <a:prstDash val="solid"/>
          </a:ln>
        </p:spPr>
      </p:sp>
      <p:pic>
        <p:nvPicPr>
          <p:cNvPr id="10" name="Image 0" descr="preencoded.png"/>
          <p:cNvPicPr>
            <a:picLocks noChangeAspect="1"/>
          </p:cNvPicPr>
          <p:nvPr/>
        </p:nvPicPr>
        <p:blipFill>
          <a:blip r:embed="rId1"/>
          <a:stretch>
            <a:fillRect/>
          </a:stretch>
        </p:blipFill>
        <p:spPr>
          <a:xfrm>
            <a:off x="731520" y="1993392"/>
            <a:ext cx="320040" cy="320040"/>
          </a:xfrm>
          <a:prstGeom prst="rect">
            <a:avLst/>
          </a:prstGeom>
        </p:spPr>
      </p:pic>
      <p:sp>
        <p:nvSpPr>
          <p:cNvPr id="11" name="Text 8"/>
          <p:cNvSpPr/>
          <p:nvPr/>
        </p:nvSpPr>
        <p:spPr>
          <a:xfrm>
            <a:off x="1143000" y="1874520"/>
            <a:ext cx="10424160" cy="54864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EN LIGNE  </a:t>
            </a:r>
            <a:r>
              <a:rPr lang="en-US" sz="1100" dirty="0">
                <a:solidFill>
                  <a:srgbClr val="ECFDF5"/>
                </a:solidFill>
                <a:latin typeface="Calibri" pitchFamily="34" charset="0"/>
                <a:ea typeface="Calibri" pitchFamily="34" charset="-122"/>
                <a:cs typeface="Calibri" pitchFamily="34" charset="-120"/>
              </a:rPr>
              <a:t>·  https://flood.yaataldigital.com  ·  Démo : youtu.be/ml16aAvDvzs  ·  Yaatal Digital</a:t>
            </a:r>
            <a:endParaRPr lang="en-US" sz="1100" dirty="0"/>
          </a:p>
        </p:txBody>
      </p:sp>
      <p:sp>
        <p:nvSpPr>
          <p:cNvPr id="12" name="Text 9"/>
          <p:cNvSpPr/>
          <p:nvPr/>
        </p:nvSpPr>
        <p:spPr>
          <a:xfrm>
            <a:off x="548640" y="2606040"/>
            <a:ext cx="5943600" cy="36576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Flux de traitement d'un signalement</a:t>
            </a:r>
            <a:endParaRPr lang="en-US" sz="1300" dirty="0"/>
          </a:p>
        </p:txBody>
      </p:sp>
      <p:sp>
        <p:nvSpPr>
          <p:cNvPr id="13" name="Shape 10"/>
          <p:cNvSpPr/>
          <p:nvPr/>
        </p:nvSpPr>
        <p:spPr>
          <a:xfrm>
            <a:off x="548640" y="3063240"/>
            <a:ext cx="411480" cy="411480"/>
          </a:xfrm>
          <a:prstGeom prst="ellipse">
            <a:avLst/>
          </a:prstGeom>
          <a:solidFill>
            <a:srgbClr val="1565C0"/>
          </a:solidFill>
          <a:ln w="12700">
            <a:solidFill>
              <a:srgbClr val="1565C0"/>
            </a:solidFill>
            <a:prstDash val="solid"/>
          </a:ln>
        </p:spPr>
      </p:sp>
      <p:sp>
        <p:nvSpPr>
          <p:cNvPr id="14" name="Text 11"/>
          <p:cNvSpPr/>
          <p:nvPr/>
        </p:nvSpPr>
        <p:spPr>
          <a:xfrm>
            <a:off x="548640" y="306324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1</a:t>
            </a:r>
            <a:endParaRPr lang="en-US" sz="1400" dirty="0"/>
          </a:p>
        </p:txBody>
      </p:sp>
      <p:sp>
        <p:nvSpPr>
          <p:cNvPr id="15" name="Text 12"/>
          <p:cNvSpPr/>
          <p:nvPr/>
        </p:nvSpPr>
        <p:spPr>
          <a:xfrm>
            <a:off x="1051560" y="306324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Citoyen soumet une photo géolocalisée</a:t>
            </a:r>
            <a:endParaRPr lang="en-US" sz="1100" dirty="0"/>
          </a:p>
        </p:txBody>
      </p:sp>
      <p:sp>
        <p:nvSpPr>
          <p:cNvPr id="16" name="Shape 13"/>
          <p:cNvSpPr/>
          <p:nvPr/>
        </p:nvSpPr>
        <p:spPr>
          <a:xfrm>
            <a:off x="548640" y="3566160"/>
            <a:ext cx="411480" cy="411480"/>
          </a:xfrm>
          <a:prstGeom prst="ellipse">
            <a:avLst/>
          </a:prstGeom>
          <a:solidFill>
            <a:srgbClr val="1565C0"/>
          </a:solidFill>
          <a:ln w="12700">
            <a:solidFill>
              <a:srgbClr val="1565C0"/>
            </a:solidFill>
            <a:prstDash val="solid"/>
          </a:ln>
        </p:spPr>
      </p:sp>
      <p:sp>
        <p:nvSpPr>
          <p:cNvPr id="17" name="Text 14"/>
          <p:cNvSpPr/>
          <p:nvPr/>
        </p:nvSpPr>
        <p:spPr>
          <a:xfrm>
            <a:off x="548640" y="356616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2</a:t>
            </a:r>
            <a:endParaRPr lang="en-US" sz="1400" dirty="0"/>
          </a:p>
        </p:txBody>
      </p:sp>
      <p:sp>
        <p:nvSpPr>
          <p:cNvPr id="18" name="Text 15"/>
          <p:cNvSpPr/>
          <p:nvPr/>
        </p:nvSpPr>
        <p:spPr>
          <a:xfrm>
            <a:off x="1051560" y="356616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ConvNeXt-Tiny classe l'image (inondé / normal)</a:t>
            </a:r>
            <a:endParaRPr lang="en-US" sz="1100" dirty="0"/>
          </a:p>
        </p:txBody>
      </p:sp>
      <p:sp>
        <p:nvSpPr>
          <p:cNvPr id="19" name="Shape 16"/>
          <p:cNvSpPr/>
          <p:nvPr/>
        </p:nvSpPr>
        <p:spPr>
          <a:xfrm>
            <a:off x="548640" y="4069080"/>
            <a:ext cx="411480" cy="411480"/>
          </a:xfrm>
          <a:prstGeom prst="ellipse">
            <a:avLst/>
          </a:prstGeom>
          <a:solidFill>
            <a:srgbClr val="1565C0"/>
          </a:solidFill>
          <a:ln w="12700">
            <a:solidFill>
              <a:srgbClr val="1565C0"/>
            </a:solidFill>
            <a:prstDash val="solid"/>
          </a:ln>
        </p:spPr>
      </p:sp>
      <p:sp>
        <p:nvSpPr>
          <p:cNvPr id="20" name="Text 17"/>
          <p:cNvSpPr/>
          <p:nvPr/>
        </p:nvSpPr>
        <p:spPr>
          <a:xfrm>
            <a:off x="548640" y="406908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3</a:t>
            </a:r>
            <a:endParaRPr lang="en-US" sz="1400" dirty="0"/>
          </a:p>
        </p:txBody>
      </p:sp>
      <p:sp>
        <p:nvSpPr>
          <p:cNvPr id="21" name="Text 18"/>
          <p:cNvSpPr/>
          <p:nvPr/>
        </p:nvSpPr>
        <p:spPr>
          <a:xfrm>
            <a:off x="1051560" y="406908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Random Forest évalue le risque météo de la zone</a:t>
            </a:r>
            <a:endParaRPr lang="en-US" sz="1100" dirty="0"/>
          </a:p>
        </p:txBody>
      </p:sp>
      <p:sp>
        <p:nvSpPr>
          <p:cNvPr id="22" name="Shape 19"/>
          <p:cNvSpPr/>
          <p:nvPr/>
        </p:nvSpPr>
        <p:spPr>
          <a:xfrm>
            <a:off x="548640" y="4572000"/>
            <a:ext cx="411480" cy="411480"/>
          </a:xfrm>
          <a:prstGeom prst="ellipse">
            <a:avLst/>
          </a:prstGeom>
          <a:solidFill>
            <a:srgbClr val="1565C0"/>
          </a:solidFill>
          <a:ln w="12700">
            <a:solidFill>
              <a:srgbClr val="1565C0"/>
            </a:solidFill>
            <a:prstDash val="solid"/>
          </a:ln>
        </p:spPr>
      </p:sp>
      <p:sp>
        <p:nvSpPr>
          <p:cNvPr id="23" name="Text 20"/>
          <p:cNvSpPr/>
          <p:nvPr/>
        </p:nvSpPr>
        <p:spPr>
          <a:xfrm>
            <a:off x="548640" y="457200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4</a:t>
            </a:r>
            <a:endParaRPr lang="en-US" sz="1400" dirty="0"/>
          </a:p>
        </p:txBody>
      </p:sp>
      <p:sp>
        <p:nvSpPr>
          <p:cNvPr id="24" name="Text 21"/>
          <p:cNvSpPr/>
          <p:nvPr/>
        </p:nvSpPr>
        <p:spPr>
          <a:xfrm>
            <a:off x="1051560" y="457200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Moteur de règles fusionne les scores → priorité</a:t>
            </a:r>
            <a:endParaRPr lang="en-US" sz="1100" dirty="0"/>
          </a:p>
        </p:txBody>
      </p:sp>
      <p:sp>
        <p:nvSpPr>
          <p:cNvPr id="25" name="Shape 22"/>
          <p:cNvSpPr/>
          <p:nvPr/>
        </p:nvSpPr>
        <p:spPr>
          <a:xfrm>
            <a:off x="548640" y="5074920"/>
            <a:ext cx="411480" cy="411480"/>
          </a:xfrm>
          <a:prstGeom prst="ellipse">
            <a:avLst/>
          </a:prstGeom>
          <a:solidFill>
            <a:srgbClr val="1565C0"/>
          </a:solidFill>
          <a:ln w="12700">
            <a:solidFill>
              <a:srgbClr val="1565C0"/>
            </a:solidFill>
            <a:prstDash val="solid"/>
          </a:ln>
        </p:spPr>
      </p:sp>
      <p:sp>
        <p:nvSpPr>
          <p:cNvPr id="26" name="Text 23"/>
          <p:cNvSpPr/>
          <p:nvPr/>
        </p:nvSpPr>
        <p:spPr>
          <a:xfrm>
            <a:off x="548640" y="507492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5</a:t>
            </a:r>
            <a:endParaRPr lang="en-US" sz="1400" dirty="0"/>
          </a:p>
        </p:txBody>
      </p:sp>
      <p:sp>
        <p:nvSpPr>
          <p:cNvPr id="27" name="Text 24"/>
          <p:cNvSpPr/>
          <p:nvPr/>
        </p:nvSpPr>
        <p:spPr>
          <a:xfrm>
            <a:off x="1051560" y="507492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Alerte qualifiée envoyée aux autorités locales</a:t>
            </a:r>
            <a:endParaRPr lang="en-US" sz="1100" dirty="0"/>
          </a:p>
        </p:txBody>
      </p:sp>
      <p:sp>
        <p:nvSpPr>
          <p:cNvPr id="28" name="Shape 25"/>
          <p:cNvSpPr/>
          <p:nvPr/>
        </p:nvSpPr>
        <p:spPr>
          <a:xfrm>
            <a:off x="548640" y="5577840"/>
            <a:ext cx="411480" cy="411480"/>
          </a:xfrm>
          <a:prstGeom prst="ellipse">
            <a:avLst/>
          </a:prstGeom>
          <a:solidFill>
            <a:srgbClr val="1565C0"/>
          </a:solidFill>
          <a:ln w="12700">
            <a:solidFill>
              <a:srgbClr val="1565C0"/>
            </a:solidFill>
            <a:prstDash val="solid"/>
          </a:ln>
        </p:spPr>
      </p:sp>
      <p:sp>
        <p:nvSpPr>
          <p:cNvPr id="29" name="Text 26"/>
          <p:cNvSpPr/>
          <p:nvPr/>
        </p:nvSpPr>
        <p:spPr>
          <a:xfrm>
            <a:off x="548640" y="5577840"/>
            <a:ext cx="411480" cy="411480"/>
          </a:xfrm>
          <a:prstGeom prst="rect">
            <a:avLst/>
          </a:prstGeom>
          <a:noFill/>
        </p:spPr>
        <p:txBody>
          <a:bodyPr wrap="square" lIns="0" tIns="0" rIns="0" bIns="0" rtlCol="0" anchor="ctr"/>
          <a:lstStyle/>
          <a:p>
            <a:pPr marL="0" indent="0" algn="ctr">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6</a:t>
            </a:r>
            <a:endParaRPr lang="en-US" sz="1400" dirty="0"/>
          </a:p>
        </p:txBody>
      </p:sp>
      <p:sp>
        <p:nvSpPr>
          <p:cNvPr id="30" name="Text 27"/>
          <p:cNvSpPr/>
          <p:nvPr/>
        </p:nvSpPr>
        <p:spPr>
          <a:xfrm>
            <a:off x="1051560" y="5577840"/>
            <a:ext cx="5349240" cy="4114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Validation, notification, traçabilité Firestore</a:t>
            </a:r>
            <a:endParaRPr lang="en-US" sz="1100" dirty="0"/>
          </a:p>
        </p:txBody>
      </p:sp>
      <p:sp>
        <p:nvSpPr>
          <p:cNvPr id="31" name="Shape 28"/>
          <p:cNvSpPr/>
          <p:nvPr/>
        </p:nvSpPr>
        <p:spPr>
          <a:xfrm>
            <a:off x="6766560" y="2606040"/>
            <a:ext cx="4846320" cy="169164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32" name="Shape 29"/>
          <p:cNvSpPr/>
          <p:nvPr/>
        </p:nvSpPr>
        <p:spPr>
          <a:xfrm>
            <a:off x="6766560" y="2606040"/>
            <a:ext cx="91440" cy="1691640"/>
          </a:xfrm>
          <a:prstGeom prst="rect">
            <a:avLst/>
          </a:prstGeom>
          <a:solidFill>
            <a:srgbClr val="1565C0"/>
          </a:solidFill>
          <a:ln w="12700">
            <a:solidFill>
              <a:srgbClr val="1565C0"/>
            </a:solidFill>
            <a:prstDash val="solid"/>
          </a:ln>
        </p:spPr>
      </p:sp>
      <p:sp>
        <p:nvSpPr>
          <p:cNvPr id="33" name="Text 30"/>
          <p:cNvSpPr/>
          <p:nvPr/>
        </p:nvSpPr>
        <p:spPr>
          <a:xfrm>
            <a:off x="6995160" y="2697480"/>
            <a:ext cx="4572000" cy="36576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Architecture technique</a:t>
            </a:r>
            <a:endParaRPr lang="en-US" sz="1300" dirty="0"/>
          </a:p>
        </p:txBody>
      </p:sp>
      <p:sp>
        <p:nvSpPr>
          <p:cNvPr id="34" name="Text 31"/>
          <p:cNvSpPr/>
          <p:nvPr/>
        </p:nvSpPr>
        <p:spPr>
          <a:xfrm>
            <a:off x="6995160" y="3063240"/>
            <a:ext cx="4572000" cy="1280160"/>
          </a:xfrm>
          <a:prstGeom prst="rect">
            <a:avLst/>
          </a:prstGeom>
          <a:noFill/>
        </p:spPr>
        <p:txBody>
          <a:bodyPr wrap="square" lIns="0" tIns="0" rIns="0" bIns="0" rtlCol="0" anchor="ctr"/>
          <a:lstStyle/>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Frontend </a:t>
            </a:r>
            <a:r>
              <a:rPr lang="en-US" sz="1000" dirty="0">
                <a:solidFill>
                  <a:srgbClr val="475569"/>
                </a:solidFill>
                <a:latin typeface="Calibri" pitchFamily="34" charset="0"/>
                <a:ea typeface="Calibri" pitchFamily="34" charset="-122"/>
                <a:cs typeface="Calibri" pitchFamily="34" charset="-120"/>
              </a:rPr>
              <a:t>Vue.js (mobile-first) + Flutter (mobile)</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Backend </a:t>
            </a:r>
            <a:r>
              <a:rPr lang="en-US" sz="1000" dirty="0">
                <a:solidFill>
                  <a:srgbClr val="475569"/>
                </a:solidFill>
                <a:latin typeface="Calibri" pitchFamily="34" charset="0"/>
                <a:ea typeface="Calibri" pitchFamily="34" charset="-122"/>
                <a:cs typeface="Calibri" pitchFamily="34" charset="-120"/>
              </a:rPr>
              <a:t>Microservices Flask (Gateway · RF · ConvNeXt)</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Données </a:t>
            </a:r>
            <a:r>
              <a:rPr lang="en-US" sz="1000" dirty="0">
                <a:solidFill>
                  <a:srgbClr val="475569"/>
                </a:solidFill>
                <a:latin typeface="Calibri" pitchFamily="34" charset="0"/>
                <a:ea typeface="Calibri" pitchFamily="34" charset="-122"/>
                <a:cs typeface="Calibri" pitchFamily="34" charset="-120"/>
              </a:rPr>
              <a:t>Firebase Firestore temps réel + Supabase</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Carto </a:t>
            </a:r>
            <a:r>
              <a:rPr lang="en-US" sz="1000" dirty="0">
                <a:solidFill>
                  <a:srgbClr val="475569"/>
                </a:solidFill>
                <a:latin typeface="Calibri" pitchFamily="34" charset="0"/>
                <a:ea typeface="Calibri" pitchFamily="34" charset="-122"/>
                <a:cs typeface="Calibri" pitchFamily="34" charset="-120"/>
              </a:rPr>
              <a:t>Google Maps + couches GéoSénégal (zones inondables)</a:t>
            </a:r>
            <a:endParaRPr lang="en-US" sz="1000" dirty="0"/>
          </a:p>
        </p:txBody>
      </p:sp>
      <p:sp>
        <p:nvSpPr>
          <p:cNvPr id="35" name="Shape 32"/>
          <p:cNvSpPr/>
          <p:nvPr/>
        </p:nvSpPr>
        <p:spPr>
          <a:xfrm>
            <a:off x="6766560" y="4434840"/>
            <a:ext cx="4846320" cy="169164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36" name="Shape 33"/>
          <p:cNvSpPr/>
          <p:nvPr/>
        </p:nvSpPr>
        <p:spPr>
          <a:xfrm>
            <a:off x="6766560" y="4434840"/>
            <a:ext cx="91440" cy="1691640"/>
          </a:xfrm>
          <a:prstGeom prst="rect">
            <a:avLst/>
          </a:prstGeom>
          <a:solidFill>
            <a:srgbClr val="F59E0B"/>
          </a:solidFill>
          <a:ln w="12700">
            <a:solidFill>
              <a:srgbClr val="F59E0B"/>
            </a:solidFill>
            <a:prstDash val="solid"/>
          </a:ln>
        </p:spPr>
      </p:sp>
      <p:sp>
        <p:nvSpPr>
          <p:cNvPr id="37" name="Text 34"/>
          <p:cNvSpPr/>
          <p:nvPr/>
        </p:nvSpPr>
        <p:spPr>
          <a:xfrm>
            <a:off x="6995160" y="4526280"/>
            <a:ext cx="4572000" cy="36576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Fonctionnalités citoyens</a:t>
            </a:r>
            <a:endParaRPr lang="en-US" sz="1300" dirty="0"/>
          </a:p>
        </p:txBody>
      </p:sp>
      <p:sp>
        <p:nvSpPr>
          <p:cNvPr id="38" name="Text 35"/>
          <p:cNvSpPr/>
          <p:nvPr/>
        </p:nvSpPr>
        <p:spPr>
          <a:xfrm>
            <a:off x="6995160" y="4892040"/>
            <a:ext cx="4572000" cy="1280160"/>
          </a:xfrm>
          <a:prstGeom prst="rect">
            <a:avLst/>
          </a:prstGeom>
          <a:noFill/>
        </p:spPr>
        <p:txBody>
          <a:bodyPr wrap="square" lIns="0" tIns="0" rIns="0" bIns="0" rtlCol="0" anchor="ctr"/>
          <a:lstStyle/>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Carte </a:t>
            </a:r>
            <a:r>
              <a:rPr lang="en-US" sz="1000" dirty="0">
                <a:solidFill>
                  <a:srgbClr val="475569"/>
                </a:solidFill>
                <a:latin typeface="Calibri" pitchFamily="34" charset="0"/>
                <a:ea typeface="Calibri" pitchFamily="34" charset="-122"/>
                <a:cs typeface="Calibri" pitchFamily="34" charset="-120"/>
              </a:rPr>
              <a:t>— filtres temps + source + heatmap auto</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Signalement </a:t>
            </a:r>
            <a:r>
              <a:rPr lang="en-US" sz="1000" dirty="0">
                <a:solidFill>
                  <a:srgbClr val="475569"/>
                </a:solidFill>
                <a:latin typeface="Calibri" pitchFamily="34" charset="0"/>
                <a:ea typeface="Calibri" pitchFamily="34" charset="-122"/>
                <a:cs typeface="Calibri" pitchFamily="34" charset="-120"/>
              </a:rPr>
              <a:t>— photo + GPS + validation IA en &lt; 2s</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Mes alertes </a:t>
            </a:r>
            <a:r>
              <a:rPr lang="en-US" sz="1000" dirty="0">
                <a:solidFill>
                  <a:srgbClr val="475569"/>
                </a:solidFill>
                <a:latin typeface="Calibri" pitchFamily="34" charset="0"/>
                <a:ea typeface="Calibri" pitchFamily="34" charset="-122"/>
                <a:cs typeface="Calibri" pitchFamily="34" charset="-120"/>
              </a:rPr>
              <a:t>— historique personnel et statut</a:t>
            </a:r>
            <a:endParaRPr lang="en-US" sz="1000" dirty="0"/>
          </a:p>
          <a:p>
            <a:pPr marL="0" indent="0">
              <a:spcAft>
                <a:spcPts val="400"/>
              </a:spcAft>
              <a:buNone/>
            </a:pPr>
            <a:r>
              <a:rPr lang="en-US" sz="1000" b="1" dirty="0">
                <a:solidFill>
                  <a:srgbClr val="0D47A1"/>
                </a:solidFill>
                <a:latin typeface="Calibri" pitchFamily="34" charset="0"/>
                <a:ea typeface="Calibri" pitchFamily="34" charset="-122"/>
                <a:cs typeface="Calibri" pitchFamily="34" charset="-120"/>
              </a:rPr>
              <a:t>Tendances 15j </a:t>
            </a:r>
            <a:r>
              <a:rPr lang="en-US" sz="1000" dirty="0">
                <a:solidFill>
                  <a:srgbClr val="475569"/>
                </a:solidFill>
                <a:latin typeface="Calibri" pitchFamily="34" charset="0"/>
                <a:ea typeface="Calibri" pitchFamily="34" charset="-122"/>
                <a:cs typeface="Calibri" pitchFamily="34" charset="-120"/>
              </a:rPr>
              <a:t>— prévisions par zone (probabilité, pluie, T°)</a:t>
            </a:r>
            <a:endParaRPr lang="en-US" sz="1000" dirty="0"/>
          </a:p>
        </p:txBody>
      </p:sp>
      <p:sp>
        <p:nvSpPr>
          <p:cNvPr id="39" name="Shape 36"/>
          <p:cNvSpPr/>
          <p:nvPr/>
        </p:nvSpPr>
        <p:spPr>
          <a:xfrm>
            <a:off x="0" y="6537960"/>
            <a:ext cx="12161520" cy="320040"/>
          </a:xfrm>
          <a:prstGeom prst="rect">
            <a:avLst/>
          </a:prstGeom>
          <a:solidFill>
            <a:srgbClr val="0D47A1"/>
          </a:solidFill>
          <a:ln w="12700">
            <a:solidFill>
              <a:srgbClr val="0D47A1"/>
            </a:solidFill>
            <a:prstDash val="solid"/>
          </a:ln>
        </p:spPr>
      </p:sp>
      <p:sp>
        <p:nvSpPr>
          <p:cNvPr id="40" name="Text 37"/>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1" name="Text 38"/>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PAPA</a:t>
            </a:r>
            <a:endParaRPr lang="en-US" sz="900" dirty="0"/>
          </a:p>
        </p:txBody>
      </p:sp>
      <p:sp>
        <p:nvSpPr>
          <p:cNvPr id="42" name="Text 39"/>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TABLEAU DE BORD SUPER-ADMIN</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Console d'administration : pilotage en temps réel</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7C3AED"/>
          </a:solidFill>
          <a:ln w="12700">
            <a:solidFill>
              <a:srgbClr val="7C3AED"/>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PAPA  ·  PLATEFORME</a:t>
            </a:r>
            <a:endParaRPr lang="en-US" sz="1000" dirty="0"/>
          </a:p>
        </p:txBody>
      </p:sp>
      <p:sp>
        <p:nvSpPr>
          <p:cNvPr id="9" name="Text 7"/>
          <p:cNvSpPr/>
          <p:nvPr/>
        </p:nvSpPr>
        <p:spPr>
          <a:xfrm>
            <a:off x="548640" y="1874520"/>
            <a:ext cx="11064240" cy="365760"/>
          </a:xfrm>
          <a:prstGeom prst="rect">
            <a:avLst/>
          </a:prstGeom>
          <a:noFill/>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Données réelles de production extraites du tableau de bord administrateur — flood.yaataldigital.com/admin</a:t>
            </a:r>
            <a:endParaRPr lang="en-US" sz="1100" dirty="0"/>
          </a:p>
        </p:txBody>
      </p:sp>
      <p:sp>
        <p:nvSpPr>
          <p:cNvPr id="10" name="Shape 8"/>
          <p:cNvSpPr/>
          <p:nvPr/>
        </p:nvSpPr>
        <p:spPr>
          <a:xfrm>
            <a:off x="502920" y="2377440"/>
            <a:ext cx="2651760" cy="17830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1" name="Shape 9"/>
          <p:cNvSpPr/>
          <p:nvPr/>
        </p:nvSpPr>
        <p:spPr>
          <a:xfrm>
            <a:off x="502920" y="2377440"/>
            <a:ext cx="2651760" cy="73152"/>
          </a:xfrm>
          <a:prstGeom prst="rect">
            <a:avLst/>
          </a:prstGeom>
          <a:solidFill>
            <a:srgbClr val="1565C0"/>
          </a:solidFill>
          <a:ln w="12700">
            <a:solidFill>
              <a:srgbClr val="1565C0"/>
            </a:solidFill>
            <a:prstDash val="solid"/>
          </a:ln>
        </p:spPr>
      </p:sp>
      <p:sp>
        <p:nvSpPr>
          <p:cNvPr id="12" name="Shape 10"/>
          <p:cNvSpPr/>
          <p:nvPr/>
        </p:nvSpPr>
        <p:spPr>
          <a:xfrm>
            <a:off x="685800" y="2651760"/>
            <a:ext cx="457200" cy="457200"/>
          </a:xfrm>
          <a:prstGeom prst="ellipse">
            <a:avLst/>
          </a:prstGeom>
          <a:solidFill>
            <a:srgbClr val="E3F2FD"/>
          </a:solidFill>
          <a:ln w="12700">
            <a:solidFill>
              <a:srgbClr val="E3F2FD"/>
            </a:solidFill>
            <a:prstDash val="solid"/>
          </a:ln>
        </p:spPr>
      </p:sp>
      <p:pic>
        <p:nvPicPr>
          <p:cNvPr id="13" name="Image 0" descr="preencoded.png"/>
          <p:cNvPicPr>
            <a:picLocks noChangeAspect="1"/>
          </p:cNvPicPr>
          <p:nvPr/>
        </p:nvPicPr>
        <p:blipFill>
          <a:blip r:embed="rId1"/>
          <a:stretch>
            <a:fillRect/>
          </a:stretch>
        </p:blipFill>
        <p:spPr>
          <a:xfrm>
            <a:off x="777240" y="2743200"/>
            <a:ext cx="274320" cy="274320"/>
          </a:xfrm>
          <a:prstGeom prst="rect">
            <a:avLst/>
          </a:prstGeom>
        </p:spPr>
      </p:pic>
      <p:sp>
        <p:nvSpPr>
          <p:cNvPr id="14" name="Text 11"/>
          <p:cNvSpPr/>
          <p:nvPr/>
        </p:nvSpPr>
        <p:spPr>
          <a:xfrm>
            <a:off x="1280160" y="2606040"/>
            <a:ext cx="1737360" cy="64008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112</a:t>
            </a:r>
            <a:endParaRPr lang="en-US" sz="3000" dirty="0"/>
          </a:p>
        </p:txBody>
      </p:sp>
      <p:sp>
        <p:nvSpPr>
          <p:cNvPr id="15" name="Text 12"/>
          <p:cNvSpPr/>
          <p:nvPr/>
        </p:nvSpPr>
        <p:spPr>
          <a:xfrm>
            <a:off x="685800" y="3291840"/>
            <a:ext cx="2286000" cy="365760"/>
          </a:xfrm>
          <a:prstGeom prst="rect">
            <a:avLst/>
          </a:prstGeom>
          <a:noFill/>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alertes totales</a:t>
            </a:r>
            <a:endParaRPr lang="en-US" sz="1200" dirty="0"/>
          </a:p>
        </p:txBody>
      </p:sp>
      <p:sp>
        <p:nvSpPr>
          <p:cNvPr id="16" name="Text 13"/>
          <p:cNvSpPr/>
          <p:nvPr/>
        </p:nvSpPr>
        <p:spPr>
          <a:xfrm>
            <a:off x="685800" y="3657600"/>
            <a:ext cx="2286000" cy="365760"/>
          </a:xfrm>
          <a:prstGeom prst="rect">
            <a:avLst/>
          </a:prstGeom>
          <a:noFill/>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 actives / 110 traitées</a:t>
            </a:r>
            <a:endParaRPr lang="en-US" sz="900" dirty="0"/>
          </a:p>
        </p:txBody>
      </p:sp>
      <p:sp>
        <p:nvSpPr>
          <p:cNvPr id="17" name="Shape 14"/>
          <p:cNvSpPr/>
          <p:nvPr/>
        </p:nvSpPr>
        <p:spPr>
          <a:xfrm>
            <a:off x="3337560" y="2377440"/>
            <a:ext cx="2651760" cy="17830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8" name="Shape 15"/>
          <p:cNvSpPr/>
          <p:nvPr/>
        </p:nvSpPr>
        <p:spPr>
          <a:xfrm>
            <a:off x="3337560" y="2377440"/>
            <a:ext cx="2651760" cy="73152"/>
          </a:xfrm>
          <a:prstGeom prst="rect">
            <a:avLst/>
          </a:prstGeom>
          <a:solidFill>
            <a:srgbClr val="059669"/>
          </a:solidFill>
          <a:ln w="12700">
            <a:solidFill>
              <a:srgbClr val="059669"/>
            </a:solidFill>
            <a:prstDash val="solid"/>
          </a:ln>
        </p:spPr>
      </p:sp>
      <p:sp>
        <p:nvSpPr>
          <p:cNvPr id="19" name="Shape 16"/>
          <p:cNvSpPr/>
          <p:nvPr/>
        </p:nvSpPr>
        <p:spPr>
          <a:xfrm>
            <a:off x="3520440" y="2651760"/>
            <a:ext cx="457200" cy="457200"/>
          </a:xfrm>
          <a:prstGeom prst="ellipse">
            <a:avLst/>
          </a:prstGeom>
          <a:solidFill>
            <a:srgbClr val="E3F2FD"/>
          </a:solidFill>
          <a:ln w="12700">
            <a:solidFill>
              <a:srgbClr val="E3F2FD"/>
            </a:solidFill>
            <a:prstDash val="solid"/>
          </a:ln>
        </p:spPr>
      </p:sp>
      <p:pic>
        <p:nvPicPr>
          <p:cNvPr id="20" name="Image 1" descr="preencoded.png"/>
          <p:cNvPicPr>
            <a:picLocks noChangeAspect="1"/>
          </p:cNvPicPr>
          <p:nvPr/>
        </p:nvPicPr>
        <p:blipFill>
          <a:blip r:embed="rId2"/>
          <a:stretch>
            <a:fillRect/>
          </a:stretch>
        </p:blipFill>
        <p:spPr>
          <a:xfrm>
            <a:off x="3611880" y="2743200"/>
            <a:ext cx="274320" cy="274320"/>
          </a:xfrm>
          <a:prstGeom prst="rect">
            <a:avLst/>
          </a:prstGeom>
        </p:spPr>
      </p:pic>
      <p:sp>
        <p:nvSpPr>
          <p:cNvPr id="21" name="Text 17"/>
          <p:cNvSpPr/>
          <p:nvPr/>
        </p:nvSpPr>
        <p:spPr>
          <a:xfrm>
            <a:off x="4114800" y="2606040"/>
            <a:ext cx="1737360" cy="64008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98,2 %</a:t>
            </a:r>
            <a:endParaRPr lang="en-US" sz="3000" dirty="0"/>
          </a:p>
        </p:txBody>
      </p:sp>
      <p:sp>
        <p:nvSpPr>
          <p:cNvPr id="22" name="Text 18"/>
          <p:cNvSpPr/>
          <p:nvPr/>
        </p:nvSpPr>
        <p:spPr>
          <a:xfrm>
            <a:off x="3520440" y="3291840"/>
            <a:ext cx="2286000" cy="365760"/>
          </a:xfrm>
          <a:prstGeom prst="rect">
            <a:avLst/>
          </a:prstGeom>
          <a:noFill/>
        </p:spPr>
        <p:txBody>
          <a:bodyPr wrap="square" lIns="0" tIns="0" rIns="0" bIns="0"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taux de clôture</a:t>
            </a:r>
            <a:endParaRPr lang="en-US" sz="1200" dirty="0"/>
          </a:p>
        </p:txBody>
      </p:sp>
      <p:sp>
        <p:nvSpPr>
          <p:cNvPr id="23" name="Text 19"/>
          <p:cNvSpPr/>
          <p:nvPr/>
        </p:nvSpPr>
        <p:spPr>
          <a:xfrm>
            <a:off x="3520440" y="3657600"/>
            <a:ext cx="2286000" cy="365760"/>
          </a:xfrm>
          <a:prstGeom prst="rect">
            <a:avLst/>
          </a:prstGeom>
          <a:noFill/>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110 clôturées sur 112</a:t>
            </a:r>
            <a:endParaRPr lang="en-US" sz="900" dirty="0"/>
          </a:p>
        </p:txBody>
      </p:sp>
      <p:sp>
        <p:nvSpPr>
          <p:cNvPr id="24" name="Shape 20"/>
          <p:cNvSpPr/>
          <p:nvPr/>
        </p:nvSpPr>
        <p:spPr>
          <a:xfrm>
            <a:off x="6172200" y="2377440"/>
            <a:ext cx="2651760" cy="17830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5" name="Shape 21"/>
          <p:cNvSpPr/>
          <p:nvPr/>
        </p:nvSpPr>
        <p:spPr>
          <a:xfrm>
            <a:off x="6172200" y="2377440"/>
            <a:ext cx="2651760" cy="73152"/>
          </a:xfrm>
          <a:prstGeom prst="rect">
            <a:avLst/>
          </a:prstGeom>
          <a:solidFill>
            <a:srgbClr val="F59E0B"/>
          </a:solidFill>
          <a:ln w="12700">
            <a:solidFill>
              <a:srgbClr val="F59E0B"/>
            </a:solidFill>
            <a:prstDash val="solid"/>
          </a:ln>
        </p:spPr>
      </p:sp>
      <p:sp>
        <p:nvSpPr>
          <p:cNvPr id="26" name="Shape 22"/>
          <p:cNvSpPr/>
          <p:nvPr/>
        </p:nvSpPr>
        <p:spPr>
          <a:xfrm>
            <a:off x="6355080" y="2651760"/>
            <a:ext cx="457200" cy="457200"/>
          </a:xfrm>
          <a:prstGeom prst="ellipse">
            <a:avLst/>
          </a:prstGeom>
          <a:solidFill>
            <a:srgbClr val="E3F2FD"/>
          </a:solidFill>
          <a:ln w="12700">
            <a:solidFill>
              <a:srgbClr val="E3F2FD"/>
            </a:solidFill>
            <a:prstDash val="solid"/>
          </a:ln>
        </p:spPr>
      </p:sp>
      <p:pic>
        <p:nvPicPr>
          <p:cNvPr id="27" name="Image 2" descr="preencoded.png"/>
          <p:cNvPicPr>
            <a:picLocks noChangeAspect="1"/>
          </p:cNvPicPr>
          <p:nvPr/>
        </p:nvPicPr>
        <p:blipFill>
          <a:blip r:embed="rId3"/>
          <a:stretch>
            <a:fillRect/>
          </a:stretch>
        </p:blipFill>
        <p:spPr>
          <a:xfrm>
            <a:off x="6446520" y="2743200"/>
            <a:ext cx="274320" cy="274320"/>
          </a:xfrm>
          <a:prstGeom prst="rect">
            <a:avLst/>
          </a:prstGeom>
        </p:spPr>
      </p:pic>
      <p:sp>
        <p:nvSpPr>
          <p:cNvPr id="28" name="Text 23"/>
          <p:cNvSpPr/>
          <p:nvPr/>
        </p:nvSpPr>
        <p:spPr>
          <a:xfrm>
            <a:off x="6949440" y="2606040"/>
            <a:ext cx="1737360" cy="64008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76,8 %</a:t>
            </a:r>
            <a:endParaRPr lang="en-US" sz="3000" dirty="0"/>
          </a:p>
        </p:txBody>
      </p:sp>
      <p:sp>
        <p:nvSpPr>
          <p:cNvPr id="29" name="Text 24"/>
          <p:cNvSpPr/>
          <p:nvPr/>
        </p:nvSpPr>
        <p:spPr>
          <a:xfrm>
            <a:off x="6355080" y="3291840"/>
            <a:ext cx="2286000" cy="365760"/>
          </a:xfrm>
          <a:prstGeom prst="rect">
            <a:avLst/>
          </a:prstGeom>
          <a:noFill/>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part alertes IA</a:t>
            </a:r>
            <a:endParaRPr lang="en-US" sz="1200" dirty="0"/>
          </a:p>
        </p:txBody>
      </p:sp>
      <p:sp>
        <p:nvSpPr>
          <p:cNvPr id="30" name="Text 25"/>
          <p:cNvSpPr/>
          <p:nvPr/>
        </p:nvSpPr>
        <p:spPr>
          <a:xfrm>
            <a:off x="6355080" y="3657600"/>
            <a:ext cx="2286000" cy="365760"/>
          </a:xfrm>
          <a:prstGeom prst="rect">
            <a:avLst/>
          </a:prstGeom>
          <a:noFill/>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86 automatiques</a:t>
            </a:r>
            <a:endParaRPr lang="en-US" sz="900" dirty="0"/>
          </a:p>
        </p:txBody>
      </p:sp>
      <p:sp>
        <p:nvSpPr>
          <p:cNvPr id="31" name="Shape 26"/>
          <p:cNvSpPr/>
          <p:nvPr/>
        </p:nvSpPr>
        <p:spPr>
          <a:xfrm>
            <a:off x="9006840" y="2377440"/>
            <a:ext cx="2651760" cy="178308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32" name="Shape 27"/>
          <p:cNvSpPr/>
          <p:nvPr/>
        </p:nvSpPr>
        <p:spPr>
          <a:xfrm>
            <a:off x="9006840" y="2377440"/>
            <a:ext cx="2651760" cy="73152"/>
          </a:xfrm>
          <a:prstGeom prst="rect">
            <a:avLst/>
          </a:prstGeom>
          <a:solidFill>
            <a:srgbClr val="DC2626"/>
          </a:solidFill>
          <a:ln w="12700">
            <a:solidFill>
              <a:srgbClr val="DC2626"/>
            </a:solidFill>
            <a:prstDash val="solid"/>
          </a:ln>
        </p:spPr>
      </p:sp>
      <p:sp>
        <p:nvSpPr>
          <p:cNvPr id="33" name="Shape 28"/>
          <p:cNvSpPr/>
          <p:nvPr/>
        </p:nvSpPr>
        <p:spPr>
          <a:xfrm>
            <a:off x="9189720" y="2651760"/>
            <a:ext cx="457200" cy="457200"/>
          </a:xfrm>
          <a:prstGeom prst="ellipse">
            <a:avLst/>
          </a:prstGeom>
          <a:solidFill>
            <a:srgbClr val="E3F2FD"/>
          </a:solidFill>
          <a:ln w="12700">
            <a:solidFill>
              <a:srgbClr val="E3F2FD"/>
            </a:solidFill>
            <a:prstDash val="solid"/>
          </a:ln>
        </p:spPr>
      </p:sp>
      <p:pic>
        <p:nvPicPr>
          <p:cNvPr id="34" name="Image 3" descr="preencoded.png"/>
          <p:cNvPicPr>
            <a:picLocks noChangeAspect="1"/>
          </p:cNvPicPr>
          <p:nvPr/>
        </p:nvPicPr>
        <p:blipFill>
          <a:blip r:embed="rId4"/>
          <a:stretch>
            <a:fillRect/>
          </a:stretch>
        </p:blipFill>
        <p:spPr>
          <a:xfrm>
            <a:off x="9281160" y="2743200"/>
            <a:ext cx="274320" cy="274320"/>
          </a:xfrm>
          <a:prstGeom prst="rect">
            <a:avLst/>
          </a:prstGeom>
        </p:spPr>
      </p:pic>
      <p:sp>
        <p:nvSpPr>
          <p:cNvPr id="35" name="Text 29"/>
          <p:cNvSpPr/>
          <p:nvPr/>
        </p:nvSpPr>
        <p:spPr>
          <a:xfrm>
            <a:off x="9784080" y="2606040"/>
            <a:ext cx="1737360" cy="64008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92 %</a:t>
            </a:r>
            <a:endParaRPr lang="en-US" sz="3000" dirty="0"/>
          </a:p>
        </p:txBody>
      </p:sp>
      <p:sp>
        <p:nvSpPr>
          <p:cNvPr id="36" name="Text 30"/>
          <p:cNvSpPr/>
          <p:nvPr/>
        </p:nvSpPr>
        <p:spPr>
          <a:xfrm>
            <a:off x="9189720" y="3291840"/>
            <a:ext cx="2286000" cy="365760"/>
          </a:xfrm>
          <a:prstGeom prst="rect">
            <a:avLst/>
          </a:prstGeom>
          <a:noFill/>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traitement inondations</a:t>
            </a:r>
            <a:endParaRPr lang="en-US" sz="1200" dirty="0"/>
          </a:p>
        </p:txBody>
      </p:sp>
      <p:sp>
        <p:nvSpPr>
          <p:cNvPr id="37" name="Text 31"/>
          <p:cNvSpPr/>
          <p:nvPr/>
        </p:nvSpPr>
        <p:spPr>
          <a:xfrm>
            <a:off x="9189720" y="3657600"/>
            <a:ext cx="2286000" cy="365760"/>
          </a:xfrm>
          <a:prstGeom prst="rect">
            <a:avLst/>
          </a:prstGeom>
          <a:noFill/>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23/25 sur Pikine, Keur Massar…</a:t>
            </a:r>
            <a:endParaRPr lang="en-US" sz="900" dirty="0"/>
          </a:p>
        </p:txBody>
      </p:sp>
      <p:sp>
        <p:nvSpPr>
          <p:cNvPr id="38" name="Text 32"/>
          <p:cNvSpPr/>
          <p:nvPr/>
        </p:nvSpPr>
        <p:spPr>
          <a:xfrm>
            <a:off x="548640" y="4389120"/>
            <a:ext cx="11064240" cy="320040"/>
          </a:xfrm>
          <a:prstGeom prst="rect">
            <a:avLst/>
          </a:prstGeom>
          <a:noFill/>
        </p:spPr>
        <p:txBody>
          <a:bodyPr wrap="square" lIns="0" tIns="0" rIns="0" bIns="0" rtlCol="0" anchor="ctr"/>
          <a:lstStyle/>
          <a:p>
            <a:pPr marL="0" indent="0" algn="ctr">
              <a:buNone/>
            </a:pPr>
            <a:r>
              <a:rPr lang="en-US" sz="1100" b="1" kern="0" spc="300" dirty="0">
                <a:solidFill>
                  <a:srgbClr val="1565C0"/>
                </a:solidFill>
                <a:latin typeface="Calibri" pitchFamily="34" charset="0"/>
                <a:ea typeface="Calibri" pitchFamily="34" charset="-122"/>
                <a:cs typeface="Calibri" pitchFamily="34" charset="-120"/>
              </a:rPr>
              <a:t>OUTILS DE LA CONSOLE ADMINISTRATEUR</a:t>
            </a:r>
            <a:endParaRPr lang="en-US" sz="1100" dirty="0"/>
          </a:p>
        </p:txBody>
      </p:sp>
      <p:sp>
        <p:nvSpPr>
          <p:cNvPr id="39" name="Shape 33"/>
          <p:cNvSpPr/>
          <p:nvPr/>
        </p:nvSpPr>
        <p:spPr>
          <a:xfrm>
            <a:off x="502920" y="4754880"/>
            <a:ext cx="2651760" cy="146304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40" name="Shape 34"/>
          <p:cNvSpPr/>
          <p:nvPr/>
        </p:nvSpPr>
        <p:spPr>
          <a:xfrm>
            <a:off x="1554480" y="4937760"/>
            <a:ext cx="548640" cy="548640"/>
          </a:xfrm>
          <a:prstGeom prst="ellipse">
            <a:avLst/>
          </a:prstGeom>
          <a:solidFill>
            <a:srgbClr val="F59E0B"/>
          </a:solidFill>
          <a:ln w="12700">
            <a:solidFill>
              <a:srgbClr val="F59E0B"/>
            </a:solidFill>
            <a:prstDash val="solid"/>
          </a:ln>
        </p:spPr>
      </p:sp>
      <p:pic>
        <p:nvPicPr>
          <p:cNvPr id="41" name="Image 4" descr="preencoded.png"/>
          <p:cNvPicPr>
            <a:picLocks noChangeAspect="1"/>
          </p:cNvPicPr>
          <p:nvPr/>
        </p:nvPicPr>
        <p:blipFill>
          <a:blip r:embed="rId5"/>
          <a:stretch>
            <a:fillRect/>
          </a:stretch>
        </p:blipFill>
        <p:spPr>
          <a:xfrm>
            <a:off x="1645920" y="5029200"/>
            <a:ext cx="365760" cy="365760"/>
          </a:xfrm>
          <a:prstGeom prst="rect">
            <a:avLst/>
          </a:prstGeom>
        </p:spPr>
      </p:pic>
      <p:sp>
        <p:nvSpPr>
          <p:cNvPr id="42" name="Text 35"/>
          <p:cNvSpPr/>
          <p:nvPr/>
        </p:nvSpPr>
        <p:spPr>
          <a:xfrm>
            <a:off x="640080" y="5577840"/>
            <a:ext cx="2377440" cy="274320"/>
          </a:xfrm>
          <a:prstGeom prst="rect">
            <a:avLst/>
          </a:prstGeom>
          <a:noFill/>
        </p:spPr>
        <p:txBody>
          <a:bodyPr wrap="square" lIns="0" tIns="0" rIns="0" bIns="0" rtlCol="0" anchor="ctr"/>
          <a:lstStyle/>
          <a:p>
            <a:pPr marL="0" indent="0" algn="ctr">
              <a:buNone/>
            </a:pPr>
            <a:r>
              <a:rPr lang="en-US" sz="1200" b="1" dirty="0">
                <a:solidFill>
                  <a:srgbClr val="FFFFFF"/>
                </a:solidFill>
                <a:latin typeface="Georgia" panose="02040502050405090303" pitchFamily="34" charset="0"/>
                <a:ea typeface="Georgia" panose="02040502050405090303" pitchFamily="34" charset="-122"/>
                <a:cs typeface="Georgia" panose="02040502050405090303" pitchFamily="34" charset="-120"/>
              </a:rPr>
              <a:t>Gestion des rôles</a:t>
            </a:r>
            <a:endParaRPr lang="en-US" sz="1200" dirty="0"/>
          </a:p>
        </p:txBody>
      </p:sp>
      <p:sp>
        <p:nvSpPr>
          <p:cNvPr id="43" name="Text 36"/>
          <p:cNvSpPr/>
          <p:nvPr/>
        </p:nvSpPr>
        <p:spPr>
          <a:xfrm>
            <a:off x="640080" y="5806440"/>
            <a:ext cx="2377440" cy="365760"/>
          </a:xfrm>
          <a:prstGeom prst="rect">
            <a:avLst/>
          </a:prstGeom>
          <a:noFill/>
        </p:spPr>
        <p:txBody>
          <a:bodyPr wrap="square" lIns="0" tIns="0" rIns="0" bIns="0" rtlCol="0" anchor="ctr"/>
          <a:lstStyle/>
          <a:p>
            <a:pPr marL="0" indent="0" algn="ctr">
              <a:buNone/>
            </a:pPr>
            <a:r>
              <a:rPr lang="en-US" sz="900" dirty="0">
                <a:solidFill>
                  <a:srgbClr val="42A5F5"/>
                </a:solidFill>
                <a:latin typeface="Calibri" pitchFamily="34" charset="0"/>
                <a:ea typeface="Calibri" pitchFamily="34" charset="-122"/>
                <a:cs typeface="Calibri" pitchFamily="34" charset="-120"/>
              </a:rPr>
              <a:t>Guest · Citoyen · Mairie admin · Super-admin · attribution mairie</a:t>
            </a:r>
            <a:endParaRPr lang="en-US" sz="900" dirty="0"/>
          </a:p>
        </p:txBody>
      </p:sp>
      <p:sp>
        <p:nvSpPr>
          <p:cNvPr id="44" name="Shape 37"/>
          <p:cNvSpPr/>
          <p:nvPr/>
        </p:nvSpPr>
        <p:spPr>
          <a:xfrm>
            <a:off x="3337560" y="4754880"/>
            <a:ext cx="2651760" cy="146304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45" name="Shape 38"/>
          <p:cNvSpPr/>
          <p:nvPr/>
        </p:nvSpPr>
        <p:spPr>
          <a:xfrm>
            <a:off x="4389120" y="4937760"/>
            <a:ext cx="548640" cy="548640"/>
          </a:xfrm>
          <a:prstGeom prst="ellipse">
            <a:avLst/>
          </a:prstGeom>
          <a:solidFill>
            <a:srgbClr val="F59E0B"/>
          </a:solidFill>
          <a:ln w="12700">
            <a:solidFill>
              <a:srgbClr val="F59E0B"/>
            </a:solidFill>
            <a:prstDash val="solid"/>
          </a:ln>
        </p:spPr>
      </p:sp>
      <p:pic>
        <p:nvPicPr>
          <p:cNvPr id="46" name="Image 5" descr="preencoded.png"/>
          <p:cNvPicPr>
            <a:picLocks noChangeAspect="1"/>
          </p:cNvPicPr>
          <p:nvPr/>
        </p:nvPicPr>
        <p:blipFill>
          <a:blip r:embed="rId6"/>
          <a:stretch>
            <a:fillRect/>
          </a:stretch>
        </p:blipFill>
        <p:spPr>
          <a:xfrm>
            <a:off x="4480560" y="5029200"/>
            <a:ext cx="365760" cy="365760"/>
          </a:xfrm>
          <a:prstGeom prst="rect">
            <a:avLst/>
          </a:prstGeom>
        </p:spPr>
      </p:pic>
      <p:sp>
        <p:nvSpPr>
          <p:cNvPr id="47" name="Text 39"/>
          <p:cNvSpPr/>
          <p:nvPr/>
        </p:nvSpPr>
        <p:spPr>
          <a:xfrm>
            <a:off x="3474720" y="5577840"/>
            <a:ext cx="2377440" cy="274320"/>
          </a:xfrm>
          <a:prstGeom prst="rect">
            <a:avLst/>
          </a:prstGeom>
          <a:noFill/>
        </p:spPr>
        <p:txBody>
          <a:bodyPr wrap="square" lIns="0" tIns="0" rIns="0" bIns="0" rtlCol="0" anchor="ctr"/>
          <a:lstStyle/>
          <a:p>
            <a:pPr marL="0" indent="0" algn="ctr">
              <a:buNone/>
            </a:pPr>
            <a:r>
              <a:rPr lang="en-US" sz="1200" b="1" dirty="0">
                <a:solidFill>
                  <a:srgbClr val="FFFFFF"/>
                </a:solidFill>
                <a:latin typeface="Georgia" panose="02040502050405090303" pitchFamily="34" charset="0"/>
                <a:ea typeface="Georgia" panose="02040502050405090303" pitchFamily="34" charset="-122"/>
                <a:cs typeface="Georgia" panose="02040502050405090303" pitchFamily="34" charset="-120"/>
              </a:rPr>
              <a:t>Simulation manuelle</a:t>
            </a:r>
            <a:endParaRPr lang="en-US" sz="1200" dirty="0"/>
          </a:p>
        </p:txBody>
      </p:sp>
      <p:sp>
        <p:nvSpPr>
          <p:cNvPr id="48" name="Text 40"/>
          <p:cNvSpPr/>
          <p:nvPr/>
        </p:nvSpPr>
        <p:spPr>
          <a:xfrm>
            <a:off x="3474720" y="5806440"/>
            <a:ext cx="2377440" cy="365760"/>
          </a:xfrm>
          <a:prstGeom prst="rect">
            <a:avLst/>
          </a:prstGeom>
          <a:noFill/>
        </p:spPr>
        <p:txBody>
          <a:bodyPr wrap="square" lIns="0" tIns="0" rIns="0" bIns="0" rtlCol="0" anchor="ctr"/>
          <a:lstStyle/>
          <a:p>
            <a:pPr marL="0" indent="0" algn="ctr">
              <a:buNone/>
            </a:pPr>
            <a:r>
              <a:rPr lang="en-US" sz="900" dirty="0">
                <a:solidFill>
                  <a:srgbClr val="42A5F5"/>
                </a:solidFill>
                <a:latin typeface="Calibri" pitchFamily="34" charset="0"/>
                <a:ea typeface="Calibri" pitchFamily="34" charset="-122"/>
                <a:cs typeface="Calibri" pitchFamily="34" charset="-120"/>
              </a:rPr>
              <a:t>Tester le modèle avec des observations locales (pluie, T°, humidité)</a:t>
            </a:r>
            <a:endParaRPr lang="en-US" sz="900" dirty="0"/>
          </a:p>
        </p:txBody>
      </p:sp>
      <p:sp>
        <p:nvSpPr>
          <p:cNvPr id="49" name="Shape 41"/>
          <p:cNvSpPr/>
          <p:nvPr/>
        </p:nvSpPr>
        <p:spPr>
          <a:xfrm>
            <a:off x="6172200" y="4754880"/>
            <a:ext cx="2651760" cy="146304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50" name="Shape 42"/>
          <p:cNvSpPr/>
          <p:nvPr/>
        </p:nvSpPr>
        <p:spPr>
          <a:xfrm>
            <a:off x="7223760" y="4937760"/>
            <a:ext cx="548640" cy="548640"/>
          </a:xfrm>
          <a:prstGeom prst="ellipse">
            <a:avLst/>
          </a:prstGeom>
          <a:solidFill>
            <a:srgbClr val="F59E0B"/>
          </a:solidFill>
          <a:ln w="12700">
            <a:solidFill>
              <a:srgbClr val="F59E0B"/>
            </a:solidFill>
            <a:prstDash val="solid"/>
          </a:ln>
        </p:spPr>
      </p:sp>
      <p:pic>
        <p:nvPicPr>
          <p:cNvPr id="51" name="Image 6" descr="preencoded.png"/>
          <p:cNvPicPr>
            <a:picLocks noChangeAspect="1"/>
          </p:cNvPicPr>
          <p:nvPr/>
        </p:nvPicPr>
        <p:blipFill>
          <a:blip r:embed="rId7"/>
          <a:stretch>
            <a:fillRect/>
          </a:stretch>
        </p:blipFill>
        <p:spPr>
          <a:xfrm>
            <a:off x="7315200" y="5029200"/>
            <a:ext cx="365760" cy="365760"/>
          </a:xfrm>
          <a:prstGeom prst="rect">
            <a:avLst/>
          </a:prstGeom>
        </p:spPr>
      </p:pic>
      <p:sp>
        <p:nvSpPr>
          <p:cNvPr id="52" name="Text 43"/>
          <p:cNvSpPr/>
          <p:nvPr/>
        </p:nvSpPr>
        <p:spPr>
          <a:xfrm>
            <a:off x="6309360" y="5577840"/>
            <a:ext cx="2377440" cy="274320"/>
          </a:xfrm>
          <a:prstGeom prst="rect">
            <a:avLst/>
          </a:prstGeom>
          <a:noFill/>
        </p:spPr>
        <p:txBody>
          <a:bodyPr wrap="square" lIns="0" tIns="0" rIns="0" bIns="0" rtlCol="0" anchor="ctr"/>
          <a:lstStyle/>
          <a:p>
            <a:pPr marL="0" indent="0" algn="ctr">
              <a:buNone/>
            </a:pPr>
            <a:r>
              <a:rPr lang="en-US" sz="1200" b="1" dirty="0">
                <a:solidFill>
                  <a:srgbClr val="FFFFFF"/>
                </a:solidFill>
                <a:latin typeface="Georgia" panose="02040502050405090303" pitchFamily="34" charset="0"/>
                <a:ea typeface="Georgia" panose="02040502050405090303" pitchFamily="34" charset="-122"/>
                <a:cs typeface="Georgia" panose="02040502050405090303" pitchFamily="34" charset="-120"/>
              </a:rPr>
              <a:t>Vues synthétiques</a:t>
            </a:r>
            <a:endParaRPr lang="en-US" sz="1200" dirty="0"/>
          </a:p>
        </p:txBody>
      </p:sp>
      <p:sp>
        <p:nvSpPr>
          <p:cNvPr id="53" name="Text 44"/>
          <p:cNvSpPr/>
          <p:nvPr/>
        </p:nvSpPr>
        <p:spPr>
          <a:xfrm>
            <a:off x="6309360" y="5806440"/>
            <a:ext cx="2377440" cy="365760"/>
          </a:xfrm>
          <a:prstGeom prst="rect">
            <a:avLst/>
          </a:prstGeom>
          <a:noFill/>
        </p:spPr>
        <p:txBody>
          <a:bodyPr wrap="square" lIns="0" tIns="0" rIns="0" bIns="0" rtlCol="0" anchor="ctr"/>
          <a:lstStyle/>
          <a:p>
            <a:pPr marL="0" indent="0" algn="ctr">
              <a:buNone/>
            </a:pPr>
            <a:r>
              <a:rPr lang="en-US" sz="900" dirty="0">
                <a:solidFill>
                  <a:srgbClr val="42A5F5"/>
                </a:solidFill>
                <a:latin typeface="Calibri" pitchFamily="34" charset="0"/>
                <a:ea typeface="Calibri" pitchFamily="34" charset="-122"/>
                <a:cs typeface="Calibri" pitchFamily="34" charset="-120"/>
              </a:rPr>
              <a:t>Répartition par type, par quartier, tendances temporelles, exports CSV</a:t>
            </a:r>
            <a:endParaRPr lang="en-US" sz="900" dirty="0"/>
          </a:p>
        </p:txBody>
      </p:sp>
      <p:sp>
        <p:nvSpPr>
          <p:cNvPr id="54" name="Shape 45"/>
          <p:cNvSpPr/>
          <p:nvPr/>
        </p:nvSpPr>
        <p:spPr>
          <a:xfrm>
            <a:off x="9006840" y="4754880"/>
            <a:ext cx="2651760" cy="146304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55" name="Shape 46"/>
          <p:cNvSpPr/>
          <p:nvPr/>
        </p:nvSpPr>
        <p:spPr>
          <a:xfrm>
            <a:off x="10058400" y="4937760"/>
            <a:ext cx="548640" cy="548640"/>
          </a:xfrm>
          <a:prstGeom prst="ellipse">
            <a:avLst/>
          </a:prstGeom>
          <a:solidFill>
            <a:srgbClr val="F59E0B"/>
          </a:solidFill>
          <a:ln w="12700">
            <a:solidFill>
              <a:srgbClr val="F59E0B"/>
            </a:solidFill>
            <a:prstDash val="solid"/>
          </a:ln>
        </p:spPr>
      </p:sp>
      <p:pic>
        <p:nvPicPr>
          <p:cNvPr id="56" name="Image 7" descr="preencoded.png"/>
          <p:cNvPicPr>
            <a:picLocks noChangeAspect="1"/>
          </p:cNvPicPr>
          <p:nvPr/>
        </p:nvPicPr>
        <p:blipFill>
          <a:blip r:embed="rId8"/>
          <a:stretch>
            <a:fillRect/>
          </a:stretch>
        </p:blipFill>
        <p:spPr>
          <a:xfrm>
            <a:off x="10149840" y="5029200"/>
            <a:ext cx="365760" cy="365760"/>
          </a:xfrm>
          <a:prstGeom prst="rect">
            <a:avLst/>
          </a:prstGeom>
        </p:spPr>
      </p:pic>
      <p:sp>
        <p:nvSpPr>
          <p:cNvPr id="57" name="Text 47"/>
          <p:cNvSpPr/>
          <p:nvPr/>
        </p:nvSpPr>
        <p:spPr>
          <a:xfrm>
            <a:off x="9144000" y="5577840"/>
            <a:ext cx="2377440" cy="274320"/>
          </a:xfrm>
          <a:prstGeom prst="rect">
            <a:avLst/>
          </a:prstGeom>
          <a:noFill/>
        </p:spPr>
        <p:txBody>
          <a:bodyPr wrap="square" lIns="0" tIns="0" rIns="0" bIns="0" rtlCol="0" anchor="ctr"/>
          <a:lstStyle/>
          <a:p>
            <a:pPr marL="0" indent="0" algn="ctr">
              <a:buNone/>
            </a:pPr>
            <a:r>
              <a:rPr lang="en-US" sz="1200" b="1" dirty="0">
                <a:solidFill>
                  <a:srgbClr val="FFFFFF"/>
                </a:solidFill>
                <a:latin typeface="Georgia" panose="02040502050405090303" pitchFamily="34" charset="0"/>
                <a:ea typeface="Georgia" panose="02040502050405090303" pitchFamily="34" charset="-122"/>
                <a:cs typeface="Georgia" panose="02040502050405090303" pitchFamily="34" charset="-120"/>
              </a:rPr>
              <a:t>Suivi des alertes</a:t>
            </a:r>
            <a:endParaRPr lang="en-US" sz="1200" dirty="0"/>
          </a:p>
        </p:txBody>
      </p:sp>
      <p:sp>
        <p:nvSpPr>
          <p:cNvPr id="58" name="Text 48"/>
          <p:cNvSpPr/>
          <p:nvPr/>
        </p:nvSpPr>
        <p:spPr>
          <a:xfrm>
            <a:off x="9144000" y="5806440"/>
            <a:ext cx="2377440" cy="365760"/>
          </a:xfrm>
          <a:prstGeom prst="rect">
            <a:avLst/>
          </a:prstGeom>
          <a:noFill/>
        </p:spPr>
        <p:txBody>
          <a:bodyPr wrap="square" lIns="0" tIns="0" rIns="0" bIns="0" rtlCol="0" anchor="ctr"/>
          <a:lstStyle/>
          <a:p>
            <a:pPr marL="0" indent="0" algn="ctr">
              <a:buNone/>
            </a:pPr>
            <a:r>
              <a:rPr lang="en-US" sz="900" dirty="0">
                <a:solidFill>
                  <a:srgbClr val="42A5F5"/>
                </a:solidFill>
                <a:latin typeface="Calibri" pitchFamily="34" charset="0"/>
                <a:ea typeface="Calibri" pitchFamily="34" charset="-122"/>
                <a:cs typeface="Calibri" pitchFamily="34" charset="-120"/>
              </a:rPr>
              <a:t>Statut · assignation · compte-rendu · clôture immédiate ou par lots</a:t>
            </a:r>
            <a:endParaRPr lang="en-US" sz="900" dirty="0"/>
          </a:p>
        </p:txBody>
      </p:sp>
      <p:sp>
        <p:nvSpPr>
          <p:cNvPr id="59" name="Shape 49"/>
          <p:cNvSpPr/>
          <p:nvPr/>
        </p:nvSpPr>
        <p:spPr>
          <a:xfrm>
            <a:off x="0" y="6537960"/>
            <a:ext cx="12161520" cy="320040"/>
          </a:xfrm>
          <a:prstGeom prst="rect">
            <a:avLst/>
          </a:prstGeom>
          <a:solidFill>
            <a:srgbClr val="0D47A1"/>
          </a:solidFill>
          <a:ln w="12700">
            <a:solidFill>
              <a:srgbClr val="0D47A1"/>
            </a:solidFill>
            <a:prstDash val="solid"/>
          </a:ln>
        </p:spPr>
      </p:sp>
      <p:sp>
        <p:nvSpPr>
          <p:cNvPr id="60" name="Text 50"/>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61" name="Text 51"/>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PAPA</a:t>
            </a:r>
            <a:endParaRPr lang="en-US" sz="900" dirty="0"/>
          </a:p>
        </p:txBody>
      </p:sp>
      <p:sp>
        <p:nvSpPr>
          <p:cNvPr id="62" name="Text 52"/>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VOLET OPÉRATIONNEL</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Coordination terrain et accompagnement citoyen</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TERRAIN</a:t>
            </a:r>
            <a:endParaRPr lang="en-US" sz="1000" dirty="0"/>
          </a:p>
        </p:txBody>
      </p:sp>
      <p:sp>
        <p:nvSpPr>
          <p:cNvPr id="9" name="Text 7"/>
          <p:cNvSpPr/>
          <p:nvPr/>
        </p:nvSpPr>
        <p:spPr>
          <a:xfrm>
            <a:off x="548640" y="1874520"/>
            <a:ext cx="11064240" cy="457200"/>
          </a:xfrm>
          <a:prstGeom prst="rect">
            <a:avLst/>
          </a:prstGeom>
          <a:noFill/>
        </p:spPr>
        <p:txBody>
          <a:bodyPr wrap="square" lIns="0" tIns="0" rIns="0" bIns="0"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La plateforme intègre directement les protocoles de la Protection Civile et oriente les citoyens vers les bons relais.</a:t>
            </a:r>
            <a:endParaRPr lang="en-US" sz="1300" dirty="0"/>
          </a:p>
        </p:txBody>
      </p:sp>
      <p:sp>
        <p:nvSpPr>
          <p:cNvPr id="10" name="Shape 8"/>
          <p:cNvSpPr/>
          <p:nvPr/>
        </p:nvSpPr>
        <p:spPr>
          <a:xfrm>
            <a:off x="548640" y="2468880"/>
            <a:ext cx="11064240" cy="640080"/>
          </a:xfrm>
          <a:prstGeom prst="rect">
            <a:avLst/>
          </a:prstGeom>
          <a:solidFill>
            <a:srgbClr val="DC2626"/>
          </a:solidFill>
          <a:ln w="12700">
            <a:solidFill>
              <a:srgbClr val="DC2626"/>
            </a:solidFill>
            <a:prstDash val="solid"/>
          </a:ln>
        </p:spPr>
      </p:sp>
      <p:pic>
        <p:nvPicPr>
          <p:cNvPr id="11" name="Image 0" descr="preencoded.png"/>
          <p:cNvPicPr>
            <a:picLocks noChangeAspect="1"/>
          </p:cNvPicPr>
          <p:nvPr/>
        </p:nvPicPr>
        <p:blipFill>
          <a:blip r:embed="rId1"/>
          <a:stretch>
            <a:fillRect/>
          </a:stretch>
        </p:blipFill>
        <p:spPr>
          <a:xfrm>
            <a:off x="777240" y="2606040"/>
            <a:ext cx="365760" cy="365760"/>
          </a:xfrm>
          <a:prstGeom prst="rect">
            <a:avLst/>
          </a:prstGeom>
        </p:spPr>
      </p:pic>
      <p:sp>
        <p:nvSpPr>
          <p:cNvPr id="12" name="Text 9"/>
          <p:cNvSpPr/>
          <p:nvPr/>
        </p:nvSpPr>
        <p:spPr>
          <a:xfrm>
            <a:off x="1280160" y="2468880"/>
            <a:ext cx="2743200" cy="640080"/>
          </a:xfrm>
          <a:prstGeom prst="rect">
            <a:avLst/>
          </a:prstGeom>
          <a:noFill/>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URGENCE INONDATION</a:t>
            </a:r>
            <a:endParaRPr lang="en-US" sz="1300" dirty="0"/>
          </a:p>
        </p:txBody>
      </p:sp>
      <p:sp>
        <p:nvSpPr>
          <p:cNvPr id="13" name="Shape 10"/>
          <p:cNvSpPr/>
          <p:nvPr/>
        </p:nvSpPr>
        <p:spPr>
          <a:xfrm>
            <a:off x="4114800" y="2606040"/>
            <a:ext cx="1371600" cy="365760"/>
          </a:xfrm>
          <a:prstGeom prst="roundRect">
            <a:avLst>
              <a:gd name="adj" fmla="val 12500"/>
            </a:avLst>
          </a:prstGeom>
          <a:solidFill>
            <a:srgbClr val="FFFFFF"/>
          </a:solidFill>
          <a:ln w="12700">
            <a:solidFill>
              <a:srgbClr val="FFFFFF"/>
            </a:solidFill>
            <a:prstDash val="solid"/>
          </a:ln>
        </p:spPr>
      </p:sp>
      <p:sp>
        <p:nvSpPr>
          <p:cNvPr id="14" name="Text 11"/>
          <p:cNvSpPr/>
          <p:nvPr/>
        </p:nvSpPr>
        <p:spPr>
          <a:xfrm>
            <a:off x="4114800" y="2606040"/>
            <a:ext cx="1371600" cy="365760"/>
          </a:xfrm>
          <a:prstGeom prst="rect">
            <a:avLst/>
          </a:prstGeom>
          <a:noFill/>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Appeler 18</a:t>
            </a:r>
            <a:endParaRPr lang="en-US" sz="1100" dirty="0"/>
          </a:p>
        </p:txBody>
      </p:sp>
      <p:sp>
        <p:nvSpPr>
          <p:cNvPr id="15" name="Text 12"/>
          <p:cNvSpPr/>
          <p:nvPr/>
        </p:nvSpPr>
        <p:spPr>
          <a:xfrm>
            <a:off x="5669280" y="2468880"/>
            <a:ext cx="5852160" cy="640080"/>
          </a:xfrm>
          <a:prstGeom prst="rect">
            <a:avLst/>
          </a:prstGeom>
          <a:noFill/>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Police  ·  SAMU  ·  Cellule inondation  ·  WhatsApp mairie</a:t>
            </a:r>
            <a:endParaRPr lang="en-US" sz="1100" dirty="0"/>
          </a:p>
        </p:txBody>
      </p:sp>
      <p:sp>
        <p:nvSpPr>
          <p:cNvPr id="16" name="Shape 13"/>
          <p:cNvSpPr/>
          <p:nvPr/>
        </p:nvSpPr>
        <p:spPr>
          <a:xfrm>
            <a:off x="548640" y="3337560"/>
            <a:ext cx="3611880" cy="1371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7" name="Shape 14"/>
          <p:cNvSpPr/>
          <p:nvPr/>
        </p:nvSpPr>
        <p:spPr>
          <a:xfrm>
            <a:off x="548640" y="3337560"/>
            <a:ext cx="91440" cy="1371600"/>
          </a:xfrm>
          <a:prstGeom prst="rect">
            <a:avLst/>
          </a:prstGeom>
          <a:solidFill>
            <a:srgbClr val="1565C0"/>
          </a:solidFill>
          <a:ln w="12700">
            <a:solidFill>
              <a:srgbClr val="1565C0"/>
            </a:solidFill>
            <a:prstDash val="solid"/>
          </a:ln>
        </p:spPr>
      </p:sp>
      <p:sp>
        <p:nvSpPr>
          <p:cNvPr id="18" name="Text 15"/>
          <p:cNvSpPr/>
          <p:nvPr/>
        </p:nvSpPr>
        <p:spPr>
          <a:xfrm>
            <a:off x="777240" y="3474720"/>
            <a:ext cx="3246120" cy="32004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Protection Civile</a:t>
            </a:r>
            <a:endParaRPr lang="en-US" sz="1300" dirty="0"/>
          </a:p>
        </p:txBody>
      </p:sp>
      <p:sp>
        <p:nvSpPr>
          <p:cNvPr id="19" name="Text 16"/>
          <p:cNvSpPr/>
          <p:nvPr/>
        </p:nvSpPr>
        <p:spPr>
          <a:xfrm>
            <a:off x="777240" y="3794760"/>
            <a:ext cx="3246120" cy="502920"/>
          </a:xfrm>
          <a:prstGeom prst="rect">
            <a:avLst/>
          </a:prstGeom>
          <a:noFill/>
        </p:spPr>
        <p:txBody>
          <a:bodyPr wrap="square" lIns="0" tIns="0" rIns="0" bIns="0" rtlCol="0" anchor="ctr"/>
          <a:lstStyle/>
          <a:p>
            <a:pPr marL="0" indent="0">
              <a:buNone/>
            </a:pPr>
            <a:r>
              <a:rPr lang="en-US" sz="2400" b="1" dirty="0">
                <a:solidFill>
                  <a:srgbClr val="1565C0"/>
                </a:solidFill>
                <a:latin typeface="Georgia" panose="02040502050405090303" pitchFamily="34" charset="0"/>
                <a:ea typeface="Georgia" panose="02040502050405090303" pitchFamily="34" charset="-122"/>
                <a:cs typeface="Georgia" panose="02040502050405090303" pitchFamily="34" charset="-120"/>
              </a:rPr>
              <a:t>1515</a:t>
            </a:r>
            <a:endParaRPr lang="en-US" sz="2400" dirty="0"/>
          </a:p>
        </p:txBody>
      </p:sp>
      <p:sp>
        <p:nvSpPr>
          <p:cNvPr id="20" name="Text 17"/>
          <p:cNvSpPr/>
          <p:nvPr/>
        </p:nvSpPr>
        <p:spPr>
          <a:xfrm>
            <a:off x="777240" y="4297680"/>
            <a:ext cx="324612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Assistance d'urgence et évacuations</a:t>
            </a:r>
            <a:endParaRPr lang="en-US" sz="1000" dirty="0"/>
          </a:p>
        </p:txBody>
      </p:sp>
      <p:sp>
        <p:nvSpPr>
          <p:cNvPr id="21" name="Shape 18"/>
          <p:cNvSpPr/>
          <p:nvPr/>
        </p:nvSpPr>
        <p:spPr>
          <a:xfrm>
            <a:off x="4297680" y="3337560"/>
            <a:ext cx="3611880" cy="1371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2" name="Shape 19"/>
          <p:cNvSpPr/>
          <p:nvPr/>
        </p:nvSpPr>
        <p:spPr>
          <a:xfrm>
            <a:off x="4297680" y="3337560"/>
            <a:ext cx="91440" cy="1371600"/>
          </a:xfrm>
          <a:prstGeom prst="rect">
            <a:avLst/>
          </a:prstGeom>
          <a:solidFill>
            <a:srgbClr val="1565C0"/>
          </a:solidFill>
          <a:ln w="12700">
            <a:solidFill>
              <a:srgbClr val="1565C0"/>
            </a:solidFill>
            <a:prstDash val="solid"/>
          </a:ln>
        </p:spPr>
      </p:sp>
      <p:sp>
        <p:nvSpPr>
          <p:cNvPr id="23" name="Text 20"/>
          <p:cNvSpPr/>
          <p:nvPr/>
        </p:nvSpPr>
        <p:spPr>
          <a:xfrm>
            <a:off x="4526280" y="3474720"/>
            <a:ext cx="3246120" cy="32004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Pompiers</a:t>
            </a:r>
            <a:endParaRPr lang="en-US" sz="1300" dirty="0"/>
          </a:p>
        </p:txBody>
      </p:sp>
      <p:sp>
        <p:nvSpPr>
          <p:cNvPr id="24" name="Text 21"/>
          <p:cNvSpPr/>
          <p:nvPr/>
        </p:nvSpPr>
        <p:spPr>
          <a:xfrm>
            <a:off x="4526280" y="3794760"/>
            <a:ext cx="3246120" cy="502920"/>
          </a:xfrm>
          <a:prstGeom prst="rect">
            <a:avLst/>
          </a:prstGeom>
          <a:noFill/>
        </p:spPr>
        <p:txBody>
          <a:bodyPr wrap="square" lIns="0" tIns="0" rIns="0" bIns="0" rtlCol="0" anchor="ctr"/>
          <a:lstStyle/>
          <a:p>
            <a:pPr marL="0" indent="0">
              <a:buNone/>
            </a:pPr>
            <a:r>
              <a:rPr lang="en-US" sz="2400" b="1" dirty="0">
                <a:solidFill>
                  <a:srgbClr val="1565C0"/>
                </a:solidFill>
                <a:latin typeface="Georgia" panose="02040502050405090303" pitchFamily="34" charset="0"/>
                <a:ea typeface="Georgia" panose="02040502050405090303" pitchFamily="34" charset="-122"/>
                <a:cs typeface="Georgia" panose="02040502050405090303" pitchFamily="34" charset="-120"/>
              </a:rPr>
              <a:t>18</a:t>
            </a:r>
            <a:endParaRPr lang="en-US" sz="2400" dirty="0"/>
          </a:p>
        </p:txBody>
      </p:sp>
      <p:sp>
        <p:nvSpPr>
          <p:cNvPr id="25" name="Text 22"/>
          <p:cNvSpPr/>
          <p:nvPr/>
        </p:nvSpPr>
        <p:spPr>
          <a:xfrm>
            <a:off x="4526280" y="4297680"/>
            <a:ext cx="324612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Intervention rapide en cas de danger</a:t>
            </a:r>
            <a:endParaRPr lang="en-US" sz="1000" dirty="0"/>
          </a:p>
        </p:txBody>
      </p:sp>
      <p:sp>
        <p:nvSpPr>
          <p:cNvPr id="26" name="Shape 23"/>
          <p:cNvSpPr/>
          <p:nvPr/>
        </p:nvSpPr>
        <p:spPr>
          <a:xfrm>
            <a:off x="8046720" y="3337560"/>
            <a:ext cx="3611880" cy="13716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7" name="Shape 24"/>
          <p:cNvSpPr/>
          <p:nvPr/>
        </p:nvSpPr>
        <p:spPr>
          <a:xfrm>
            <a:off x="8046720" y="3337560"/>
            <a:ext cx="91440" cy="1371600"/>
          </a:xfrm>
          <a:prstGeom prst="rect">
            <a:avLst/>
          </a:prstGeom>
          <a:solidFill>
            <a:srgbClr val="1565C0"/>
          </a:solidFill>
          <a:ln w="12700">
            <a:solidFill>
              <a:srgbClr val="1565C0"/>
            </a:solidFill>
            <a:prstDash val="solid"/>
          </a:ln>
        </p:spPr>
      </p:sp>
      <p:sp>
        <p:nvSpPr>
          <p:cNvPr id="28" name="Text 25"/>
          <p:cNvSpPr/>
          <p:nvPr/>
        </p:nvSpPr>
        <p:spPr>
          <a:xfrm>
            <a:off x="8275320" y="3474720"/>
            <a:ext cx="3246120" cy="32004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Centre de santé</a:t>
            </a:r>
            <a:endParaRPr lang="en-US" sz="1300" dirty="0"/>
          </a:p>
        </p:txBody>
      </p:sp>
      <p:sp>
        <p:nvSpPr>
          <p:cNvPr id="29" name="Text 26"/>
          <p:cNvSpPr/>
          <p:nvPr/>
        </p:nvSpPr>
        <p:spPr>
          <a:xfrm>
            <a:off x="8275320" y="3794760"/>
            <a:ext cx="3246120" cy="502920"/>
          </a:xfrm>
          <a:prstGeom prst="rect">
            <a:avLst/>
          </a:prstGeom>
          <a:noFill/>
        </p:spPr>
        <p:txBody>
          <a:bodyPr wrap="square" lIns="0" tIns="0" rIns="0" bIns="0" rtlCol="0" anchor="ctr"/>
          <a:lstStyle/>
          <a:p>
            <a:pPr marL="0" indent="0">
              <a:buNone/>
            </a:pPr>
            <a:r>
              <a:rPr lang="en-US" sz="2400" b="1" dirty="0">
                <a:solidFill>
                  <a:srgbClr val="1565C0"/>
                </a:solidFill>
                <a:latin typeface="Georgia" panose="02040502050405090303" pitchFamily="34" charset="0"/>
                <a:ea typeface="Georgia" panose="02040502050405090303" pitchFamily="34" charset="-122"/>
                <a:cs typeface="Georgia" panose="02040502050405090303" pitchFamily="34" charset="-120"/>
              </a:rPr>
              <a:t>+221 80 00 12 34</a:t>
            </a:r>
            <a:endParaRPr lang="en-US" sz="2400" dirty="0"/>
          </a:p>
        </p:txBody>
      </p:sp>
      <p:sp>
        <p:nvSpPr>
          <p:cNvPr id="30" name="Text 27"/>
          <p:cNvSpPr/>
          <p:nvPr/>
        </p:nvSpPr>
        <p:spPr>
          <a:xfrm>
            <a:off x="8275320" y="4297680"/>
            <a:ext cx="3246120" cy="3200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Secours médicaux et orientations</a:t>
            </a:r>
            <a:endParaRPr lang="en-US" sz="1000" dirty="0"/>
          </a:p>
        </p:txBody>
      </p:sp>
      <p:sp>
        <p:nvSpPr>
          <p:cNvPr id="31" name="Text 28"/>
          <p:cNvSpPr/>
          <p:nvPr/>
        </p:nvSpPr>
        <p:spPr>
          <a:xfrm>
            <a:off x="548640" y="4892040"/>
            <a:ext cx="11064240" cy="320040"/>
          </a:xfrm>
          <a:prstGeom prst="rect">
            <a:avLst/>
          </a:prstGeom>
          <a:noFill/>
        </p:spPr>
        <p:txBody>
          <a:bodyPr wrap="square" lIns="0" tIns="0" rIns="0" bIns="0" rtlCol="0" anchor="ctr"/>
          <a:lstStyle/>
          <a:p>
            <a:pPr marL="0" indent="0" algn="ctr">
              <a:buNone/>
            </a:pPr>
            <a:r>
              <a:rPr lang="en-US" sz="1100" b="1" kern="0" spc="300" dirty="0">
                <a:solidFill>
                  <a:srgbClr val="1565C0"/>
                </a:solidFill>
                <a:latin typeface="Calibri" pitchFamily="34" charset="0"/>
                <a:ea typeface="Calibri" pitchFamily="34" charset="-122"/>
                <a:cs typeface="Calibri" pitchFamily="34" charset="-120"/>
              </a:rPr>
              <a:t>CONSIGNES DE PRÉVENTION INTÉGRÉES À LA PLATEFORME</a:t>
            </a:r>
            <a:endParaRPr lang="en-US" sz="1100" dirty="0"/>
          </a:p>
        </p:txBody>
      </p:sp>
      <p:sp>
        <p:nvSpPr>
          <p:cNvPr id="32" name="Shape 29"/>
          <p:cNvSpPr/>
          <p:nvPr/>
        </p:nvSpPr>
        <p:spPr>
          <a:xfrm>
            <a:off x="548640" y="5212080"/>
            <a:ext cx="3611880" cy="1417320"/>
          </a:xfrm>
          <a:prstGeom prst="rect">
            <a:avLst/>
          </a:prstGeom>
          <a:solidFill>
            <a:srgbClr val="FFFFFF"/>
          </a:solidFill>
          <a:ln w="12700">
            <a:solidFill>
              <a:srgbClr val="E2E8F0"/>
            </a:solidFill>
            <a:prstDash val="solid"/>
          </a:ln>
        </p:spPr>
      </p:sp>
      <p:sp>
        <p:nvSpPr>
          <p:cNvPr id="33" name="Shape 30"/>
          <p:cNvSpPr/>
          <p:nvPr/>
        </p:nvSpPr>
        <p:spPr>
          <a:xfrm>
            <a:off x="548640" y="5212080"/>
            <a:ext cx="3611880" cy="320040"/>
          </a:xfrm>
          <a:prstGeom prst="rect">
            <a:avLst/>
          </a:prstGeom>
          <a:solidFill>
            <a:srgbClr val="1565C0"/>
          </a:solidFill>
          <a:ln w="12700">
            <a:solidFill>
              <a:srgbClr val="1565C0"/>
            </a:solidFill>
            <a:prstDash val="solid"/>
          </a:ln>
        </p:spPr>
      </p:sp>
      <p:sp>
        <p:nvSpPr>
          <p:cNvPr id="34" name="Text 31"/>
          <p:cNvSpPr/>
          <p:nvPr/>
        </p:nvSpPr>
        <p:spPr>
          <a:xfrm>
            <a:off x="685800" y="5212080"/>
            <a:ext cx="3337560" cy="32004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AVANT</a:t>
            </a:r>
            <a:endParaRPr lang="en-US" sz="1100" dirty="0"/>
          </a:p>
        </p:txBody>
      </p:sp>
      <p:sp>
        <p:nvSpPr>
          <p:cNvPr id="35" name="Text 32"/>
          <p:cNvSpPr/>
          <p:nvPr/>
        </p:nvSpPr>
        <p:spPr>
          <a:xfrm>
            <a:off x="777240" y="5623560"/>
            <a:ext cx="3200400" cy="960120"/>
          </a:xfrm>
          <a:prstGeom prst="rect">
            <a:avLst/>
          </a:prstGeom>
          <a:noFill/>
        </p:spPr>
        <p:txBody>
          <a:bodyPr wrap="square" lIns="0" tIns="0" rIns="0" bIns="0" rtlCol="0" anchor="t"/>
          <a:lstStyle/>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Suivre alertes Saytu Mbeund</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Préparer kit d'urgence</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Surélever appareils</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Identifier point sécurisé</a:t>
            </a:r>
            <a:endParaRPr lang="en-US" sz="900" dirty="0"/>
          </a:p>
        </p:txBody>
      </p:sp>
      <p:sp>
        <p:nvSpPr>
          <p:cNvPr id="36" name="Shape 33"/>
          <p:cNvSpPr/>
          <p:nvPr/>
        </p:nvSpPr>
        <p:spPr>
          <a:xfrm>
            <a:off x="4297680" y="5212080"/>
            <a:ext cx="3611880" cy="1417320"/>
          </a:xfrm>
          <a:prstGeom prst="rect">
            <a:avLst/>
          </a:prstGeom>
          <a:solidFill>
            <a:srgbClr val="FFFFFF"/>
          </a:solidFill>
          <a:ln w="12700">
            <a:solidFill>
              <a:srgbClr val="E2E8F0"/>
            </a:solidFill>
            <a:prstDash val="solid"/>
          </a:ln>
        </p:spPr>
      </p:sp>
      <p:sp>
        <p:nvSpPr>
          <p:cNvPr id="37" name="Shape 34"/>
          <p:cNvSpPr/>
          <p:nvPr/>
        </p:nvSpPr>
        <p:spPr>
          <a:xfrm>
            <a:off x="4297680" y="5212080"/>
            <a:ext cx="3611880" cy="320040"/>
          </a:xfrm>
          <a:prstGeom prst="rect">
            <a:avLst/>
          </a:prstGeom>
          <a:solidFill>
            <a:srgbClr val="F59E0B"/>
          </a:solidFill>
          <a:ln w="12700">
            <a:solidFill>
              <a:srgbClr val="F59E0B"/>
            </a:solidFill>
            <a:prstDash val="solid"/>
          </a:ln>
        </p:spPr>
      </p:sp>
      <p:sp>
        <p:nvSpPr>
          <p:cNvPr id="38" name="Text 35"/>
          <p:cNvSpPr/>
          <p:nvPr/>
        </p:nvSpPr>
        <p:spPr>
          <a:xfrm>
            <a:off x="4434840" y="5212080"/>
            <a:ext cx="3337560" cy="32004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PENDANT</a:t>
            </a:r>
            <a:endParaRPr lang="en-US" sz="1100" dirty="0"/>
          </a:p>
        </p:txBody>
      </p:sp>
      <p:sp>
        <p:nvSpPr>
          <p:cNvPr id="39" name="Text 36"/>
          <p:cNvSpPr/>
          <p:nvPr/>
        </p:nvSpPr>
        <p:spPr>
          <a:xfrm>
            <a:off x="4526280" y="5623560"/>
            <a:ext cx="3200400" cy="960120"/>
          </a:xfrm>
          <a:prstGeom prst="rect">
            <a:avLst/>
          </a:prstGeom>
          <a:noFill/>
        </p:spPr>
        <p:txBody>
          <a:bodyPr wrap="square" lIns="0" tIns="0" rIns="0" bIns="0" rtlCol="0" anchor="t"/>
          <a:lstStyle/>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Couper l'électricité</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Ne pas traverser zones inondées</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Aider personnes vulnérables</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Contacter les secours</a:t>
            </a:r>
            <a:endParaRPr lang="en-US" sz="900" dirty="0"/>
          </a:p>
        </p:txBody>
      </p:sp>
      <p:sp>
        <p:nvSpPr>
          <p:cNvPr id="40" name="Shape 37"/>
          <p:cNvSpPr/>
          <p:nvPr/>
        </p:nvSpPr>
        <p:spPr>
          <a:xfrm>
            <a:off x="8046720" y="5212080"/>
            <a:ext cx="3611880" cy="1417320"/>
          </a:xfrm>
          <a:prstGeom prst="rect">
            <a:avLst/>
          </a:prstGeom>
          <a:solidFill>
            <a:srgbClr val="FFFFFF"/>
          </a:solidFill>
          <a:ln w="12700">
            <a:solidFill>
              <a:srgbClr val="E2E8F0"/>
            </a:solidFill>
            <a:prstDash val="solid"/>
          </a:ln>
        </p:spPr>
      </p:sp>
      <p:sp>
        <p:nvSpPr>
          <p:cNvPr id="41" name="Shape 38"/>
          <p:cNvSpPr/>
          <p:nvPr/>
        </p:nvSpPr>
        <p:spPr>
          <a:xfrm>
            <a:off x="8046720" y="5212080"/>
            <a:ext cx="3611880" cy="320040"/>
          </a:xfrm>
          <a:prstGeom prst="rect">
            <a:avLst/>
          </a:prstGeom>
          <a:solidFill>
            <a:srgbClr val="059669"/>
          </a:solidFill>
          <a:ln w="12700">
            <a:solidFill>
              <a:srgbClr val="059669"/>
            </a:solidFill>
            <a:prstDash val="solid"/>
          </a:ln>
        </p:spPr>
      </p:sp>
      <p:sp>
        <p:nvSpPr>
          <p:cNvPr id="42" name="Text 39"/>
          <p:cNvSpPr/>
          <p:nvPr/>
        </p:nvSpPr>
        <p:spPr>
          <a:xfrm>
            <a:off x="8183880" y="5212080"/>
            <a:ext cx="3337560" cy="320040"/>
          </a:xfrm>
          <a:prstGeom prst="rect">
            <a:avLst/>
          </a:prstGeom>
          <a:noFill/>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APRÈS</a:t>
            </a:r>
            <a:endParaRPr lang="en-US" sz="1100" dirty="0"/>
          </a:p>
        </p:txBody>
      </p:sp>
      <p:sp>
        <p:nvSpPr>
          <p:cNvPr id="43" name="Text 40"/>
          <p:cNvSpPr/>
          <p:nvPr/>
        </p:nvSpPr>
        <p:spPr>
          <a:xfrm>
            <a:off x="8275320" y="5623560"/>
            <a:ext cx="3200400" cy="960120"/>
          </a:xfrm>
          <a:prstGeom prst="rect">
            <a:avLst/>
          </a:prstGeom>
          <a:noFill/>
        </p:spPr>
        <p:txBody>
          <a:bodyPr wrap="square" lIns="0" tIns="0" rIns="0" bIns="0" rtlCol="0" anchor="t"/>
          <a:lstStyle/>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Attendre autorisation officielle</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Porter gants &amp; bottes</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Aérer &amp; vérifier murs</a:t>
            </a:r>
            <a:endParaRPr lang="en-US" sz="900" dirty="0"/>
          </a:p>
          <a:p>
            <a:pPr marL="342900" indent="-342900">
              <a:spcAft>
                <a:spcPts val="200"/>
              </a:spcAft>
              <a:buSzPct val="100000"/>
              <a:buChar char="■"/>
            </a:pPr>
            <a:r>
              <a:rPr lang="en-US" sz="900" dirty="0">
                <a:solidFill>
                  <a:srgbClr val="475569"/>
                </a:solidFill>
                <a:latin typeface="Calibri" pitchFamily="34" charset="0"/>
                <a:ea typeface="Calibri" pitchFamily="34" charset="-122"/>
                <a:cs typeface="Calibri" pitchFamily="34" charset="-120"/>
              </a:rPr>
              <a:t>Déclarer sinistres</a:t>
            </a:r>
            <a:endParaRPr lang="en-US" sz="900" dirty="0"/>
          </a:p>
        </p:txBody>
      </p:sp>
      <p:sp>
        <p:nvSpPr>
          <p:cNvPr id="44" name="Shape 41"/>
          <p:cNvSpPr/>
          <p:nvPr/>
        </p:nvSpPr>
        <p:spPr>
          <a:xfrm>
            <a:off x="0" y="6537960"/>
            <a:ext cx="12161520" cy="320040"/>
          </a:xfrm>
          <a:prstGeom prst="rect">
            <a:avLst/>
          </a:prstGeom>
          <a:solidFill>
            <a:srgbClr val="0D47A1"/>
          </a:solidFill>
          <a:ln w="12700">
            <a:solidFill>
              <a:srgbClr val="0D47A1"/>
            </a:solidFill>
            <a:prstDash val="solid"/>
          </a:ln>
        </p:spPr>
      </p:sp>
      <p:sp>
        <p:nvSpPr>
          <p:cNvPr id="45" name="Text 42"/>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6" name="Text 43"/>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47" name="Text 44"/>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DU PROTOTYPE AU SYSTÈME NATIONAL</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L'ANACIM, partenaire stratégique pour passer à l'échelle</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7C3AED"/>
          </a:solidFill>
          <a:ln w="12700">
            <a:solidFill>
              <a:srgbClr val="7C3AED"/>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PAPA + ADAMA</a:t>
            </a:r>
            <a:endParaRPr lang="en-US" sz="1000" dirty="0"/>
          </a:p>
        </p:txBody>
      </p:sp>
      <p:sp>
        <p:nvSpPr>
          <p:cNvPr id="9" name="Text 7"/>
          <p:cNvSpPr/>
          <p:nvPr/>
        </p:nvSpPr>
        <p:spPr>
          <a:xfrm>
            <a:off x="548640" y="1965960"/>
            <a:ext cx="5486400" cy="365760"/>
          </a:xfrm>
          <a:prstGeom prst="rect">
            <a:avLst/>
          </a:prstGeom>
          <a:noFill/>
        </p:spPr>
        <p:txBody>
          <a:bodyPr wrap="square" lIns="0" tIns="0" rIns="0" bIns="0" rtlCol="0" anchor="ctr"/>
          <a:lstStyle/>
          <a:p>
            <a:pPr marL="0" indent="0">
              <a:buNone/>
            </a:pPr>
            <a:r>
              <a:rPr lang="en-US" sz="1200" b="1" kern="0" spc="200" dirty="0">
                <a:solidFill>
                  <a:srgbClr val="94A3B8"/>
                </a:solidFill>
                <a:latin typeface="Calibri" pitchFamily="34" charset="0"/>
                <a:ea typeface="Calibri" pitchFamily="34" charset="-122"/>
                <a:cs typeface="Calibri" pitchFamily="34" charset="-120"/>
              </a:rPr>
              <a:t>État actuel — prototype validé</a:t>
            </a:r>
            <a:endParaRPr lang="en-US" sz="1200" dirty="0"/>
          </a:p>
        </p:txBody>
      </p:sp>
      <p:sp>
        <p:nvSpPr>
          <p:cNvPr id="10" name="Shape 8"/>
          <p:cNvSpPr/>
          <p:nvPr/>
        </p:nvSpPr>
        <p:spPr>
          <a:xfrm>
            <a:off x="548640" y="2331720"/>
            <a:ext cx="5486400" cy="1691640"/>
          </a:xfrm>
          <a:prstGeom prst="rect">
            <a:avLst/>
          </a:prstGeom>
          <a:solidFill>
            <a:srgbClr val="FFFFFF"/>
          </a:solidFill>
          <a:ln w="12700">
            <a:solidFill>
              <a:srgbClr val="E2E8F0"/>
            </a:solidFill>
            <a:prstDash val="solid"/>
          </a:ln>
        </p:spPr>
      </p:sp>
      <p:pic>
        <p:nvPicPr>
          <p:cNvPr id="11" name="Image 0" descr="preencoded.png"/>
          <p:cNvPicPr>
            <a:picLocks noChangeAspect="1"/>
          </p:cNvPicPr>
          <p:nvPr/>
        </p:nvPicPr>
        <p:blipFill>
          <a:blip r:embed="rId1"/>
          <a:stretch>
            <a:fillRect/>
          </a:stretch>
        </p:blipFill>
        <p:spPr>
          <a:xfrm>
            <a:off x="777240" y="2560320"/>
            <a:ext cx="457200" cy="457200"/>
          </a:xfrm>
          <a:prstGeom prst="rect">
            <a:avLst/>
          </a:prstGeom>
        </p:spPr>
      </p:pic>
      <p:sp>
        <p:nvSpPr>
          <p:cNvPr id="12" name="Text 9"/>
          <p:cNvSpPr/>
          <p:nvPr/>
        </p:nvSpPr>
        <p:spPr>
          <a:xfrm>
            <a:off x="1371600" y="2468880"/>
            <a:ext cx="4572000" cy="365760"/>
          </a:xfrm>
          <a:prstGeom prst="rect">
            <a:avLst/>
          </a:prstGeom>
          <a:noFill/>
        </p:spPr>
        <p:txBody>
          <a:bodyPr wrap="square" lIns="0" tIns="0" rIns="0" bIns="0" rtlCol="0" anchor="ctr"/>
          <a:lstStyle/>
          <a:p>
            <a:pPr marL="0" indent="0">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Source : Open-Meteo</a:t>
            </a:r>
            <a:endParaRPr lang="en-US" sz="1300" dirty="0"/>
          </a:p>
        </p:txBody>
      </p:sp>
      <p:sp>
        <p:nvSpPr>
          <p:cNvPr id="13" name="Text 10"/>
          <p:cNvSpPr/>
          <p:nvPr/>
        </p:nvSpPr>
        <p:spPr>
          <a:xfrm>
            <a:off x="777240" y="3108960"/>
            <a:ext cx="5029200" cy="868680"/>
          </a:xfrm>
          <a:prstGeom prst="rect">
            <a:avLst/>
          </a:prstGeom>
          <a:noFill/>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Réanalyses horaires internationales, données ouvertes 2005-2025, 6 zones sénégalaises. Validation scientifique : AUC = 1,000 sur 2 202 observations.</a:t>
            </a:r>
            <a:endParaRPr lang="en-US" sz="1100" dirty="0"/>
          </a:p>
        </p:txBody>
      </p:sp>
      <p:sp>
        <p:nvSpPr>
          <p:cNvPr id="14" name="Shape 11"/>
          <p:cNvSpPr/>
          <p:nvPr/>
        </p:nvSpPr>
        <p:spPr>
          <a:xfrm>
            <a:off x="5852160" y="2926080"/>
            <a:ext cx="640080" cy="640080"/>
          </a:xfrm>
          <a:prstGeom prst="ellipse">
            <a:avLst/>
          </a:prstGeom>
          <a:solidFill>
            <a:srgbClr val="F59E0B"/>
          </a:solidFill>
          <a:ln w="12700">
            <a:solidFill>
              <a:srgbClr val="F59E0B"/>
            </a:solidFill>
            <a:prstDash val="solid"/>
          </a:ln>
        </p:spPr>
      </p:sp>
      <p:pic>
        <p:nvPicPr>
          <p:cNvPr id="15" name="Image 1" descr="preencoded.png"/>
          <p:cNvPicPr>
            <a:picLocks noChangeAspect="1"/>
          </p:cNvPicPr>
          <p:nvPr/>
        </p:nvPicPr>
        <p:blipFill>
          <a:blip r:embed="rId2"/>
          <a:stretch>
            <a:fillRect/>
          </a:stretch>
        </p:blipFill>
        <p:spPr>
          <a:xfrm>
            <a:off x="5989320" y="3063240"/>
            <a:ext cx="365760" cy="365760"/>
          </a:xfrm>
          <a:prstGeom prst="rect">
            <a:avLst/>
          </a:prstGeom>
        </p:spPr>
      </p:pic>
      <p:sp>
        <p:nvSpPr>
          <p:cNvPr id="16" name="Text 12"/>
          <p:cNvSpPr/>
          <p:nvPr/>
        </p:nvSpPr>
        <p:spPr>
          <a:xfrm>
            <a:off x="6492240" y="1965960"/>
            <a:ext cx="5120640" cy="365760"/>
          </a:xfrm>
          <a:prstGeom prst="rect">
            <a:avLst/>
          </a:prstGeom>
          <a:noFill/>
        </p:spPr>
        <p:txBody>
          <a:bodyPr wrap="square" lIns="0" tIns="0" rIns="0" bIns="0" rtlCol="0" anchor="ctr"/>
          <a:lstStyle/>
          <a:p>
            <a:pPr marL="0" indent="0">
              <a:buNone/>
            </a:pPr>
            <a:r>
              <a:rPr lang="en-US" sz="1200" b="1" kern="0" spc="200" dirty="0">
                <a:solidFill>
                  <a:srgbClr val="D97706"/>
                </a:solidFill>
                <a:latin typeface="Calibri" pitchFamily="34" charset="0"/>
                <a:ea typeface="Calibri" pitchFamily="34" charset="-122"/>
                <a:cs typeface="Calibri" pitchFamily="34" charset="-120"/>
              </a:rPr>
              <a:t>Cible — partenariat ANACIM</a:t>
            </a:r>
            <a:endParaRPr lang="en-US" sz="1200" dirty="0"/>
          </a:p>
        </p:txBody>
      </p:sp>
      <p:sp>
        <p:nvSpPr>
          <p:cNvPr id="17" name="Shape 13"/>
          <p:cNvSpPr/>
          <p:nvPr/>
        </p:nvSpPr>
        <p:spPr>
          <a:xfrm>
            <a:off x="6492240" y="2331720"/>
            <a:ext cx="5120640" cy="1691640"/>
          </a:xfrm>
          <a:prstGeom prst="rect">
            <a:avLst/>
          </a:prstGeom>
          <a:solidFill>
            <a:srgbClr val="0D47A1"/>
          </a:solidFill>
          <a:ln w="12700">
            <a:solidFill>
              <a:srgbClr val="0D47A1"/>
            </a:solidFill>
            <a:prstDash val="solid"/>
          </a:ln>
          <a:effectLst>
            <a:outerShdw blurRad="101600" dist="25400" dir="5400000" algn="bl" rotWithShape="0">
              <a:srgbClr val="000000">
                <a:alpha val="10000"/>
              </a:srgbClr>
            </a:outerShdw>
          </a:effectLst>
        </p:spPr>
      </p:sp>
      <p:sp>
        <p:nvSpPr>
          <p:cNvPr id="18" name="Shape 14"/>
          <p:cNvSpPr/>
          <p:nvPr/>
        </p:nvSpPr>
        <p:spPr>
          <a:xfrm>
            <a:off x="6492240" y="2331720"/>
            <a:ext cx="5120640" cy="91440"/>
          </a:xfrm>
          <a:prstGeom prst="rect">
            <a:avLst/>
          </a:prstGeom>
          <a:solidFill>
            <a:srgbClr val="F59E0B"/>
          </a:solidFill>
          <a:ln w="12700">
            <a:solidFill>
              <a:srgbClr val="F59E0B"/>
            </a:solidFill>
            <a:prstDash val="solid"/>
          </a:ln>
        </p:spPr>
      </p:sp>
      <p:pic>
        <p:nvPicPr>
          <p:cNvPr id="19" name="Image 2" descr="preencoded.png"/>
          <p:cNvPicPr>
            <a:picLocks noChangeAspect="1"/>
          </p:cNvPicPr>
          <p:nvPr/>
        </p:nvPicPr>
        <p:blipFill>
          <a:blip r:embed="rId3"/>
          <a:stretch>
            <a:fillRect/>
          </a:stretch>
        </p:blipFill>
        <p:spPr>
          <a:xfrm>
            <a:off x="6720840" y="2606040"/>
            <a:ext cx="457200" cy="457200"/>
          </a:xfrm>
          <a:prstGeom prst="rect">
            <a:avLst/>
          </a:prstGeom>
        </p:spPr>
      </p:pic>
      <p:sp>
        <p:nvSpPr>
          <p:cNvPr id="20" name="Text 15"/>
          <p:cNvSpPr/>
          <p:nvPr/>
        </p:nvSpPr>
        <p:spPr>
          <a:xfrm>
            <a:off x="7315200" y="2514600"/>
            <a:ext cx="4206240" cy="365760"/>
          </a:xfrm>
          <a:prstGeom prst="rect">
            <a:avLst/>
          </a:prstGeom>
          <a:noFill/>
        </p:spPr>
        <p:txBody>
          <a:bodyPr wrap="square" lIns="0" tIns="0" rIns="0" bIns="0" rtlCol="0" anchor="ctr"/>
          <a:lstStyle/>
          <a:p>
            <a:pPr marL="0" indent="0">
              <a:buNone/>
            </a:pPr>
            <a:r>
              <a:rPr lang="en-US" sz="1300" b="1" dirty="0">
                <a:solidFill>
                  <a:srgbClr val="FFFFFF"/>
                </a:solidFill>
                <a:latin typeface="Georgia" panose="02040502050405090303" pitchFamily="34" charset="0"/>
                <a:ea typeface="Georgia" panose="02040502050405090303" pitchFamily="34" charset="-122"/>
                <a:cs typeface="Georgia" panose="02040502050405090303" pitchFamily="34" charset="-120"/>
              </a:rPr>
              <a:t>Données ANACIM en temps réel</a:t>
            </a:r>
            <a:endParaRPr lang="en-US" sz="1300" dirty="0"/>
          </a:p>
        </p:txBody>
      </p:sp>
      <p:sp>
        <p:nvSpPr>
          <p:cNvPr id="21" name="Text 16"/>
          <p:cNvSpPr/>
          <p:nvPr/>
        </p:nvSpPr>
        <p:spPr>
          <a:xfrm>
            <a:off x="6720840" y="3108960"/>
            <a:ext cx="4617720" cy="868680"/>
          </a:xfrm>
          <a:prstGeom prst="rect">
            <a:avLst/>
          </a:prstGeom>
          <a:noFill/>
        </p:spPr>
        <p:txBody>
          <a:bodyPr wrap="square" lIns="0" tIns="0" rIns="0" bIns="0" rtlCol="0" anchor="ctr"/>
          <a:lstStyle/>
          <a:p>
            <a:pPr marL="0" indent="0">
              <a:buNone/>
            </a:pPr>
            <a:r>
              <a:rPr lang="en-US" sz="1100" dirty="0">
                <a:solidFill>
                  <a:srgbClr val="42A5F5"/>
                </a:solidFill>
                <a:latin typeface="Calibri" pitchFamily="34" charset="0"/>
                <a:ea typeface="Calibri" pitchFamily="34" charset="-122"/>
                <a:cs typeface="Calibri" pitchFamily="34" charset="-120"/>
              </a:rPr>
              <a:t>Réseau pluviométrique national, prévisions opérationnelles, observations historiques géolocalisées. Précision locale fortement accrue.</a:t>
            </a:r>
            <a:endParaRPr lang="en-US" sz="1100" dirty="0"/>
          </a:p>
        </p:txBody>
      </p:sp>
      <p:sp>
        <p:nvSpPr>
          <p:cNvPr id="22" name="Text 17"/>
          <p:cNvSpPr/>
          <p:nvPr/>
        </p:nvSpPr>
        <p:spPr>
          <a:xfrm>
            <a:off x="548640" y="4251960"/>
            <a:ext cx="11064240" cy="365760"/>
          </a:xfrm>
          <a:prstGeom prst="rect">
            <a:avLst/>
          </a:prstGeom>
          <a:noFill/>
        </p:spPr>
        <p:txBody>
          <a:bodyPr wrap="square" lIns="0" tIns="0" rIns="0" bIns="0" rtlCol="0" anchor="ctr"/>
          <a:lstStyle/>
          <a:p>
            <a:pPr marL="0" indent="0" algn="ctr">
              <a:buNone/>
            </a:pPr>
            <a:r>
              <a:rPr lang="en-US" sz="1100" b="1" kern="0" spc="300" dirty="0">
                <a:solidFill>
                  <a:srgbClr val="1565C0"/>
                </a:solidFill>
                <a:latin typeface="Calibri" pitchFamily="34" charset="0"/>
                <a:ea typeface="Calibri" pitchFamily="34" charset="-122"/>
                <a:cs typeface="Calibri" pitchFamily="34" charset="-120"/>
              </a:rPr>
              <a:t>CE QUE LE PARTENARIAT ANACIM APPORTE</a:t>
            </a:r>
            <a:endParaRPr lang="en-US" sz="1100" dirty="0"/>
          </a:p>
        </p:txBody>
      </p:sp>
      <p:sp>
        <p:nvSpPr>
          <p:cNvPr id="23" name="Shape 18"/>
          <p:cNvSpPr/>
          <p:nvPr/>
        </p:nvSpPr>
        <p:spPr>
          <a:xfrm>
            <a:off x="548640" y="4709160"/>
            <a:ext cx="3611880" cy="169164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4" name="Shape 19"/>
          <p:cNvSpPr/>
          <p:nvPr/>
        </p:nvSpPr>
        <p:spPr>
          <a:xfrm>
            <a:off x="548640" y="4709160"/>
            <a:ext cx="3611880" cy="73152"/>
          </a:xfrm>
          <a:prstGeom prst="rect">
            <a:avLst/>
          </a:prstGeom>
          <a:solidFill>
            <a:srgbClr val="F59E0B"/>
          </a:solidFill>
          <a:ln w="12700">
            <a:solidFill>
              <a:srgbClr val="F59E0B"/>
            </a:solidFill>
            <a:prstDash val="solid"/>
          </a:ln>
        </p:spPr>
      </p:sp>
      <p:sp>
        <p:nvSpPr>
          <p:cNvPr id="25" name="Shape 20"/>
          <p:cNvSpPr/>
          <p:nvPr/>
        </p:nvSpPr>
        <p:spPr>
          <a:xfrm>
            <a:off x="2061972" y="4937760"/>
            <a:ext cx="594360" cy="594360"/>
          </a:xfrm>
          <a:prstGeom prst="ellipse">
            <a:avLst/>
          </a:prstGeom>
          <a:solidFill>
            <a:srgbClr val="FEF3C7"/>
          </a:solidFill>
          <a:ln w="12700">
            <a:solidFill>
              <a:srgbClr val="FEF3C7"/>
            </a:solidFill>
            <a:prstDash val="solid"/>
          </a:ln>
        </p:spPr>
      </p:sp>
      <p:pic>
        <p:nvPicPr>
          <p:cNvPr id="26" name="Image 3" descr="preencoded.png"/>
          <p:cNvPicPr>
            <a:picLocks noChangeAspect="1"/>
          </p:cNvPicPr>
          <p:nvPr/>
        </p:nvPicPr>
        <p:blipFill>
          <a:blip r:embed="rId4"/>
          <a:stretch>
            <a:fillRect/>
          </a:stretch>
        </p:blipFill>
        <p:spPr>
          <a:xfrm>
            <a:off x="2153412" y="5029200"/>
            <a:ext cx="411480" cy="411480"/>
          </a:xfrm>
          <a:prstGeom prst="rect">
            <a:avLst/>
          </a:prstGeom>
        </p:spPr>
      </p:pic>
      <p:sp>
        <p:nvSpPr>
          <p:cNvPr id="27" name="Text 21"/>
          <p:cNvSpPr/>
          <p:nvPr/>
        </p:nvSpPr>
        <p:spPr>
          <a:xfrm>
            <a:off x="731520" y="5623560"/>
            <a:ext cx="3246120" cy="320040"/>
          </a:xfrm>
          <a:prstGeom prst="rect">
            <a:avLst/>
          </a:prstGeom>
          <a:noFill/>
        </p:spPr>
        <p:txBody>
          <a:bodyPr wrap="square" lIns="0" tIns="0" rIns="0" bIns="0" rtlCol="0" anchor="ctr"/>
          <a:lstStyle/>
          <a:p>
            <a:pPr marL="0" indent="0" algn="ctr">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Calibration nationale</a:t>
            </a:r>
            <a:endParaRPr lang="en-US" sz="1300" dirty="0"/>
          </a:p>
        </p:txBody>
      </p:sp>
      <p:sp>
        <p:nvSpPr>
          <p:cNvPr id="28" name="Text 22"/>
          <p:cNvSpPr/>
          <p:nvPr/>
        </p:nvSpPr>
        <p:spPr>
          <a:xfrm>
            <a:off x="777240" y="5943600"/>
            <a:ext cx="3154680" cy="457200"/>
          </a:xfrm>
          <a:prstGeom prst="rect">
            <a:avLst/>
          </a:prstGeom>
          <a:noFill/>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Recalibrer les seuils-proxy pluvio sur observations réelles ANACIM (vs proxy P95/P97 actuel)</a:t>
            </a:r>
            <a:endParaRPr lang="en-US" sz="1000" dirty="0"/>
          </a:p>
        </p:txBody>
      </p:sp>
      <p:sp>
        <p:nvSpPr>
          <p:cNvPr id="29" name="Shape 23"/>
          <p:cNvSpPr/>
          <p:nvPr/>
        </p:nvSpPr>
        <p:spPr>
          <a:xfrm>
            <a:off x="4297680" y="4709160"/>
            <a:ext cx="3611880" cy="169164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30" name="Shape 24"/>
          <p:cNvSpPr/>
          <p:nvPr/>
        </p:nvSpPr>
        <p:spPr>
          <a:xfrm>
            <a:off x="4297680" y="4709160"/>
            <a:ext cx="3611880" cy="73152"/>
          </a:xfrm>
          <a:prstGeom prst="rect">
            <a:avLst/>
          </a:prstGeom>
          <a:solidFill>
            <a:srgbClr val="F59E0B"/>
          </a:solidFill>
          <a:ln w="12700">
            <a:solidFill>
              <a:srgbClr val="F59E0B"/>
            </a:solidFill>
            <a:prstDash val="solid"/>
          </a:ln>
        </p:spPr>
      </p:sp>
      <p:sp>
        <p:nvSpPr>
          <p:cNvPr id="31" name="Shape 25"/>
          <p:cNvSpPr/>
          <p:nvPr/>
        </p:nvSpPr>
        <p:spPr>
          <a:xfrm>
            <a:off x="5811012" y="4937760"/>
            <a:ext cx="594360" cy="594360"/>
          </a:xfrm>
          <a:prstGeom prst="ellipse">
            <a:avLst/>
          </a:prstGeom>
          <a:solidFill>
            <a:srgbClr val="FEF3C7"/>
          </a:solidFill>
          <a:ln w="12700">
            <a:solidFill>
              <a:srgbClr val="FEF3C7"/>
            </a:solidFill>
            <a:prstDash val="solid"/>
          </a:ln>
        </p:spPr>
      </p:sp>
      <p:pic>
        <p:nvPicPr>
          <p:cNvPr id="32" name="Image 4" descr="preencoded.png"/>
          <p:cNvPicPr>
            <a:picLocks noChangeAspect="1"/>
          </p:cNvPicPr>
          <p:nvPr/>
        </p:nvPicPr>
        <p:blipFill>
          <a:blip r:embed="rId5"/>
          <a:stretch>
            <a:fillRect/>
          </a:stretch>
        </p:blipFill>
        <p:spPr>
          <a:xfrm>
            <a:off x="5902452" y="5029200"/>
            <a:ext cx="411480" cy="411480"/>
          </a:xfrm>
          <a:prstGeom prst="rect">
            <a:avLst/>
          </a:prstGeom>
        </p:spPr>
      </p:pic>
      <p:sp>
        <p:nvSpPr>
          <p:cNvPr id="33" name="Text 26"/>
          <p:cNvSpPr/>
          <p:nvPr/>
        </p:nvSpPr>
        <p:spPr>
          <a:xfrm>
            <a:off x="4480560" y="5623560"/>
            <a:ext cx="3246120" cy="320040"/>
          </a:xfrm>
          <a:prstGeom prst="rect">
            <a:avLst/>
          </a:prstGeom>
          <a:noFill/>
        </p:spPr>
        <p:txBody>
          <a:bodyPr wrap="square" lIns="0" tIns="0" rIns="0" bIns="0" rtlCol="0" anchor="ctr"/>
          <a:lstStyle/>
          <a:p>
            <a:pPr marL="0" indent="0" algn="ctr">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Alerte 24-48h</a:t>
            </a:r>
            <a:endParaRPr lang="en-US" sz="1300" dirty="0"/>
          </a:p>
        </p:txBody>
      </p:sp>
      <p:sp>
        <p:nvSpPr>
          <p:cNvPr id="34" name="Text 27"/>
          <p:cNvSpPr/>
          <p:nvPr/>
        </p:nvSpPr>
        <p:spPr>
          <a:xfrm>
            <a:off x="4526280" y="5943600"/>
            <a:ext cx="3154680" cy="457200"/>
          </a:xfrm>
          <a:prstGeom prst="rect">
            <a:avLst/>
          </a:prstGeom>
          <a:noFill/>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Coupler les prévisions opérationnelles ANACIM au modèle RF pour des alertes préventives</a:t>
            </a:r>
            <a:endParaRPr lang="en-US" sz="1000" dirty="0"/>
          </a:p>
        </p:txBody>
      </p:sp>
      <p:sp>
        <p:nvSpPr>
          <p:cNvPr id="35" name="Shape 28"/>
          <p:cNvSpPr/>
          <p:nvPr/>
        </p:nvSpPr>
        <p:spPr>
          <a:xfrm>
            <a:off x="8046720" y="4709160"/>
            <a:ext cx="3611880" cy="169164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36" name="Shape 29"/>
          <p:cNvSpPr/>
          <p:nvPr/>
        </p:nvSpPr>
        <p:spPr>
          <a:xfrm>
            <a:off x="8046720" y="4709160"/>
            <a:ext cx="3611880" cy="73152"/>
          </a:xfrm>
          <a:prstGeom prst="rect">
            <a:avLst/>
          </a:prstGeom>
          <a:solidFill>
            <a:srgbClr val="F59E0B"/>
          </a:solidFill>
          <a:ln w="12700">
            <a:solidFill>
              <a:srgbClr val="F59E0B"/>
            </a:solidFill>
            <a:prstDash val="solid"/>
          </a:ln>
        </p:spPr>
      </p:sp>
      <p:sp>
        <p:nvSpPr>
          <p:cNvPr id="37" name="Shape 30"/>
          <p:cNvSpPr/>
          <p:nvPr/>
        </p:nvSpPr>
        <p:spPr>
          <a:xfrm>
            <a:off x="9560052" y="4937760"/>
            <a:ext cx="594360" cy="594360"/>
          </a:xfrm>
          <a:prstGeom prst="ellipse">
            <a:avLst/>
          </a:prstGeom>
          <a:solidFill>
            <a:srgbClr val="FEF3C7"/>
          </a:solidFill>
          <a:ln w="12700">
            <a:solidFill>
              <a:srgbClr val="FEF3C7"/>
            </a:solidFill>
            <a:prstDash val="solid"/>
          </a:ln>
        </p:spPr>
      </p:sp>
      <p:pic>
        <p:nvPicPr>
          <p:cNvPr id="38" name="Image 5" descr="preencoded.png"/>
          <p:cNvPicPr>
            <a:picLocks noChangeAspect="1"/>
          </p:cNvPicPr>
          <p:nvPr/>
        </p:nvPicPr>
        <p:blipFill>
          <a:blip r:embed="rId6"/>
          <a:stretch>
            <a:fillRect/>
          </a:stretch>
        </p:blipFill>
        <p:spPr>
          <a:xfrm>
            <a:off x="9651492" y="5029200"/>
            <a:ext cx="411480" cy="411480"/>
          </a:xfrm>
          <a:prstGeom prst="rect">
            <a:avLst/>
          </a:prstGeom>
        </p:spPr>
      </p:pic>
      <p:sp>
        <p:nvSpPr>
          <p:cNvPr id="39" name="Text 31"/>
          <p:cNvSpPr/>
          <p:nvPr/>
        </p:nvSpPr>
        <p:spPr>
          <a:xfrm>
            <a:off x="8229600" y="5623560"/>
            <a:ext cx="3246120" cy="320040"/>
          </a:xfrm>
          <a:prstGeom prst="rect">
            <a:avLst/>
          </a:prstGeom>
          <a:noFill/>
        </p:spPr>
        <p:txBody>
          <a:bodyPr wrap="square" lIns="0" tIns="0" rIns="0" bIns="0" rtlCol="0" anchor="ctr"/>
          <a:lstStyle/>
          <a:p>
            <a:pPr marL="0" indent="0" algn="ctr">
              <a:buNone/>
            </a:pPr>
            <a:r>
              <a:rPr lang="en-US" sz="1300" b="1" dirty="0">
                <a:solidFill>
                  <a:srgbClr val="0D47A1"/>
                </a:solidFill>
                <a:latin typeface="Georgia" panose="02040502050405090303" pitchFamily="34" charset="0"/>
                <a:ea typeface="Georgia" panose="02040502050405090303" pitchFamily="34" charset="-122"/>
                <a:cs typeface="Georgia" panose="02040502050405090303" pitchFamily="34" charset="-120"/>
              </a:rPr>
              <a:t>Validation institutionnelle</a:t>
            </a:r>
            <a:endParaRPr lang="en-US" sz="1300" dirty="0"/>
          </a:p>
        </p:txBody>
      </p:sp>
      <p:sp>
        <p:nvSpPr>
          <p:cNvPr id="40" name="Text 32"/>
          <p:cNvSpPr/>
          <p:nvPr/>
        </p:nvSpPr>
        <p:spPr>
          <a:xfrm>
            <a:off x="8275320" y="5943600"/>
            <a:ext cx="3154680" cy="457200"/>
          </a:xfrm>
          <a:prstGeom prst="rect">
            <a:avLst/>
          </a:prstGeom>
          <a:noFill/>
        </p:spPr>
        <p:txBody>
          <a:bodyPr wrap="square" lIns="0" tIns="0" rIns="0" bIns="0"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Légitimer le système auprès des autorités et garantir la qualité des données diffusées</a:t>
            </a:r>
            <a:endParaRPr lang="en-US" sz="1000" dirty="0"/>
          </a:p>
        </p:txBody>
      </p:sp>
      <p:sp>
        <p:nvSpPr>
          <p:cNvPr id="41" name="Shape 33"/>
          <p:cNvSpPr/>
          <p:nvPr/>
        </p:nvSpPr>
        <p:spPr>
          <a:xfrm>
            <a:off x="0" y="6537960"/>
            <a:ext cx="12161520" cy="320040"/>
          </a:xfrm>
          <a:prstGeom prst="rect">
            <a:avLst/>
          </a:prstGeom>
          <a:solidFill>
            <a:srgbClr val="0D47A1"/>
          </a:solidFill>
          <a:ln w="12700">
            <a:solidFill>
              <a:srgbClr val="0D47A1"/>
            </a:solidFill>
            <a:prstDash val="solid"/>
          </a:ln>
        </p:spPr>
      </p:sp>
      <p:sp>
        <p:nvSpPr>
          <p:cNvPr id="42" name="Text 34"/>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3" name="Text 35"/>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PAPA + ADAMA</a:t>
            </a:r>
            <a:endParaRPr lang="en-US" sz="900" dirty="0"/>
          </a:p>
        </p:txBody>
      </p:sp>
      <p:sp>
        <p:nvSpPr>
          <p:cNvPr id="44" name="Text 36"/>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p:spPr>
        <p:txBody>
          <a:bodyPr wrap="square" lIns="0" tIns="0" rIns="0" bIns="0" rtlCol="0" anchor="ctr"/>
          <a:lstStyle/>
          <a:p>
            <a:pPr marL="0" indent="0">
              <a:buNone/>
            </a:pPr>
            <a:r>
              <a:rPr lang="en-US" sz="1100" b="1" kern="0" spc="400" dirty="0">
                <a:solidFill>
                  <a:srgbClr val="1565C0"/>
                </a:solidFill>
                <a:latin typeface="Calibri" pitchFamily="34" charset="0"/>
                <a:ea typeface="Calibri" pitchFamily="34" charset="-122"/>
                <a:cs typeface="Calibri" pitchFamily="34" charset="-120"/>
              </a:rPr>
              <a:t>FEUILLE DE ROUTE</a:t>
            </a:r>
            <a:endParaRPr lang="en-US" sz="1100" dirty="0"/>
          </a:p>
        </p:txBody>
      </p:sp>
      <p:sp>
        <p:nvSpPr>
          <p:cNvPr id="3" name="Text 1"/>
          <p:cNvSpPr/>
          <p:nvPr/>
        </p:nvSpPr>
        <p:spPr>
          <a:xfrm>
            <a:off x="548640" y="713232"/>
            <a:ext cx="10058400" cy="777240"/>
          </a:xfrm>
          <a:prstGeom prst="rect">
            <a:avLst/>
          </a:prstGeom>
          <a:noFill/>
        </p:spPr>
        <p:txBody>
          <a:bodyPr wrap="square" lIns="0" tIns="0" rIns="0" bIns="0" rtlCol="0" anchor="ctr"/>
          <a:lstStyle/>
          <a:p>
            <a:pPr marL="0" indent="0">
              <a:buNone/>
            </a:pPr>
            <a:r>
              <a:rPr lang="en-US" sz="3000" b="1" dirty="0">
                <a:solidFill>
                  <a:srgbClr val="0D47A1"/>
                </a:solidFill>
                <a:latin typeface="Georgia" panose="02040502050405090303" pitchFamily="34" charset="0"/>
                <a:ea typeface="Georgia" panose="02040502050405090303" pitchFamily="34" charset="-122"/>
                <a:cs typeface="Georgia" panose="02040502050405090303" pitchFamily="34" charset="-120"/>
              </a:rPr>
              <a:t>Du prototype validé au déploiement national</a:t>
            </a:r>
            <a:endParaRPr lang="en-US" sz="3000" dirty="0"/>
          </a:p>
        </p:txBody>
      </p:sp>
      <p:sp>
        <p:nvSpPr>
          <p:cNvPr id="4" name="Shape 2"/>
          <p:cNvSpPr/>
          <p:nvPr/>
        </p:nvSpPr>
        <p:spPr>
          <a:xfrm>
            <a:off x="548640" y="1517904"/>
            <a:ext cx="164592" cy="164592"/>
          </a:xfrm>
          <a:prstGeom prst="ellipse">
            <a:avLst/>
          </a:prstGeom>
          <a:solidFill>
            <a:srgbClr val="F59E0B"/>
          </a:solidFill>
          <a:ln w="12700">
            <a:solidFill>
              <a:srgbClr val="F59E0B"/>
            </a:solidFill>
            <a:prstDash val="solid"/>
          </a:ln>
        </p:spPr>
      </p:sp>
      <p:sp>
        <p:nvSpPr>
          <p:cNvPr id="5" name="Shape 3"/>
          <p:cNvSpPr/>
          <p:nvPr/>
        </p:nvSpPr>
        <p:spPr>
          <a:xfrm>
            <a:off x="777240" y="1517904"/>
            <a:ext cx="164592" cy="164592"/>
          </a:xfrm>
          <a:prstGeom prst="ellipse">
            <a:avLst/>
          </a:prstGeom>
          <a:solidFill>
            <a:srgbClr val="1565C0"/>
          </a:solidFill>
          <a:ln w="12700">
            <a:solidFill>
              <a:srgbClr val="1565C0"/>
            </a:solidFill>
            <a:prstDash val="solid"/>
          </a:ln>
        </p:spPr>
      </p:sp>
      <p:sp>
        <p:nvSpPr>
          <p:cNvPr id="6" name="Shape 4"/>
          <p:cNvSpPr/>
          <p:nvPr/>
        </p:nvSpPr>
        <p:spPr>
          <a:xfrm>
            <a:off x="1005840" y="1517904"/>
            <a:ext cx="164592" cy="164592"/>
          </a:xfrm>
          <a:prstGeom prst="ellipse">
            <a:avLst/>
          </a:prstGeom>
          <a:solidFill>
            <a:srgbClr val="E2E8F0"/>
          </a:solidFill>
          <a:ln w="12700">
            <a:solidFill>
              <a:srgbClr val="E2E8F0"/>
            </a:solidFill>
            <a:prstDash val="solid"/>
          </a:ln>
        </p:spPr>
      </p:sp>
      <p:sp>
        <p:nvSpPr>
          <p:cNvPr id="7" name="Shape 5"/>
          <p:cNvSpPr/>
          <p:nvPr/>
        </p:nvSpPr>
        <p:spPr>
          <a:xfrm>
            <a:off x="9692640" y="411480"/>
            <a:ext cx="1920240" cy="411480"/>
          </a:xfrm>
          <a:prstGeom prst="roundRect">
            <a:avLst>
              <a:gd name="adj" fmla="val 11111"/>
            </a:avLst>
          </a:prstGeom>
          <a:solidFill>
            <a:srgbClr val="0891B2"/>
          </a:solidFill>
          <a:ln w="12700">
            <a:solidFill>
              <a:srgbClr val="0891B2"/>
            </a:solidFill>
            <a:prstDash val="solid"/>
          </a:ln>
        </p:spPr>
      </p:sp>
      <p:sp>
        <p:nvSpPr>
          <p:cNvPr id="8" name="Text 6"/>
          <p:cNvSpPr/>
          <p:nvPr/>
        </p:nvSpPr>
        <p:spPr>
          <a:xfrm>
            <a:off x="9692640" y="411480"/>
            <a:ext cx="1920240" cy="411480"/>
          </a:xfrm>
          <a:prstGeom prst="rect">
            <a:avLst/>
          </a:prstGeom>
          <a:noFill/>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ADAMA  ·  STRATÉGIE</a:t>
            </a:r>
            <a:endParaRPr lang="en-US" sz="1000" dirty="0"/>
          </a:p>
        </p:txBody>
      </p:sp>
      <p:sp>
        <p:nvSpPr>
          <p:cNvPr id="9" name="Text 7"/>
          <p:cNvSpPr/>
          <p:nvPr/>
        </p:nvSpPr>
        <p:spPr>
          <a:xfrm>
            <a:off x="548640" y="1920240"/>
            <a:ext cx="11064240" cy="457200"/>
          </a:xfrm>
          <a:prstGeom prst="rect">
            <a:avLst/>
          </a:prstGeom>
          <a:noFill/>
        </p:spPr>
        <p:txBody>
          <a:bodyPr wrap="square" lIns="0" tIns="0" rIns="0" bIns="0"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Une trajectoire en quatre phases, pilotée conjointement avec la Direction et l'ANACIM.</a:t>
            </a:r>
            <a:endParaRPr lang="en-US" sz="1300" dirty="0"/>
          </a:p>
        </p:txBody>
      </p:sp>
      <p:sp>
        <p:nvSpPr>
          <p:cNvPr id="10" name="Shape 8"/>
          <p:cNvSpPr/>
          <p:nvPr/>
        </p:nvSpPr>
        <p:spPr>
          <a:xfrm>
            <a:off x="822960" y="2926080"/>
            <a:ext cx="10515600" cy="54864"/>
          </a:xfrm>
          <a:prstGeom prst="rect">
            <a:avLst/>
          </a:prstGeom>
          <a:solidFill>
            <a:srgbClr val="E2E8F0"/>
          </a:solidFill>
          <a:ln w="12700">
            <a:solidFill>
              <a:srgbClr val="E2E8F0"/>
            </a:solidFill>
            <a:prstDash val="solid"/>
          </a:ln>
        </p:spPr>
      </p:sp>
      <p:sp>
        <p:nvSpPr>
          <p:cNvPr id="11" name="Shape 9"/>
          <p:cNvSpPr/>
          <p:nvPr/>
        </p:nvSpPr>
        <p:spPr>
          <a:xfrm>
            <a:off x="1938528" y="2816352"/>
            <a:ext cx="274320" cy="274320"/>
          </a:xfrm>
          <a:prstGeom prst="ellipse">
            <a:avLst/>
          </a:prstGeom>
          <a:solidFill>
            <a:srgbClr val="F59E0B"/>
          </a:solidFill>
          <a:ln w="25400">
            <a:solidFill>
              <a:srgbClr val="FFFFFF"/>
            </a:solidFill>
            <a:prstDash val="solid"/>
          </a:ln>
        </p:spPr>
      </p:sp>
      <p:sp>
        <p:nvSpPr>
          <p:cNvPr id="12" name="Shape 10"/>
          <p:cNvSpPr/>
          <p:nvPr/>
        </p:nvSpPr>
        <p:spPr>
          <a:xfrm>
            <a:off x="822960" y="3246120"/>
            <a:ext cx="2560320" cy="18288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13" name="Shape 11"/>
          <p:cNvSpPr/>
          <p:nvPr/>
        </p:nvSpPr>
        <p:spPr>
          <a:xfrm>
            <a:off x="822960" y="3246120"/>
            <a:ext cx="2560320" cy="54864"/>
          </a:xfrm>
          <a:prstGeom prst="rect">
            <a:avLst/>
          </a:prstGeom>
          <a:solidFill>
            <a:srgbClr val="F59E0B"/>
          </a:solidFill>
          <a:ln w="12700">
            <a:solidFill>
              <a:srgbClr val="F59E0B"/>
            </a:solidFill>
            <a:prstDash val="solid"/>
          </a:ln>
        </p:spPr>
      </p:sp>
      <p:sp>
        <p:nvSpPr>
          <p:cNvPr id="14" name="Text 12"/>
          <p:cNvSpPr/>
          <p:nvPr/>
        </p:nvSpPr>
        <p:spPr>
          <a:xfrm>
            <a:off x="960120" y="3383280"/>
            <a:ext cx="2286000" cy="274320"/>
          </a:xfrm>
          <a:prstGeom prst="rect">
            <a:avLst/>
          </a:prstGeom>
          <a:noFill/>
        </p:spPr>
        <p:txBody>
          <a:bodyPr wrap="square" lIns="0" tIns="0" rIns="0" bIns="0" rtlCol="0" anchor="ctr"/>
          <a:lstStyle/>
          <a:p>
            <a:pPr marL="0" indent="0">
              <a:buNone/>
            </a:pPr>
            <a:r>
              <a:rPr lang="en-US" sz="900" b="1" kern="0" spc="300" dirty="0">
                <a:solidFill>
                  <a:srgbClr val="F59E0B"/>
                </a:solidFill>
                <a:latin typeface="Calibri" pitchFamily="34" charset="0"/>
                <a:ea typeface="Calibri" pitchFamily="34" charset="-122"/>
                <a:cs typeface="Calibri" pitchFamily="34" charset="-120"/>
              </a:rPr>
              <a:t>PHASE 1</a:t>
            </a:r>
            <a:endParaRPr lang="en-US" sz="900" dirty="0"/>
          </a:p>
        </p:txBody>
      </p:sp>
      <p:sp>
        <p:nvSpPr>
          <p:cNvPr id="15" name="Text 13"/>
          <p:cNvSpPr/>
          <p:nvPr/>
        </p:nvSpPr>
        <p:spPr>
          <a:xfrm>
            <a:off x="960120" y="3657600"/>
            <a:ext cx="2286000" cy="365760"/>
          </a:xfrm>
          <a:prstGeom prst="rect">
            <a:avLst/>
          </a:prstGeom>
          <a:noFill/>
        </p:spPr>
        <p:txBody>
          <a:bodyPr wrap="square" lIns="0" tIns="0" rIns="0" bIns="0" rtlCol="0" anchor="ctr"/>
          <a:lstStyle/>
          <a:p>
            <a:pPr marL="0" indent="0">
              <a:buNone/>
            </a:pPr>
            <a:r>
              <a:rPr lang="en-US" sz="1600" b="1" dirty="0">
                <a:solidFill>
                  <a:srgbClr val="0D47A1"/>
                </a:solidFill>
                <a:latin typeface="Georgia" panose="02040502050405090303" pitchFamily="34" charset="0"/>
                <a:ea typeface="Georgia" panose="02040502050405090303" pitchFamily="34" charset="-122"/>
                <a:cs typeface="Georgia" panose="02040502050405090303" pitchFamily="34" charset="-120"/>
              </a:rPr>
              <a:t>Cadrage</a:t>
            </a:r>
            <a:endParaRPr lang="en-US" sz="1600" dirty="0"/>
          </a:p>
        </p:txBody>
      </p:sp>
      <p:sp>
        <p:nvSpPr>
          <p:cNvPr id="16" name="Text 14"/>
          <p:cNvSpPr/>
          <p:nvPr/>
        </p:nvSpPr>
        <p:spPr>
          <a:xfrm>
            <a:off x="960120" y="4023360"/>
            <a:ext cx="2286000" cy="274320"/>
          </a:xfrm>
          <a:prstGeom prst="rect">
            <a:avLst/>
          </a:prstGeom>
          <a:noFill/>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0-3 mois</a:t>
            </a:r>
            <a:endParaRPr lang="en-US" sz="1000" dirty="0"/>
          </a:p>
        </p:txBody>
      </p:sp>
      <p:sp>
        <p:nvSpPr>
          <p:cNvPr id="17" name="Text 15"/>
          <p:cNvSpPr/>
          <p:nvPr/>
        </p:nvSpPr>
        <p:spPr>
          <a:xfrm>
            <a:off x="960120" y="4297680"/>
            <a:ext cx="2286000" cy="7772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Convention partenariat ANACIM + DPGI · accès aux données pluvio · choix d'un quartier pilote</a:t>
            </a:r>
            <a:endParaRPr lang="en-US" sz="1000" dirty="0"/>
          </a:p>
        </p:txBody>
      </p:sp>
      <p:sp>
        <p:nvSpPr>
          <p:cNvPr id="18" name="Shape 16"/>
          <p:cNvSpPr/>
          <p:nvPr/>
        </p:nvSpPr>
        <p:spPr>
          <a:xfrm>
            <a:off x="4590288" y="2816352"/>
            <a:ext cx="274320" cy="274320"/>
          </a:xfrm>
          <a:prstGeom prst="ellipse">
            <a:avLst/>
          </a:prstGeom>
          <a:solidFill>
            <a:srgbClr val="1565C0"/>
          </a:solidFill>
          <a:ln w="25400">
            <a:solidFill>
              <a:srgbClr val="FFFFFF"/>
            </a:solidFill>
            <a:prstDash val="solid"/>
          </a:ln>
        </p:spPr>
      </p:sp>
      <p:sp>
        <p:nvSpPr>
          <p:cNvPr id="19" name="Shape 17"/>
          <p:cNvSpPr/>
          <p:nvPr/>
        </p:nvSpPr>
        <p:spPr>
          <a:xfrm>
            <a:off x="3474720" y="3246120"/>
            <a:ext cx="2560320" cy="18288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0" name="Shape 18"/>
          <p:cNvSpPr/>
          <p:nvPr/>
        </p:nvSpPr>
        <p:spPr>
          <a:xfrm>
            <a:off x="3474720" y="3246120"/>
            <a:ext cx="2560320" cy="54864"/>
          </a:xfrm>
          <a:prstGeom prst="rect">
            <a:avLst/>
          </a:prstGeom>
          <a:solidFill>
            <a:srgbClr val="1565C0"/>
          </a:solidFill>
          <a:ln w="12700">
            <a:solidFill>
              <a:srgbClr val="1565C0"/>
            </a:solidFill>
            <a:prstDash val="solid"/>
          </a:ln>
        </p:spPr>
      </p:sp>
      <p:sp>
        <p:nvSpPr>
          <p:cNvPr id="21" name="Text 19"/>
          <p:cNvSpPr/>
          <p:nvPr/>
        </p:nvSpPr>
        <p:spPr>
          <a:xfrm>
            <a:off x="3611880" y="3383280"/>
            <a:ext cx="2286000" cy="274320"/>
          </a:xfrm>
          <a:prstGeom prst="rect">
            <a:avLst/>
          </a:prstGeom>
          <a:noFill/>
        </p:spPr>
        <p:txBody>
          <a:bodyPr wrap="square" lIns="0" tIns="0" rIns="0" bIns="0" rtlCol="0" anchor="ctr"/>
          <a:lstStyle/>
          <a:p>
            <a:pPr marL="0" indent="0">
              <a:buNone/>
            </a:pPr>
            <a:r>
              <a:rPr lang="en-US" sz="900" b="1" kern="0" spc="300" dirty="0">
                <a:solidFill>
                  <a:srgbClr val="1565C0"/>
                </a:solidFill>
                <a:latin typeface="Calibri" pitchFamily="34" charset="0"/>
                <a:ea typeface="Calibri" pitchFamily="34" charset="-122"/>
                <a:cs typeface="Calibri" pitchFamily="34" charset="-120"/>
              </a:rPr>
              <a:t>PHASE 2</a:t>
            </a:r>
            <a:endParaRPr lang="en-US" sz="900" dirty="0"/>
          </a:p>
        </p:txBody>
      </p:sp>
      <p:sp>
        <p:nvSpPr>
          <p:cNvPr id="22" name="Text 20"/>
          <p:cNvSpPr/>
          <p:nvPr/>
        </p:nvSpPr>
        <p:spPr>
          <a:xfrm>
            <a:off x="3611880" y="3657600"/>
            <a:ext cx="2286000" cy="365760"/>
          </a:xfrm>
          <a:prstGeom prst="rect">
            <a:avLst/>
          </a:prstGeom>
          <a:noFill/>
        </p:spPr>
        <p:txBody>
          <a:bodyPr wrap="square" lIns="0" tIns="0" rIns="0" bIns="0" rtlCol="0" anchor="ctr"/>
          <a:lstStyle/>
          <a:p>
            <a:pPr marL="0" indent="0">
              <a:buNone/>
            </a:pPr>
            <a:r>
              <a:rPr lang="en-US" sz="1600" b="1" dirty="0">
                <a:solidFill>
                  <a:srgbClr val="0D47A1"/>
                </a:solidFill>
                <a:latin typeface="Georgia" panose="02040502050405090303" pitchFamily="34" charset="0"/>
                <a:ea typeface="Georgia" panose="02040502050405090303" pitchFamily="34" charset="-122"/>
                <a:cs typeface="Georgia" panose="02040502050405090303" pitchFamily="34" charset="-120"/>
              </a:rPr>
              <a:t>Intégration</a:t>
            </a:r>
            <a:endParaRPr lang="en-US" sz="1600" dirty="0"/>
          </a:p>
        </p:txBody>
      </p:sp>
      <p:sp>
        <p:nvSpPr>
          <p:cNvPr id="23" name="Text 21"/>
          <p:cNvSpPr/>
          <p:nvPr/>
        </p:nvSpPr>
        <p:spPr>
          <a:xfrm>
            <a:off x="3611880" y="4023360"/>
            <a:ext cx="2286000" cy="274320"/>
          </a:xfrm>
          <a:prstGeom prst="rect">
            <a:avLst/>
          </a:prstGeom>
          <a:noFill/>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3-9 mois</a:t>
            </a:r>
            <a:endParaRPr lang="en-US" sz="1000" dirty="0"/>
          </a:p>
        </p:txBody>
      </p:sp>
      <p:sp>
        <p:nvSpPr>
          <p:cNvPr id="24" name="Text 22"/>
          <p:cNvSpPr/>
          <p:nvPr/>
        </p:nvSpPr>
        <p:spPr>
          <a:xfrm>
            <a:off x="3611880" y="4297680"/>
            <a:ext cx="2286000" cy="7772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Connexion API ANACIM · recalibration RF · pilote opérationnel sur Keur Massar / Pikine</a:t>
            </a:r>
            <a:endParaRPr lang="en-US" sz="1000" dirty="0"/>
          </a:p>
        </p:txBody>
      </p:sp>
      <p:sp>
        <p:nvSpPr>
          <p:cNvPr id="25" name="Shape 23"/>
          <p:cNvSpPr/>
          <p:nvPr/>
        </p:nvSpPr>
        <p:spPr>
          <a:xfrm>
            <a:off x="7242048" y="2816352"/>
            <a:ext cx="274320" cy="274320"/>
          </a:xfrm>
          <a:prstGeom prst="ellipse">
            <a:avLst/>
          </a:prstGeom>
          <a:solidFill>
            <a:srgbClr val="1565C0"/>
          </a:solidFill>
          <a:ln w="25400">
            <a:solidFill>
              <a:srgbClr val="FFFFFF"/>
            </a:solidFill>
            <a:prstDash val="solid"/>
          </a:ln>
        </p:spPr>
      </p:sp>
      <p:sp>
        <p:nvSpPr>
          <p:cNvPr id="26" name="Shape 24"/>
          <p:cNvSpPr/>
          <p:nvPr/>
        </p:nvSpPr>
        <p:spPr>
          <a:xfrm>
            <a:off x="6126480" y="3246120"/>
            <a:ext cx="2560320" cy="18288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27" name="Shape 25"/>
          <p:cNvSpPr/>
          <p:nvPr/>
        </p:nvSpPr>
        <p:spPr>
          <a:xfrm>
            <a:off x="6126480" y="3246120"/>
            <a:ext cx="2560320" cy="54864"/>
          </a:xfrm>
          <a:prstGeom prst="rect">
            <a:avLst/>
          </a:prstGeom>
          <a:solidFill>
            <a:srgbClr val="1565C0"/>
          </a:solidFill>
          <a:ln w="12700">
            <a:solidFill>
              <a:srgbClr val="1565C0"/>
            </a:solidFill>
            <a:prstDash val="solid"/>
          </a:ln>
        </p:spPr>
      </p:sp>
      <p:sp>
        <p:nvSpPr>
          <p:cNvPr id="28" name="Text 26"/>
          <p:cNvSpPr/>
          <p:nvPr/>
        </p:nvSpPr>
        <p:spPr>
          <a:xfrm>
            <a:off x="6263640" y="3383280"/>
            <a:ext cx="2286000" cy="274320"/>
          </a:xfrm>
          <a:prstGeom prst="rect">
            <a:avLst/>
          </a:prstGeom>
          <a:noFill/>
        </p:spPr>
        <p:txBody>
          <a:bodyPr wrap="square" lIns="0" tIns="0" rIns="0" bIns="0" rtlCol="0" anchor="ctr"/>
          <a:lstStyle/>
          <a:p>
            <a:pPr marL="0" indent="0">
              <a:buNone/>
            </a:pPr>
            <a:r>
              <a:rPr lang="en-US" sz="900" b="1" kern="0" spc="300" dirty="0">
                <a:solidFill>
                  <a:srgbClr val="1565C0"/>
                </a:solidFill>
                <a:latin typeface="Calibri" pitchFamily="34" charset="0"/>
                <a:ea typeface="Calibri" pitchFamily="34" charset="-122"/>
                <a:cs typeface="Calibri" pitchFamily="34" charset="-120"/>
              </a:rPr>
              <a:t>PHASE 3</a:t>
            </a:r>
            <a:endParaRPr lang="en-US" sz="900" dirty="0"/>
          </a:p>
        </p:txBody>
      </p:sp>
      <p:sp>
        <p:nvSpPr>
          <p:cNvPr id="29" name="Text 27"/>
          <p:cNvSpPr/>
          <p:nvPr/>
        </p:nvSpPr>
        <p:spPr>
          <a:xfrm>
            <a:off x="6263640" y="3657600"/>
            <a:ext cx="2286000" cy="365760"/>
          </a:xfrm>
          <a:prstGeom prst="rect">
            <a:avLst/>
          </a:prstGeom>
          <a:noFill/>
        </p:spPr>
        <p:txBody>
          <a:bodyPr wrap="square" lIns="0" tIns="0" rIns="0" bIns="0" rtlCol="0" anchor="ctr"/>
          <a:lstStyle/>
          <a:p>
            <a:pPr marL="0" indent="0">
              <a:buNone/>
            </a:pPr>
            <a:r>
              <a:rPr lang="en-US" sz="1600" b="1" dirty="0">
                <a:solidFill>
                  <a:srgbClr val="0D47A1"/>
                </a:solidFill>
                <a:latin typeface="Georgia" panose="02040502050405090303" pitchFamily="34" charset="0"/>
                <a:ea typeface="Georgia" panose="02040502050405090303" pitchFamily="34" charset="-122"/>
                <a:cs typeface="Georgia" panose="02040502050405090303" pitchFamily="34" charset="-120"/>
              </a:rPr>
              <a:t>Déploiement</a:t>
            </a:r>
            <a:endParaRPr lang="en-US" sz="1600" dirty="0"/>
          </a:p>
        </p:txBody>
      </p:sp>
      <p:sp>
        <p:nvSpPr>
          <p:cNvPr id="30" name="Text 28"/>
          <p:cNvSpPr/>
          <p:nvPr/>
        </p:nvSpPr>
        <p:spPr>
          <a:xfrm>
            <a:off x="6263640" y="4023360"/>
            <a:ext cx="2286000" cy="274320"/>
          </a:xfrm>
          <a:prstGeom prst="rect">
            <a:avLst/>
          </a:prstGeom>
          <a:noFill/>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9-18 mois</a:t>
            </a:r>
            <a:endParaRPr lang="en-US" sz="1000" dirty="0"/>
          </a:p>
        </p:txBody>
      </p:sp>
      <p:sp>
        <p:nvSpPr>
          <p:cNvPr id="31" name="Text 29"/>
          <p:cNvSpPr/>
          <p:nvPr/>
        </p:nvSpPr>
        <p:spPr>
          <a:xfrm>
            <a:off x="6263640" y="4297680"/>
            <a:ext cx="2286000" cy="7772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Couverture des 14 régions · interface autorités locales · campagne d'enrôlement citoyen national</a:t>
            </a:r>
            <a:endParaRPr lang="en-US" sz="1000" dirty="0"/>
          </a:p>
        </p:txBody>
      </p:sp>
      <p:sp>
        <p:nvSpPr>
          <p:cNvPr id="32" name="Shape 30"/>
          <p:cNvSpPr/>
          <p:nvPr/>
        </p:nvSpPr>
        <p:spPr>
          <a:xfrm>
            <a:off x="9893808" y="2816352"/>
            <a:ext cx="274320" cy="274320"/>
          </a:xfrm>
          <a:prstGeom prst="ellipse">
            <a:avLst/>
          </a:prstGeom>
          <a:solidFill>
            <a:srgbClr val="059669"/>
          </a:solidFill>
          <a:ln w="25400">
            <a:solidFill>
              <a:srgbClr val="FFFFFF"/>
            </a:solidFill>
            <a:prstDash val="solid"/>
          </a:ln>
        </p:spPr>
      </p:sp>
      <p:sp>
        <p:nvSpPr>
          <p:cNvPr id="33" name="Shape 31"/>
          <p:cNvSpPr/>
          <p:nvPr/>
        </p:nvSpPr>
        <p:spPr>
          <a:xfrm>
            <a:off x="8778240" y="3246120"/>
            <a:ext cx="2560320" cy="1828800"/>
          </a:xfrm>
          <a:prstGeom prst="rect">
            <a:avLst/>
          </a:prstGeom>
          <a:solidFill>
            <a:srgbClr val="FFFFFF"/>
          </a:solidFill>
          <a:ln w="12700">
            <a:solidFill>
              <a:srgbClr val="E2E8F0"/>
            </a:solidFill>
            <a:prstDash val="solid"/>
          </a:ln>
          <a:effectLst>
            <a:outerShdw blurRad="101600" dist="25400" dir="5400000" algn="bl" rotWithShape="0">
              <a:srgbClr val="000000">
                <a:alpha val="10000"/>
              </a:srgbClr>
            </a:outerShdw>
          </a:effectLst>
        </p:spPr>
      </p:sp>
      <p:sp>
        <p:nvSpPr>
          <p:cNvPr id="34" name="Shape 32"/>
          <p:cNvSpPr/>
          <p:nvPr/>
        </p:nvSpPr>
        <p:spPr>
          <a:xfrm>
            <a:off x="8778240" y="3246120"/>
            <a:ext cx="2560320" cy="54864"/>
          </a:xfrm>
          <a:prstGeom prst="rect">
            <a:avLst/>
          </a:prstGeom>
          <a:solidFill>
            <a:srgbClr val="059669"/>
          </a:solidFill>
          <a:ln w="12700">
            <a:solidFill>
              <a:srgbClr val="059669"/>
            </a:solidFill>
            <a:prstDash val="solid"/>
          </a:ln>
        </p:spPr>
      </p:sp>
      <p:sp>
        <p:nvSpPr>
          <p:cNvPr id="35" name="Text 33"/>
          <p:cNvSpPr/>
          <p:nvPr/>
        </p:nvSpPr>
        <p:spPr>
          <a:xfrm>
            <a:off x="8915400" y="3383280"/>
            <a:ext cx="2286000" cy="274320"/>
          </a:xfrm>
          <a:prstGeom prst="rect">
            <a:avLst/>
          </a:prstGeom>
          <a:noFill/>
        </p:spPr>
        <p:txBody>
          <a:bodyPr wrap="square" lIns="0" tIns="0" rIns="0" bIns="0" rtlCol="0" anchor="ctr"/>
          <a:lstStyle/>
          <a:p>
            <a:pPr marL="0" indent="0">
              <a:buNone/>
            </a:pPr>
            <a:r>
              <a:rPr lang="en-US" sz="900" b="1" kern="0" spc="300" dirty="0">
                <a:solidFill>
                  <a:srgbClr val="059669"/>
                </a:solidFill>
                <a:latin typeface="Calibri" pitchFamily="34" charset="0"/>
                <a:ea typeface="Calibri" pitchFamily="34" charset="-122"/>
                <a:cs typeface="Calibri" pitchFamily="34" charset="-120"/>
              </a:rPr>
              <a:t>PHASE 4</a:t>
            </a:r>
            <a:endParaRPr lang="en-US" sz="900" dirty="0"/>
          </a:p>
        </p:txBody>
      </p:sp>
      <p:sp>
        <p:nvSpPr>
          <p:cNvPr id="36" name="Text 34"/>
          <p:cNvSpPr/>
          <p:nvPr/>
        </p:nvSpPr>
        <p:spPr>
          <a:xfrm>
            <a:off x="8915400" y="3657600"/>
            <a:ext cx="2286000" cy="365760"/>
          </a:xfrm>
          <a:prstGeom prst="rect">
            <a:avLst/>
          </a:prstGeom>
          <a:noFill/>
        </p:spPr>
        <p:txBody>
          <a:bodyPr wrap="square" lIns="0" tIns="0" rIns="0" bIns="0" rtlCol="0" anchor="ctr"/>
          <a:lstStyle/>
          <a:p>
            <a:pPr marL="0" indent="0">
              <a:buNone/>
            </a:pPr>
            <a:r>
              <a:rPr lang="en-US" sz="1600" b="1" dirty="0">
                <a:solidFill>
                  <a:srgbClr val="0D47A1"/>
                </a:solidFill>
                <a:latin typeface="Georgia" panose="02040502050405090303" pitchFamily="34" charset="0"/>
                <a:ea typeface="Georgia" panose="02040502050405090303" pitchFamily="34" charset="-122"/>
                <a:cs typeface="Georgia" panose="02040502050405090303" pitchFamily="34" charset="-120"/>
              </a:rPr>
              <a:t>Pérennité</a:t>
            </a:r>
            <a:endParaRPr lang="en-US" sz="1600" dirty="0"/>
          </a:p>
        </p:txBody>
      </p:sp>
      <p:sp>
        <p:nvSpPr>
          <p:cNvPr id="37" name="Text 35"/>
          <p:cNvSpPr/>
          <p:nvPr/>
        </p:nvSpPr>
        <p:spPr>
          <a:xfrm>
            <a:off x="8915400" y="4023360"/>
            <a:ext cx="2286000" cy="274320"/>
          </a:xfrm>
          <a:prstGeom prst="rect">
            <a:avLst/>
          </a:prstGeom>
          <a:noFill/>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18+ mois</a:t>
            </a:r>
            <a:endParaRPr lang="en-US" sz="1000" dirty="0"/>
          </a:p>
        </p:txBody>
      </p:sp>
      <p:sp>
        <p:nvSpPr>
          <p:cNvPr id="38" name="Text 36"/>
          <p:cNvSpPr/>
          <p:nvPr/>
        </p:nvSpPr>
        <p:spPr>
          <a:xfrm>
            <a:off x="8915400" y="4297680"/>
            <a:ext cx="2286000" cy="777240"/>
          </a:xfrm>
          <a:prstGeom prst="rect">
            <a:avLst/>
          </a:prstGeom>
          <a:noFill/>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Intégration Sentinel-1 SAR · multi-classes (sévère/modérée) · ouverture des données au monde académique</a:t>
            </a:r>
            <a:endParaRPr lang="en-US" sz="1000" dirty="0"/>
          </a:p>
        </p:txBody>
      </p:sp>
      <p:sp>
        <p:nvSpPr>
          <p:cNvPr id="39" name="Shape 37"/>
          <p:cNvSpPr/>
          <p:nvPr/>
        </p:nvSpPr>
        <p:spPr>
          <a:xfrm>
            <a:off x="548640" y="5349240"/>
            <a:ext cx="11064240" cy="868680"/>
          </a:xfrm>
          <a:prstGeom prst="rect">
            <a:avLst/>
          </a:prstGeom>
          <a:solidFill>
            <a:srgbClr val="0D47A1"/>
          </a:solidFill>
          <a:ln w="12700">
            <a:solidFill>
              <a:srgbClr val="0D47A1"/>
            </a:solidFill>
            <a:prstDash val="solid"/>
          </a:ln>
        </p:spPr>
      </p:sp>
      <p:sp>
        <p:nvSpPr>
          <p:cNvPr id="40" name="Shape 38"/>
          <p:cNvSpPr/>
          <p:nvPr/>
        </p:nvSpPr>
        <p:spPr>
          <a:xfrm>
            <a:off x="548640" y="5349240"/>
            <a:ext cx="109728" cy="868680"/>
          </a:xfrm>
          <a:prstGeom prst="rect">
            <a:avLst/>
          </a:prstGeom>
          <a:solidFill>
            <a:srgbClr val="F59E0B"/>
          </a:solidFill>
          <a:ln w="12700">
            <a:solidFill>
              <a:srgbClr val="F59E0B"/>
            </a:solidFill>
            <a:prstDash val="solid"/>
          </a:ln>
        </p:spPr>
      </p:sp>
      <p:pic>
        <p:nvPicPr>
          <p:cNvPr id="41" name="Image 0" descr="preencoded.png"/>
          <p:cNvPicPr>
            <a:picLocks noChangeAspect="1"/>
          </p:cNvPicPr>
          <p:nvPr/>
        </p:nvPicPr>
        <p:blipFill>
          <a:blip r:embed="rId1"/>
          <a:stretch>
            <a:fillRect/>
          </a:stretch>
        </p:blipFill>
        <p:spPr>
          <a:xfrm>
            <a:off x="868680" y="5532120"/>
            <a:ext cx="502920" cy="502920"/>
          </a:xfrm>
          <a:prstGeom prst="rect">
            <a:avLst/>
          </a:prstGeom>
        </p:spPr>
      </p:pic>
      <p:sp>
        <p:nvSpPr>
          <p:cNvPr id="42" name="Text 39"/>
          <p:cNvSpPr/>
          <p:nvPr/>
        </p:nvSpPr>
        <p:spPr>
          <a:xfrm>
            <a:off x="1554480" y="5349240"/>
            <a:ext cx="9966960" cy="868680"/>
          </a:xfrm>
          <a:prstGeom prst="rect">
            <a:avLst/>
          </a:prstGeom>
          <a:noFill/>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Limites assumées : 933 images d'entraînement (corpus à enrichir), proxy pluvio à valider sur observations ANACIM, fusion RF + ConvNeXt à évaluer quantitativement.</a:t>
            </a:r>
            <a:endParaRPr lang="en-US" sz="1100" dirty="0"/>
          </a:p>
        </p:txBody>
      </p:sp>
      <p:sp>
        <p:nvSpPr>
          <p:cNvPr id="43" name="Shape 40"/>
          <p:cNvSpPr/>
          <p:nvPr/>
        </p:nvSpPr>
        <p:spPr>
          <a:xfrm>
            <a:off x="0" y="6537960"/>
            <a:ext cx="12161520" cy="320040"/>
          </a:xfrm>
          <a:prstGeom prst="rect">
            <a:avLst/>
          </a:prstGeom>
          <a:solidFill>
            <a:srgbClr val="0D47A1"/>
          </a:solidFill>
          <a:ln w="12700">
            <a:solidFill>
              <a:srgbClr val="0D47A1"/>
            </a:solidFill>
            <a:prstDash val="solid"/>
          </a:ln>
        </p:spPr>
      </p:sp>
      <p:sp>
        <p:nvSpPr>
          <p:cNvPr id="44" name="Text 41"/>
          <p:cNvSpPr/>
          <p:nvPr/>
        </p:nvSpPr>
        <p:spPr>
          <a:xfrm>
            <a:off x="457200" y="6537960"/>
            <a:ext cx="7315200" cy="320040"/>
          </a:xfrm>
          <a:prstGeom prst="rect">
            <a:avLst/>
          </a:prstGeom>
          <a:noFill/>
        </p:spPr>
        <p:txBody>
          <a:bodyPr wrap="square" lIns="0" tIns="0" rIns="0" bIns="0" rtlCol="0" anchor="ctr"/>
          <a:lstStyle/>
          <a:p>
            <a:pPr marL="0" indent="0" algn="l">
              <a:buNone/>
            </a:pPr>
            <a:r>
              <a:rPr lang="en-US" sz="900" dirty="0">
                <a:solidFill>
                  <a:srgbClr val="F8FAFC"/>
                </a:solidFill>
                <a:latin typeface="Calibri" pitchFamily="34" charset="0"/>
                <a:ea typeface="Calibri" pitchFamily="34" charset="-122"/>
                <a:cs typeface="Calibri" pitchFamily="34" charset="-120"/>
              </a:rPr>
              <a:t>Saytu Mbeund  ·  FloodGuardAI  ·  flood.yaataldigital.com</a:t>
            </a:r>
            <a:endParaRPr lang="en-US" sz="900" dirty="0"/>
          </a:p>
        </p:txBody>
      </p:sp>
      <p:sp>
        <p:nvSpPr>
          <p:cNvPr id="45" name="Text 42"/>
          <p:cNvSpPr/>
          <p:nvPr/>
        </p:nvSpPr>
        <p:spPr>
          <a:xfrm>
            <a:off x="8503920" y="6537960"/>
            <a:ext cx="2286000" cy="320040"/>
          </a:xfrm>
          <a:prstGeom prst="rect">
            <a:avLst/>
          </a:prstGeom>
          <a:noFill/>
        </p:spPr>
        <p:txBody>
          <a:bodyPr wrap="square" lIns="0" tIns="0" rIns="0" bIns="0" rtlCol="0" anchor="ctr"/>
          <a:lstStyle/>
          <a:p>
            <a:pPr marL="0" indent="0" algn="r">
              <a:buNone/>
            </a:pPr>
            <a:r>
              <a:rPr lang="en-US" sz="900" i="1" dirty="0">
                <a:solidFill>
                  <a:srgbClr val="F59E0B"/>
                </a:solidFill>
                <a:latin typeface="Calibri" pitchFamily="34" charset="0"/>
                <a:ea typeface="Calibri" pitchFamily="34" charset="-122"/>
                <a:cs typeface="Calibri" pitchFamily="34" charset="-120"/>
              </a:rPr>
              <a:t>▸ ADAMA</a:t>
            </a:r>
            <a:endParaRPr lang="en-US" sz="900" dirty="0"/>
          </a:p>
        </p:txBody>
      </p:sp>
      <p:sp>
        <p:nvSpPr>
          <p:cNvPr id="46" name="Text 43"/>
          <p:cNvSpPr/>
          <p:nvPr/>
        </p:nvSpPr>
        <p:spPr>
          <a:xfrm>
            <a:off x="11064240" y="6537960"/>
            <a:ext cx="640080" cy="320040"/>
          </a:xfrm>
          <a:prstGeom prst="rect">
            <a:avLst/>
          </a:prstGeom>
          <a:noFill/>
        </p:spPr>
        <p:txBody>
          <a:bodyPr wrap="square" lIns="0" tIns="0" rIns="0" bIns="0" rtlCol="0" anchor="ctr"/>
          <a:lstStyle/>
          <a:p>
            <a:pPr marL="0" indent="0" algn="r">
              <a:buNone/>
            </a:pPr>
            <a:r>
              <a:rPr lang="en-US" sz="900" dirty="0">
                <a:solidFill>
                  <a:srgbClr val="F8FAFC"/>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47A1"/>
        </a:solidFill>
        <a:effectLst/>
      </p:bgPr>
    </p:bg>
    <p:spTree>
      <p:nvGrpSpPr>
        <p:cNvPr id="1" name=""/>
        <p:cNvGrpSpPr/>
        <p:nvPr/>
      </p:nvGrpSpPr>
      <p:grpSpPr>
        <a:xfrm>
          <a:off x="0" y="0"/>
          <a:ext cx="0" cy="0"/>
          <a:chOff x="0" y="0"/>
          <a:chExt cx="0" cy="0"/>
        </a:xfrm>
      </p:grpSpPr>
      <p:sp>
        <p:nvSpPr>
          <p:cNvPr id="2" name="Shape 0"/>
          <p:cNvSpPr/>
          <p:nvPr/>
        </p:nvSpPr>
        <p:spPr>
          <a:xfrm>
            <a:off x="-1828800" y="3200400"/>
            <a:ext cx="6400800" cy="6400800"/>
          </a:xfrm>
          <a:prstGeom prst="ellipse">
            <a:avLst/>
          </a:prstGeom>
          <a:solidFill>
            <a:srgbClr val="1565C0">
              <a:alpha val="25000"/>
            </a:srgbClr>
          </a:solidFill>
          <a:ln w="12700">
            <a:solidFill>
              <a:srgbClr val="1565C0"/>
            </a:solidFill>
            <a:prstDash val="solid"/>
          </a:ln>
        </p:spPr>
      </p:sp>
      <p:sp>
        <p:nvSpPr>
          <p:cNvPr id="3" name="Shape 1"/>
          <p:cNvSpPr/>
          <p:nvPr/>
        </p:nvSpPr>
        <p:spPr>
          <a:xfrm>
            <a:off x="8046720" y="-2743200"/>
            <a:ext cx="6858000" cy="6858000"/>
          </a:xfrm>
          <a:prstGeom prst="ellipse">
            <a:avLst/>
          </a:prstGeom>
          <a:solidFill>
            <a:srgbClr val="1565C0">
              <a:alpha val="20000"/>
            </a:srgbClr>
          </a:solidFill>
          <a:ln w="12700">
            <a:solidFill>
              <a:srgbClr val="1565C0"/>
            </a:solidFill>
            <a:prstDash val="solid"/>
          </a:ln>
        </p:spPr>
      </p:sp>
      <p:sp>
        <p:nvSpPr>
          <p:cNvPr id="4" name="Text 2"/>
          <p:cNvSpPr/>
          <p:nvPr/>
        </p:nvSpPr>
        <p:spPr>
          <a:xfrm>
            <a:off x="731520" y="640080"/>
            <a:ext cx="10058400" cy="365760"/>
          </a:xfrm>
          <a:prstGeom prst="rect">
            <a:avLst/>
          </a:prstGeom>
          <a:noFill/>
        </p:spPr>
        <p:txBody>
          <a:bodyPr wrap="square" lIns="0" tIns="0" rIns="0" bIns="0" rtlCol="0" anchor="ctr"/>
          <a:lstStyle/>
          <a:p>
            <a:pPr marL="0" indent="0">
              <a:buNone/>
            </a:pPr>
            <a:r>
              <a:rPr lang="en-US" sz="1100" b="1" kern="0" spc="500" dirty="0">
                <a:solidFill>
                  <a:srgbClr val="F59E0B"/>
                </a:solidFill>
                <a:latin typeface="Calibri" pitchFamily="34" charset="0"/>
                <a:ea typeface="Calibri" pitchFamily="34" charset="-122"/>
                <a:cs typeface="Calibri" pitchFamily="34" charset="-120"/>
              </a:rPr>
              <a:t>CONCLUSION</a:t>
            </a:r>
            <a:endParaRPr lang="en-US" sz="1100" dirty="0"/>
          </a:p>
        </p:txBody>
      </p:sp>
      <p:sp>
        <p:nvSpPr>
          <p:cNvPr id="5" name="Text 3"/>
          <p:cNvSpPr/>
          <p:nvPr/>
        </p:nvSpPr>
        <p:spPr>
          <a:xfrm>
            <a:off x="731520" y="1188720"/>
            <a:ext cx="10698480" cy="1463040"/>
          </a:xfrm>
          <a:prstGeom prst="rect">
            <a:avLst/>
          </a:prstGeom>
          <a:noFill/>
        </p:spPr>
        <p:txBody>
          <a:bodyPr wrap="square" lIns="0" tIns="0" rIns="0" bIns="0" rtlCol="0" anchor="ctr"/>
          <a:lstStyle/>
          <a:p>
            <a:pPr marL="0" indent="0">
              <a:buNone/>
            </a:pPr>
            <a:r>
              <a:rPr lang="en-US" sz="2600" b="1" i="1" dirty="0">
                <a:solidFill>
                  <a:srgbClr val="FFFFFF"/>
                </a:solidFill>
                <a:latin typeface="Georgia" panose="02040502050405090303" pitchFamily="34" charset="0"/>
                <a:ea typeface="Georgia" panose="02040502050405090303" pitchFamily="34" charset="-122"/>
                <a:cs typeface="Georgia" panose="02040502050405090303" pitchFamily="34" charset="-120"/>
              </a:rPr>
              <a:t>Faire du Sénégal le premier pays sahélien à anticiper ses inondations grâce à l'IA.</a:t>
            </a:r>
            <a:endParaRPr lang="en-US" sz="2600" dirty="0"/>
          </a:p>
        </p:txBody>
      </p:sp>
      <p:sp>
        <p:nvSpPr>
          <p:cNvPr id="6" name="Shape 4"/>
          <p:cNvSpPr/>
          <p:nvPr/>
        </p:nvSpPr>
        <p:spPr>
          <a:xfrm>
            <a:off x="731520" y="2743200"/>
            <a:ext cx="10698480" cy="457200"/>
          </a:xfrm>
          <a:prstGeom prst="rect">
            <a:avLst/>
          </a:prstGeom>
          <a:solidFill>
            <a:srgbClr val="F59E0B"/>
          </a:solidFill>
          <a:ln w="12700">
            <a:solidFill>
              <a:srgbClr val="F59E0B"/>
            </a:solidFill>
            <a:prstDash val="solid"/>
          </a:ln>
        </p:spPr>
      </p:sp>
      <p:sp>
        <p:nvSpPr>
          <p:cNvPr id="7" name="Text 5"/>
          <p:cNvSpPr/>
          <p:nvPr/>
        </p:nvSpPr>
        <p:spPr>
          <a:xfrm>
            <a:off x="731520" y="2743200"/>
            <a:ext cx="10698480" cy="457200"/>
          </a:xfrm>
          <a:prstGeom prst="rect">
            <a:avLst/>
          </a:prstGeom>
          <a:noFill/>
        </p:spPr>
        <p:txBody>
          <a:bodyPr wrap="square" lIns="0" tIns="0" rIns="0" bIns="0" rtlCol="0" anchor="ctr"/>
          <a:lstStyle/>
          <a:p>
            <a:pPr marL="0" indent="0" algn="ctr">
              <a:buNone/>
            </a:pPr>
            <a:r>
              <a:rPr lang="en-US" sz="1200" b="1" kern="0" spc="300" dirty="0">
                <a:solidFill>
                  <a:srgbClr val="0D47A1"/>
                </a:solidFill>
                <a:latin typeface="Calibri" pitchFamily="34" charset="0"/>
                <a:ea typeface="Calibri" pitchFamily="34" charset="-122"/>
                <a:cs typeface="Calibri" pitchFamily="34" charset="-120"/>
              </a:rPr>
              <a:t>CE QUE NOUS PROPOSONS À NOS DEUX PARTENAIRES</a:t>
            </a:r>
            <a:endParaRPr lang="en-US" sz="1200" dirty="0"/>
          </a:p>
        </p:txBody>
      </p:sp>
      <p:sp>
        <p:nvSpPr>
          <p:cNvPr id="8" name="Shape 6"/>
          <p:cNvSpPr/>
          <p:nvPr/>
        </p:nvSpPr>
        <p:spPr>
          <a:xfrm>
            <a:off x="731520" y="3383280"/>
            <a:ext cx="5257800" cy="2286000"/>
          </a:xfrm>
          <a:prstGeom prst="rect">
            <a:avLst/>
          </a:prstGeom>
          <a:solidFill>
            <a:srgbClr val="FFFFFF">
              <a:alpha val="10000"/>
            </a:srgbClr>
          </a:solidFill>
          <a:ln w="12700">
            <a:solidFill>
              <a:srgbClr val="F59E0B"/>
            </a:solidFill>
            <a:prstDash val="solid"/>
          </a:ln>
        </p:spPr>
      </p:sp>
      <p:sp>
        <p:nvSpPr>
          <p:cNvPr id="9" name="Shape 7"/>
          <p:cNvSpPr/>
          <p:nvPr/>
        </p:nvSpPr>
        <p:spPr>
          <a:xfrm>
            <a:off x="914400" y="3566160"/>
            <a:ext cx="548640" cy="548640"/>
          </a:xfrm>
          <a:prstGeom prst="ellipse">
            <a:avLst/>
          </a:prstGeom>
          <a:solidFill>
            <a:srgbClr val="F59E0B"/>
          </a:solidFill>
          <a:ln w="12700">
            <a:solidFill>
              <a:srgbClr val="F59E0B"/>
            </a:solidFill>
            <a:prstDash val="solid"/>
          </a:ln>
        </p:spPr>
      </p:sp>
      <p:pic>
        <p:nvPicPr>
          <p:cNvPr id="10" name="Image 0" descr="preencoded.png"/>
          <p:cNvPicPr>
            <a:picLocks noChangeAspect="1"/>
          </p:cNvPicPr>
          <p:nvPr/>
        </p:nvPicPr>
        <p:blipFill>
          <a:blip r:embed="rId1"/>
          <a:stretch>
            <a:fillRect/>
          </a:stretch>
        </p:blipFill>
        <p:spPr>
          <a:xfrm>
            <a:off x="1005840" y="3657600"/>
            <a:ext cx="365760" cy="365760"/>
          </a:xfrm>
          <a:prstGeom prst="rect">
            <a:avLst/>
          </a:prstGeom>
        </p:spPr>
      </p:pic>
      <p:sp>
        <p:nvSpPr>
          <p:cNvPr id="11" name="Text 8"/>
          <p:cNvSpPr/>
          <p:nvPr/>
        </p:nvSpPr>
        <p:spPr>
          <a:xfrm>
            <a:off x="1554480" y="3456432"/>
            <a:ext cx="4343400" cy="594360"/>
          </a:xfrm>
          <a:prstGeom prst="rect">
            <a:avLst/>
          </a:prstGeom>
          <a:noFill/>
        </p:spPr>
        <p:txBody>
          <a:bodyPr wrap="square" lIns="0" tIns="0" rIns="0" bIns="0" rtlCol="0" anchor="ctr"/>
          <a:lstStyle/>
          <a:p>
            <a:pPr marL="0" indent="0">
              <a:buNone/>
            </a:pPr>
            <a:r>
              <a:rPr lang="en-US" sz="1200" b="1" dirty="0">
                <a:solidFill>
                  <a:srgbClr val="FFFFFF"/>
                </a:solidFill>
                <a:latin typeface="Georgia" panose="02040502050405090303" pitchFamily="34" charset="0"/>
                <a:ea typeface="Georgia" panose="02040502050405090303" pitchFamily="34" charset="-122"/>
                <a:cs typeface="Georgia" panose="02040502050405090303" pitchFamily="34" charset="-120"/>
              </a:rPr>
              <a:t>À la Direction de la Prévention et de la Gestion des Inondations</a:t>
            </a:r>
            <a:endParaRPr lang="en-US" sz="1200" dirty="0"/>
          </a:p>
        </p:txBody>
      </p:sp>
      <p:sp>
        <p:nvSpPr>
          <p:cNvPr id="12" name="Text 9"/>
          <p:cNvSpPr/>
          <p:nvPr/>
        </p:nvSpPr>
        <p:spPr>
          <a:xfrm>
            <a:off x="914400" y="4206240"/>
            <a:ext cx="4937760" cy="1417320"/>
          </a:xfrm>
          <a:prstGeom prst="rect">
            <a:avLst/>
          </a:prstGeom>
          <a:noFill/>
        </p:spPr>
        <p:txBody>
          <a:bodyPr wrap="square" lIns="0" tIns="0" rIns="0" bIns="0" rtlCol="0" anchor="ctr"/>
          <a:lstStyle/>
          <a:p>
            <a:pPr marL="0" indent="0">
              <a:spcAft>
                <a:spcPts val="600"/>
              </a:spcAft>
              <a:buNone/>
            </a:pPr>
            <a:r>
              <a:rPr lang="en-US" sz="1200" b="1" dirty="0">
                <a:solidFill>
                  <a:srgbClr val="F59E0B"/>
                </a:solidFill>
                <a:latin typeface="Calibri" pitchFamily="34" charset="0"/>
                <a:ea typeface="Calibri" pitchFamily="34" charset="-122"/>
                <a:cs typeface="Calibri" pitchFamily="34" charset="-120"/>
              </a:rPr>
              <a:t>·  </a:t>
            </a:r>
            <a:r>
              <a:rPr lang="en-US" sz="1100" dirty="0">
                <a:solidFill>
                  <a:srgbClr val="42A5F5"/>
                </a:solidFill>
                <a:latin typeface="Calibri" pitchFamily="34" charset="0"/>
                <a:ea typeface="Calibri" pitchFamily="34" charset="-122"/>
                <a:cs typeface="Calibri" pitchFamily="34" charset="-120"/>
              </a:rPr>
              <a:t>Cadrage opérationnel &amp; accès aux historiques de sinistres</a:t>
            </a:r>
            <a:endParaRPr lang="en-US" sz="1200" dirty="0"/>
          </a:p>
          <a:p>
            <a:pPr marL="0" indent="0">
              <a:spcAft>
                <a:spcPts val="600"/>
              </a:spcAft>
              <a:buNone/>
            </a:pPr>
            <a:r>
              <a:rPr lang="en-US" sz="1200" b="1" dirty="0">
                <a:solidFill>
                  <a:srgbClr val="F59E0B"/>
                </a:solidFill>
                <a:latin typeface="Calibri" pitchFamily="34" charset="0"/>
                <a:ea typeface="Calibri" pitchFamily="34" charset="-122"/>
                <a:cs typeface="Calibri" pitchFamily="34" charset="-120"/>
              </a:rPr>
              <a:t>·  </a:t>
            </a:r>
            <a:r>
              <a:rPr lang="en-US" sz="1100" dirty="0">
                <a:solidFill>
                  <a:srgbClr val="42A5F5"/>
                </a:solidFill>
                <a:latin typeface="Calibri" pitchFamily="34" charset="0"/>
                <a:ea typeface="Calibri" pitchFamily="34" charset="-122"/>
                <a:cs typeface="Calibri" pitchFamily="34" charset="-120"/>
              </a:rPr>
              <a:t>Désignation d'un quartier pilote (Keur Massar / Pikine)</a:t>
            </a:r>
            <a:endParaRPr lang="en-US" sz="1200" dirty="0"/>
          </a:p>
          <a:p>
            <a:pPr marL="0" indent="0">
              <a:spcAft>
                <a:spcPts val="600"/>
              </a:spcAft>
              <a:buNone/>
            </a:pPr>
            <a:r>
              <a:rPr lang="en-US" sz="1200" b="1" dirty="0">
                <a:solidFill>
                  <a:srgbClr val="F59E0B"/>
                </a:solidFill>
                <a:latin typeface="Calibri" pitchFamily="34" charset="0"/>
                <a:ea typeface="Calibri" pitchFamily="34" charset="-122"/>
                <a:cs typeface="Calibri" pitchFamily="34" charset="-120"/>
              </a:rPr>
              <a:t>·  </a:t>
            </a:r>
            <a:r>
              <a:rPr lang="en-US" sz="1100" dirty="0">
                <a:solidFill>
                  <a:srgbClr val="42A5F5"/>
                </a:solidFill>
                <a:latin typeface="Calibri" pitchFamily="34" charset="0"/>
                <a:ea typeface="Calibri" pitchFamily="34" charset="-122"/>
                <a:cs typeface="Calibri" pitchFamily="34" charset="-120"/>
              </a:rPr>
              <a:t>Adossement institutionnel pour le déploiement national</a:t>
            </a:r>
            <a:endParaRPr lang="en-US" sz="1200" dirty="0"/>
          </a:p>
        </p:txBody>
      </p:sp>
      <p:sp>
        <p:nvSpPr>
          <p:cNvPr id="13" name="Shape 10"/>
          <p:cNvSpPr/>
          <p:nvPr/>
        </p:nvSpPr>
        <p:spPr>
          <a:xfrm>
            <a:off x="6172200" y="3383280"/>
            <a:ext cx="5257800" cy="2286000"/>
          </a:xfrm>
          <a:prstGeom prst="rect">
            <a:avLst/>
          </a:prstGeom>
          <a:solidFill>
            <a:srgbClr val="FFFFFF">
              <a:alpha val="10000"/>
            </a:srgbClr>
          </a:solidFill>
          <a:ln w="12700">
            <a:solidFill>
              <a:srgbClr val="F59E0B"/>
            </a:solidFill>
            <a:prstDash val="solid"/>
          </a:ln>
        </p:spPr>
      </p:sp>
      <p:sp>
        <p:nvSpPr>
          <p:cNvPr id="14" name="Shape 11"/>
          <p:cNvSpPr/>
          <p:nvPr/>
        </p:nvSpPr>
        <p:spPr>
          <a:xfrm>
            <a:off x="6355080" y="3566160"/>
            <a:ext cx="548640" cy="548640"/>
          </a:xfrm>
          <a:prstGeom prst="ellipse">
            <a:avLst/>
          </a:prstGeom>
          <a:solidFill>
            <a:srgbClr val="F59E0B"/>
          </a:solidFill>
          <a:ln w="12700">
            <a:solidFill>
              <a:srgbClr val="F59E0B"/>
            </a:solidFill>
            <a:prstDash val="solid"/>
          </a:ln>
        </p:spPr>
      </p:sp>
      <p:pic>
        <p:nvPicPr>
          <p:cNvPr id="15" name="Image 1" descr="preencoded.png"/>
          <p:cNvPicPr>
            <a:picLocks noChangeAspect="1"/>
          </p:cNvPicPr>
          <p:nvPr/>
        </p:nvPicPr>
        <p:blipFill>
          <a:blip r:embed="rId2"/>
          <a:stretch>
            <a:fillRect/>
          </a:stretch>
        </p:blipFill>
        <p:spPr>
          <a:xfrm>
            <a:off x="6446520" y="3657600"/>
            <a:ext cx="365760" cy="365760"/>
          </a:xfrm>
          <a:prstGeom prst="rect">
            <a:avLst/>
          </a:prstGeom>
        </p:spPr>
      </p:pic>
      <p:sp>
        <p:nvSpPr>
          <p:cNvPr id="16" name="Text 12"/>
          <p:cNvSpPr/>
          <p:nvPr/>
        </p:nvSpPr>
        <p:spPr>
          <a:xfrm>
            <a:off x="6995160" y="3520440"/>
            <a:ext cx="4297680" cy="457200"/>
          </a:xfrm>
          <a:prstGeom prst="rect">
            <a:avLst/>
          </a:prstGeom>
          <a:noFill/>
        </p:spPr>
        <p:txBody>
          <a:bodyPr wrap="square" lIns="0" tIns="0" rIns="0" bIns="0" rtlCol="0" anchor="ctr"/>
          <a:lstStyle/>
          <a:p>
            <a:pPr marL="0" indent="0">
              <a:buNone/>
            </a:pPr>
            <a:r>
              <a:rPr lang="en-US" sz="1400" b="1" dirty="0">
                <a:solidFill>
                  <a:srgbClr val="FFFFFF"/>
                </a:solidFill>
                <a:latin typeface="Georgia" panose="02040502050405090303" pitchFamily="34" charset="0"/>
                <a:ea typeface="Georgia" panose="02040502050405090303" pitchFamily="34" charset="-122"/>
                <a:cs typeface="Georgia" panose="02040502050405090303" pitchFamily="34" charset="-120"/>
              </a:rPr>
              <a:t>À l'ANACIM</a:t>
            </a:r>
            <a:endParaRPr lang="en-US" sz="1400" dirty="0"/>
          </a:p>
        </p:txBody>
      </p:sp>
      <p:sp>
        <p:nvSpPr>
          <p:cNvPr id="17" name="Text 13"/>
          <p:cNvSpPr/>
          <p:nvPr/>
        </p:nvSpPr>
        <p:spPr>
          <a:xfrm>
            <a:off x="6355080" y="4206240"/>
            <a:ext cx="4937760" cy="1417320"/>
          </a:xfrm>
          <a:prstGeom prst="rect">
            <a:avLst/>
          </a:prstGeom>
          <a:noFill/>
        </p:spPr>
        <p:txBody>
          <a:bodyPr wrap="square" lIns="0" tIns="0" rIns="0" bIns="0" rtlCol="0" anchor="ctr"/>
          <a:lstStyle/>
          <a:p>
            <a:pPr marL="0" indent="0">
              <a:spcAft>
                <a:spcPts val="600"/>
              </a:spcAft>
              <a:buNone/>
            </a:pPr>
            <a:r>
              <a:rPr lang="en-US" sz="1200" b="1" dirty="0">
                <a:solidFill>
                  <a:srgbClr val="F59E0B"/>
                </a:solidFill>
                <a:latin typeface="Calibri" pitchFamily="34" charset="0"/>
                <a:ea typeface="Calibri" pitchFamily="34" charset="-122"/>
                <a:cs typeface="Calibri" pitchFamily="34" charset="-120"/>
              </a:rPr>
              <a:t>·  </a:t>
            </a:r>
            <a:r>
              <a:rPr lang="en-US" sz="1100" dirty="0">
                <a:solidFill>
                  <a:srgbClr val="42A5F5"/>
                </a:solidFill>
                <a:latin typeface="Calibri" pitchFamily="34" charset="0"/>
                <a:ea typeface="Calibri" pitchFamily="34" charset="-122"/>
                <a:cs typeface="Calibri" pitchFamily="34" charset="-120"/>
              </a:rPr>
              <a:t>Accès aux données pluviométriques et prévisions opérationnelles</a:t>
            </a:r>
            <a:endParaRPr lang="en-US" sz="1200" dirty="0"/>
          </a:p>
          <a:p>
            <a:pPr marL="0" indent="0">
              <a:spcAft>
                <a:spcPts val="600"/>
              </a:spcAft>
              <a:buNone/>
            </a:pPr>
            <a:r>
              <a:rPr lang="en-US" sz="1200" b="1" dirty="0">
                <a:solidFill>
                  <a:srgbClr val="F59E0B"/>
                </a:solidFill>
                <a:latin typeface="Calibri" pitchFamily="34" charset="0"/>
                <a:ea typeface="Calibri" pitchFamily="34" charset="-122"/>
                <a:cs typeface="Calibri" pitchFamily="34" charset="-120"/>
              </a:rPr>
              <a:t>·  </a:t>
            </a:r>
            <a:r>
              <a:rPr lang="en-US" sz="1100" dirty="0">
                <a:solidFill>
                  <a:srgbClr val="42A5F5"/>
                </a:solidFill>
                <a:latin typeface="Calibri" pitchFamily="34" charset="0"/>
                <a:ea typeface="Calibri" pitchFamily="34" charset="-122"/>
                <a:cs typeface="Calibri" pitchFamily="34" charset="-120"/>
              </a:rPr>
              <a:t>Co-validation scientifique du proxy d'inondation</a:t>
            </a:r>
            <a:endParaRPr lang="en-US" sz="1200" dirty="0"/>
          </a:p>
          <a:p>
            <a:pPr marL="0" indent="0">
              <a:spcAft>
                <a:spcPts val="600"/>
              </a:spcAft>
              <a:buNone/>
            </a:pPr>
            <a:r>
              <a:rPr lang="en-US" sz="1200" b="1" dirty="0">
                <a:solidFill>
                  <a:srgbClr val="F59E0B"/>
                </a:solidFill>
                <a:latin typeface="Calibri" pitchFamily="34" charset="0"/>
                <a:ea typeface="Calibri" pitchFamily="34" charset="-122"/>
                <a:cs typeface="Calibri" pitchFamily="34" charset="-120"/>
              </a:rPr>
              <a:t>·  </a:t>
            </a:r>
            <a:r>
              <a:rPr lang="en-US" sz="1100" dirty="0">
                <a:solidFill>
                  <a:srgbClr val="42A5F5"/>
                </a:solidFill>
                <a:latin typeface="Calibri" pitchFamily="34" charset="0"/>
                <a:ea typeface="Calibri" pitchFamily="34" charset="-122"/>
                <a:cs typeface="Calibri" pitchFamily="34" charset="-120"/>
              </a:rPr>
              <a:t>Co-publication des résultats à valeur internationale</a:t>
            </a:r>
            <a:endParaRPr lang="en-US" sz="1200" dirty="0"/>
          </a:p>
        </p:txBody>
      </p:sp>
      <p:sp>
        <p:nvSpPr>
          <p:cNvPr id="18" name="Shape 14"/>
          <p:cNvSpPr/>
          <p:nvPr/>
        </p:nvSpPr>
        <p:spPr>
          <a:xfrm>
            <a:off x="0" y="5943600"/>
            <a:ext cx="12161520" cy="914400"/>
          </a:xfrm>
          <a:prstGeom prst="rect">
            <a:avLst/>
          </a:prstGeom>
          <a:solidFill>
            <a:srgbClr val="000000">
              <a:alpha val="40000"/>
            </a:srgbClr>
          </a:solidFill>
          <a:ln w="12700">
            <a:solidFill>
              <a:srgbClr val="000000"/>
            </a:solidFill>
            <a:prstDash val="solid"/>
          </a:ln>
        </p:spPr>
      </p:sp>
      <p:sp>
        <p:nvSpPr>
          <p:cNvPr id="19" name="Text 15"/>
          <p:cNvSpPr/>
          <p:nvPr/>
        </p:nvSpPr>
        <p:spPr>
          <a:xfrm>
            <a:off x="731520" y="5989320"/>
            <a:ext cx="10698480" cy="365760"/>
          </a:xfrm>
          <a:prstGeom prst="rect">
            <a:avLst/>
          </a:prstGeom>
          <a:noFill/>
        </p:spPr>
        <p:txBody>
          <a:bodyPr wrap="square" lIns="0" tIns="0" rIns="0" bIns="0" rtlCol="0" anchor="ctr"/>
          <a:lstStyle/>
          <a:p>
            <a:pPr marL="0" indent="0">
              <a:buNone/>
            </a:pPr>
            <a:r>
              <a:rPr lang="en-US" sz="1100" b="1" kern="0" spc="400" dirty="0">
                <a:solidFill>
                  <a:srgbClr val="F59E0B"/>
                </a:solidFill>
                <a:latin typeface="Calibri" pitchFamily="34" charset="0"/>
                <a:ea typeface="Calibri" pitchFamily="34" charset="-122"/>
                <a:cs typeface="Calibri" pitchFamily="34" charset="-120"/>
              </a:rPr>
              <a:t>NOUS RESTONS À VOTRE DISPOSITION</a:t>
            </a:r>
            <a:endParaRPr lang="en-US" sz="1100" dirty="0"/>
          </a:p>
        </p:txBody>
      </p:sp>
      <p:sp>
        <p:nvSpPr>
          <p:cNvPr id="20" name="Text 16"/>
          <p:cNvSpPr/>
          <p:nvPr/>
        </p:nvSpPr>
        <p:spPr>
          <a:xfrm>
            <a:off x="731520" y="6355080"/>
            <a:ext cx="10698480" cy="457200"/>
          </a:xfrm>
          <a:prstGeom prst="rect">
            <a:avLst/>
          </a:prstGeom>
          <a:noFill/>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Adama Sow KÉBÉ</a:t>
            </a:r>
            <a:r>
              <a:rPr lang="en-US" sz="1000" dirty="0">
                <a:solidFill>
                  <a:srgbClr val="42A5F5"/>
                </a:solidFill>
                <a:latin typeface="Calibri" pitchFamily="34" charset="0"/>
                <a:ea typeface="Calibri" pitchFamily="34" charset="-122"/>
                <a:cs typeface="Calibri" pitchFamily="34" charset="-120"/>
              </a:rPr>
              <a:t> kebeadama100@gmail.com   </a:t>
            </a:r>
            <a:r>
              <a:rPr lang="en-US" sz="1200" b="1" dirty="0">
                <a:solidFill>
                  <a:srgbClr val="F59E0B"/>
                </a:solidFill>
                <a:latin typeface="Calibri" pitchFamily="34" charset="0"/>
                <a:ea typeface="Calibri" pitchFamily="34" charset="-122"/>
                <a:cs typeface="Calibri" pitchFamily="34" charset="-120"/>
              </a:rPr>
              <a:t>·  </a:t>
            </a:r>
            <a:r>
              <a:rPr lang="en-US" sz="1100" b="1" dirty="0">
                <a:solidFill>
                  <a:srgbClr val="FFFFFF"/>
                </a:solidFill>
                <a:latin typeface="Calibri" pitchFamily="34" charset="0"/>
                <a:ea typeface="Calibri" pitchFamily="34" charset="-122"/>
                <a:cs typeface="Calibri" pitchFamily="34" charset="-120"/>
              </a:rPr>
              <a:t>Papa Ahmadou Seydou SOW</a:t>
            </a:r>
            <a:r>
              <a:rPr lang="en-US" sz="1000" dirty="0">
                <a:solidFill>
                  <a:srgbClr val="42A5F5"/>
                </a:solidFill>
                <a:latin typeface="Calibri" pitchFamily="34" charset="0"/>
                <a:ea typeface="Calibri" pitchFamily="34" charset="-122"/>
                <a:cs typeface="Calibri" pitchFamily="34" charset="-120"/>
              </a:rPr>
              <a:t> paseydou.sow@univ-thies.sn   </a:t>
            </a:r>
            <a:r>
              <a:rPr lang="en-US" sz="1200" b="1" dirty="0">
                <a:solidFill>
                  <a:srgbClr val="F59E0B"/>
                </a:solidFill>
                <a:latin typeface="Calibri" pitchFamily="34" charset="0"/>
                <a:ea typeface="Calibri" pitchFamily="34" charset="-122"/>
                <a:cs typeface="Calibri" pitchFamily="34" charset="-120"/>
              </a:rPr>
              <a:t>·  </a:t>
            </a:r>
            <a:r>
              <a:rPr lang="en-US" sz="1000" i="1" dirty="0">
                <a:solidFill>
                  <a:srgbClr val="F59E0B"/>
                </a:solidFill>
                <a:latin typeface="Calibri" pitchFamily="34" charset="0"/>
                <a:ea typeface="Calibri" pitchFamily="34" charset="-122"/>
                <a:cs typeface="Calibri" pitchFamily="34" charset="-120"/>
              </a:rPr>
              <a:t>flood.yaataldigital.com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47A1"/>
        </a:solidFill>
        <a:effectLst/>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565C0">
              <a:alpha val="30000"/>
            </a:srgbClr>
          </a:solidFill>
          <a:ln w="12700">
            <a:solidFill>
              <a:srgbClr val="1565C0"/>
            </a:solidFill>
            <a:prstDash val="solid"/>
          </a:ln>
        </p:spPr>
      </p:sp>
      <p:sp>
        <p:nvSpPr>
          <p:cNvPr id="3" name="Shape 1"/>
          <p:cNvSpPr/>
          <p:nvPr/>
        </p:nvSpPr>
        <p:spPr>
          <a:xfrm>
            <a:off x="7589520" y="2286000"/>
            <a:ext cx="8229600" cy="8229600"/>
          </a:xfrm>
          <a:prstGeom prst="ellipse">
            <a:avLst/>
          </a:prstGeom>
          <a:solidFill>
            <a:srgbClr val="1565C0">
              <a:alpha val="20000"/>
            </a:srgbClr>
          </a:solidFill>
          <a:ln w="12700">
            <a:solidFill>
              <a:srgbClr val="1565C0"/>
            </a:solidFill>
            <a:prstDash val="solid"/>
          </a:ln>
        </p:spPr>
      </p:sp>
      <p:sp>
        <p:nvSpPr>
          <p:cNvPr id="4" name="Shape 2"/>
          <p:cNvSpPr/>
          <p:nvPr/>
        </p:nvSpPr>
        <p:spPr>
          <a:xfrm>
            <a:off x="3977640" y="2194560"/>
            <a:ext cx="914400" cy="914400"/>
          </a:xfrm>
          <a:prstGeom prst="ellipse">
            <a:avLst/>
          </a:prstGeom>
          <a:solidFill>
            <a:srgbClr val="F59E0B"/>
          </a:solidFill>
          <a:ln w="12700">
            <a:solidFill>
              <a:srgbClr val="F59E0B"/>
            </a:solidFill>
            <a:prstDash val="solid"/>
          </a:ln>
        </p:spPr>
      </p:sp>
      <p:pic>
        <p:nvPicPr>
          <p:cNvPr id="5" name="Image 0" descr="preencoded.png"/>
          <p:cNvPicPr>
            <a:picLocks noChangeAspect="1"/>
          </p:cNvPicPr>
          <p:nvPr/>
        </p:nvPicPr>
        <p:blipFill>
          <a:blip r:embed="rId1"/>
          <a:stretch>
            <a:fillRect/>
          </a:stretch>
        </p:blipFill>
        <p:spPr>
          <a:xfrm>
            <a:off x="4206240" y="2423160"/>
            <a:ext cx="457200" cy="457200"/>
          </a:xfrm>
          <a:prstGeom prst="rect">
            <a:avLst/>
          </a:prstGeom>
        </p:spPr>
      </p:pic>
      <p:sp>
        <p:nvSpPr>
          <p:cNvPr id="6" name="Shape 3"/>
          <p:cNvSpPr/>
          <p:nvPr/>
        </p:nvSpPr>
        <p:spPr>
          <a:xfrm>
            <a:off x="5623560" y="2194560"/>
            <a:ext cx="914400" cy="914400"/>
          </a:xfrm>
          <a:prstGeom prst="ellipse">
            <a:avLst/>
          </a:prstGeom>
          <a:solidFill>
            <a:schemeClr val="bg1"/>
          </a:solidFill>
        </p:spPr>
        <p:style>
          <a:lnRef idx="2">
            <a:schemeClr val="accent1"/>
          </a:lnRef>
          <a:fillRef idx="0">
            <a:srgbClr val="FFFFFF"/>
          </a:fillRef>
          <a:effectRef idx="0">
            <a:srgbClr val="FFFFFF"/>
          </a:effectRef>
          <a:fontRef idx="minor">
            <a:schemeClr val="tx1"/>
          </a:fontRef>
        </p:style>
      </p:sp>
      <p:pic>
        <p:nvPicPr>
          <p:cNvPr id="7" name="Image 1" descr="preencoded.png"/>
          <p:cNvPicPr>
            <a:picLocks noChangeAspect="1"/>
          </p:cNvPicPr>
          <p:nvPr/>
        </p:nvPicPr>
        <p:blipFill>
          <a:blip r:embed="rId2"/>
          <a:stretch>
            <a:fillRect/>
          </a:stretch>
        </p:blipFill>
        <p:spPr>
          <a:xfrm>
            <a:off x="5852160" y="2423160"/>
            <a:ext cx="457200" cy="457200"/>
          </a:xfrm>
          <a:prstGeom prst="rect">
            <a:avLst/>
          </a:prstGeom>
        </p:spPr>
      </p:pic>
      <p:sp>
        <p:nvSpPr>
          <p:cNvPr id="8" name="Shape 4"/>
          <p:cNvSpPr/>
          <p:nvPr/>
        </p:nvSpPr>
        <p:spPr>
          <a:xfrm>
            <a:off x="7269480" y="2194560"/>
            <a:ext cx="914400" cy="914400"/>
          </a:xfrm>
          <a:prstGeom prst="ellipse">
            <a:avLst/>
          </a:prstGeom>
          <a:solidFill>
            <a:srgbClr val="059669"/>
          </a:solidFill>
          <a:ln w="12700">
            <a:solidFill>
              <a:srgbClr val="059669"/>
            </a:solidFill>
            <a:prstDash val="solid"/>
          </a:ln>
        </p:spPr>
      </p:sp>
      <p:pic>
        <p:nvPicPr>
          <p:cNvPr id="9" name="Image 2" descr="preencoded.png"/>
          <p:cNvPicPr>
            <a:picLocks noChangeAspect="1"/>
          </p:cNvPicPr>
          <p:nvPr/>
        </p:nvPicPr>
        <p:blipFill>
          <a:blip r:embed="rId3"/>
          <a:stretch>
            <a:fillRect/>
          </a:stretch>
        </p:blipFill>
        <p:spPr>
          <a:xfrm>
            <a:off x="7498080" y="2423160"/>
            <a:ext cx="457200" cy="457200"/>
          </a:xfrm>
          <a:prstGeom prst="rect">
            <a:avLst/>
          </a:prstGeom>
        </p:spPr>
      </p:pic>
      <p:sp>
        <p:nvSpPr>
          <p:cNvPr id="10" name="Text 5"/>
          <p:cNvSpPr/>
          <p:nvPr/>
        </p:nvSpPr>
        <p:spPr>
          <a:xfrm>
            <a:off x="457200" y="3749040"/>
            <a:ext cx="11247120" cy="1280160"/>
          </a:xfrm>
          <a:prstGeom prst="rect">
            <a:avLst/>
          </a:prstGeom>
          <a:noFill/>
        </p:spPr>
        <p:txBody>
          <a:bodyPr wrap="square" lIns="0" tIns="0" rIns="0" bIns="0" rtlCol="0" anchor="ctr"/>
          <a:lstStyle/>
          <a:p>
            <a:pPr marL="0" indent="0" algn="ctr">
              <a:buNone/>
            </a:pPr>
            <a:r>
              <a:rPr lang="en-US" sz="6000" b="1" i="1" dirty="0">
                <a:solidFill>
                  <a:srgbClr val="FFFFFF"/>
                </a:solidFill>
                <a:latin typeface="Georgia" panose="02040502050405090303" pitchFamily="34" charset="0"/>
                <a:ea typeface="Georgia" panose="02040502050405090303" pitchFamily="34" charset="-122"/>
                <a:cs typeface="Georgia" panose="02040502050405090303" pitchFamily="34" charset="-120"/>
              </a:rPr>
              <a:t>Merci pour votre attention</a:t>
            </a:r>
            <a:endParaRPr lang="en-US" sz="6000" dirty="0"/>
          </a:p>
        </p:txBody>
      </p:sp>
      <p:sp>
        <p:nvSpPr>
          <p:cNvPr id="11" name="Text 6"/>
          <p:cNvSpPr/>
          <p:nvPr/>
        </p:nvSpPr>
        <p:spPr>
          <a:xfrm>
            <a:off x="457200" y="5212080"/>
            <a:ext cx="11247120" cy="457200"/>
          </a:xfrm>
          <a:prstGeom prst="rect">
            <a:avLst/>
          </a:prstGeom>
          <a:noFill/>
        </p:spPr>
        <p:txBody>
          <a:bodyPr wrap="square" lIns="0" tIns="0" rIns="0" bIns="0" rtlCol="0" anchor="ctr"/>
          <a:lstStyle/>
          <a:p>
            <a:pPr marL="0" indent="0" algn="ctr">
              <a:buNone/>
            </a:pPr>
            <a:r>
              <a:rPr lang="en-US" sz="1600" i="1" dirty="0">
                <a:solidFill>
                  <a:srgbClr val="F59E0B"/>
                </a:solidFill>
                <a:latin typeface="Georgia" panose="02040502050405090303" pitchFamily="34" charset="0"/>
                <a:ea typeface="Georgia" panose="02040502050405090303" pitchFamily="34" charset="-122"/>
                <a:cs typeface="Georgia" panose="02040502050405090303" pitchFamily="34" charset="-120"/>
              </a:rPr>
              <a:t>Saytu Mbeund  ·  « Veiller sur les inondations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9539</Words>
  <Application>WPS Presentation</Application>
  <PresentationFormat>On-screen Show (16:9)</PresentationFormat>
  <Paragraphs>527</Paragraphs>
  <Slides>13</Slides>
  <Notes>13</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13</vt:i4>
      </vt:variant>
    </vt:vector>
  </HeadingPairs>
  <TitlesOfParts>
    <vt:vector size="36" baseType="lpstr">
      <vt:lpstr>Arial</vt:lpstr>
      <vt:lpstr>SimSun</vt:lpstr>
      <vt:lpstr>Wingdings</vt:lpstr>
      <vt:lpstr>Calibri</vt:lpstr>
      <vt:lpstr>Helvetica Neue</vt:lpstr>
      <vt:lpstr>Calibri</vt:lpstr>
      <vt:lpstr>Calibri</vt:lpstr>
      <vt:lpstr>Georgia</vt:lpstr>
      <vt:lpstr>Georgia</vt:lpstr>
      <vt:lpstr>Georgia</vt:lpstr>
      <vt:lpstr>Microsoft YaHei</vt:lpstr>
      <vt:lpstr>汉仪旗黑</vt:lpstr>
      <vt:lpstr>Arial Unicode MS</vt:lpstr>
      <vt:lpstr>汉仪书宋二KW</vt:lpstr>
      <vt:lpstr>Calibri Light</vt:lpstr>
      <vt:lpstr>江城圆体 400W</vt:lpstr>
      <vt:lpstr>冬青黑体简体中文</vt:lpstr>
      <vt:lpstr>Crimson Text SemiBold</vt:lpstr>
      <vt:lpstr>苹方-简</vt:lpstr>
      <vt:lpstr>Charis SIL</vt:lpstr>
      <vt:lpstr>MS PGothic</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Yaatal Digital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Saytu Mbeund — FloodGuardAI</dc:title>
  <dc:creator>Papa Ahmadou Seydou Sow &amp; Adama Sow Kébé</dc:creator>
  <dc:subject>PptxGenJS Presentation</dc:subject>
  <cp:lastModifiedBy>mac</cp:lastModifiedBy>
  <cp:revision>2</cp:revision>
  <dcterms:created xsi:type="dcterms:W3CDTF">2026-05-03T12:29:03Z</dcterms:created>
  <dcterms:modified xsi:type="dcterms:W3CDTF">2026-05-03T12:29:03Z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1033-12.1.25880.25880</vt:lpwstr>
  </property>
  <property fmtid="{D5CDD505-2E9C-101B-9397-08002B2CF9AE}" pid="3" name="ICV">
    <vt:lpwstr>3DBD2735151093D98F3FF769F6A72FDA_42</vt:lpwstr>
  </property>
</Properties>
</file>