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C4D"/>
        </a:solidFill>
      </p:bgPr>
    </p:bg>
    <p:spTree>
      <p:nvGrpSpPr>
        <p:cNvPr id="1" name=""/>
        <p:cNvGrpSpPr/>
        <p:nvPr/>
      </p:nvGrpSpPr>
      <p:grpSpPr>
        <a:xfrm>
          <a:off x="0" y="0"/>
          <a:ext cx="0" cy="0"/>
          <a:chOff x="0" y="0"/>
          <a:chExt cx="0" cy="0"/>
        </a:xfrm>
      </p:grpSpPr>
      <p:sp>
        <p:nvSpPr>
          <p:cNvPr id="2" name="Shape 0"/>
          <p:cNvSpPr/>
          <p:nvPr/>
        </p:nvSpPr>
        <p:spPr>
          <a:xfrm>
            <a:off x="-1828800" y="-2743200"/>
            <a:ext cx="7315200" cy="7315200"/>
          </a:xfrm>
          <a:prstGeom prst="ellipse">
            <a:avLst/>
          </a:prstGeom>
          <a:solidFill>
            <a:srgbClr val="1A6FAB">
              <a:alpha val="30000"/>
            </a:srgbClr>
          </a:solidFill>
          <a:ln w="12700">
            <a:solidFill>
              <a:srgbClr val="1A6FAB"/>
            </a:solidFill>
            <a:prstDash val="solid"/>
          </a:ln>
        </p:spPr>
      </p:sp>
      <p:sp>
        <p:nvSpPr>
          <p:cNvPr id="3" name="Shape 1"/>
          <p:cNvSpPr/>
          <p:nvPr/>
        </p:nvSpPr>
        <p:spPr>
          <a:xfrm>
            <a:off x="8503920" y="3200400"/>
            <a:ext cx="6400800" cy="6400800"/>
          </a:xfrm>
          <a:prstGeom prst="ellipse">
            <a:avLst/>
          </a:prstGeom>
          <a:solidFill>
            <a:srgbClr val="1A6FAB">
              <a:alpha val="20000"/>
            </a:srgbClr>
          </a:solidFill>
          <a:ln w="12700">
            <a:solidFill>
              <a:srgbClr val="1A6FAB"/>
            </a:solidFill>
            <a:prstDash val="solid"/>
          </a:ln>
        </p:spPr>
      </p:sp>
      <p:pic>
        <p:nvPicPr>
          <p:cNvPr id="4" name="Image 0" descr="preencoded.png">    </p:cNvPr>
          <p:cNvPicPr>
            <a:picLocks noChangeAspect="1"/>
          </p:cNvPicPr>
          <p:nvPr/>
        </p:nvPicPr>
        <p:blipFill>
          <a:blip r:embed="rId1">
            <a:alphaModFix amt="50000"/>
          </a:blip>
          <a:stretch>
            <a:fillRect/>
          </a:stretch>
        </p:blipFill>
        <p:spPr>
          <a:xfrm>
            <a:off x="9784080" y="457200"/>
            <a:ext cx="1645920" cy="1645920"/>
          </a:xfrm>
          <a:prstGeom prst="rect">
            <a:avLst/>
          </a:prstGeom>
        </p:spPr>
      </p:pic>
      <p:sp>
        <p:nvSpPr>
          <p:cNvPr id="5" name="Text 2"/>
          <p:cNvSpPr/>
          <p:nvPr/>
        </p:nvSpPr>
        <p:spPr>
          <a:xfrm>
            <a:off x="731520" y="1097280"/>
            <a:ext cx="10058400" cy="365760"/>
          </a:xfrm>
          <a:prstGeom prst="rect">
            <a:avLst/>
          </a:prstGeom>
          <a:noFill/>
          <a:ln/>
        </p:spPr>
        <p:txBody>
          <a:bodyPr wrap="square" lIns="0" tIns="0" rIns="0" bIns="0" rtlCol="0" anchor="ctr"/>
          <a:lstStyle/>
          <a:p>
            <a:pPr indent="0" marL="0">
              <a:buNone/>
            </a:pPr>
            <a:r>
              <a:rPr lang="en-US" sz="1100" b="1" spc="500" kern="0" dirty="0">
                <a:solidFill>
                  <a:srgbClr val="60A5FA"/>
                </a:solidFill>
                <a:latin typeface="Calibri" pitchFamily="34" charset="0"/>
                <a:ea typeface="Calibri" pitchFamily="34" charset="-122"/>
                <a:cs typeface="Calibri" pitchFamily="34" charset="-120"/>
              </a:rPr>
              <a:t>RÉPUBLIQUE DU SÉNÉGAL  ·  PROJET DE RECHERCHE APPLIQUÉE</a:t>
            </a:r>
            <a:endParaRPr lang="en-US" sz="1100" dirty="0"/>
          </a:p>
        </p:txBody>
      </p:sp>
      <p:sp>
        <p:nvSpPr>
          <p:cNvPr id="6" name="Text 3"/>
          <p:cNvSpPr/>
          <p:nvPr/>
        </p:nvSpPr>
        <p:spPr>
          <a:xfrm>
            <a:off x="731520" y="1508760"/>
            <a:ext cx="10972800" cy="1371600"/>
          </a:xfrm>
          <a:prstGeom prst="rect">
            <a:avLst/>
          </a:prstGeom>
          <a:noFill/>
          <a:ln/>
        </p:spPr>
        <p:txBody>
          <a:bodyPr wrap="square" lIns="0" tIns="0" rIns="0" bIns="0" rtlCol="0" anchor="ctr"/>
          <a:lstStyle/>
          <a:p>
            <a:pPr indent="0" marL="0">
              <a:buNone/>
            </a:pPr>
            <a:r>
              <a:rPr lang="en-US" sz="7800" b="1" spc="200" kern="0" dirty="0">
                <a:solidFill>
                  <a:srgbClr val="FFFFFF"/>
                </a:solidFill>
                <a:latin typeface="Georgia" pitchFamily="34" charset="0"/>
                <a:ea typeface="Georgia" pitchFamily="34" charset="-122"/>
                <a:cs typeface="Georgia" pitchFamily="34" charset="-120"/>
              </a:rPr>
              <a:t>Saytu Mbeund</a:t>
            </a:r>
            <a:endParaRPr lang="en-US" sz="7800" dirty="0"/>
          </a:p>
        </p:txBody>
      </p:sp>
      <p:sp>
        <p:nvSpPr>
          <p:cNvPr id="7" name="Text 4"/>
          <p:cNvSpPr/>
          <p:nvPr/>
        </p:nvSpPr>
        <p:spPr>
          <a:xfrm>
            <a:off x="777240" y="2788920"/>
            <a:ext cx="10515600" cy="365760"/>
          </a:xfrm>
          <a:prstGeom prst="rect">
            <a:avLst/>
          </a:prstGeom>
          <a:noFill/>
          <a:ln/>
        </p:spPr>
        <p:txBody>
          <a:bodyPr wrap="square" lIns="0" tIns="0" rIns="0" bIns="0" rtlCol="0" anchor="ctr"/>
          <a:lstStyle/>
          <a:p>
            <a:pPr indent="0" marL="0">
              <a:buNone/>
            </a:pPr>
            <a:r>
              <a:rPr lang="en-US" sz="1300" i="1" dirty="0">
                <a:solidFill>
                  <a:srgbClr val="F59E0B"/>
                </a:solidFill>
                <a:latin typeface="Georgia" pitchFamily="34" charset="0"/>
                <a:ea typeface="Georgia" pitchFamily="34" charset="-122"/>
                <a:cs typeface="Georgia" pitchFamily="34" charset="-120"/>
              </a:rPr>
              <a:t>« Veiller sur les inondations »</a:t>
            </a:r>
            <a:endParaRPr lang="en-US" sz="1300" dirty="0"/>
          </a:p>
        </p:txBody>
      </p:sp>
      <p:sp>
        <p:nvSpPr>
          <p:cNvPr id="8" name="Text 5"/>
          <p:cNvSpPr/>
          <p:nvPr/>
        </p:nvSpPr>
        <p:spPr>
          <a:xfrm>
            <a:off x="731520" y="3200400"/>
            <a:ext cx="10515600" cy="1097280"/>
          </a:xfrm>
          <a:prstGeom prst="rect">
            <a:avLst/>
          </a:prstGeom>
          <a:noFill/>
          <a:ln/>
        </p:spPr>
        <p:txBody>
          <a:bodyPr wrap="square" lIns="0" tIns="0" rIns="0" bIns="0" rtlCol="0" anchor="ctr"/>
          <a:lstStyle/>
          <a:p>
            <a:pPr indent="0" marL="0">
              <a:buNone/>
            </a:pPr>
            <a:r>
              <a:rPr lang="en-US" sz="2200" i="1" dirty="0">
                <a:solidFill>
                  <a:srgbClr val="FFFFFF"/>
                </a:solidFill>
                <a:latin typeface="Georgia" pitchFamily="34" charset="0"/>
                <a:ea typeface="Georgia" pitchFamily="34" charset="-122"/>
                <a:cs typeface="Georgia" pitchFamily="34" charset="-120"/>
              </a:rPr>
              <a:t>Détection et prédiction des inondations au Sénégal</a:t>
            </a:r>
            <a:endParaRPr lang="en-US" sz="2200" dirty="0"/>
          </a:p>
          <a:p>
            <a:pPr indent="0" marL="0">
              <a:buNone/>
            </a:pPr>
            <a:r>
              <a:rPr lang="en-US" sz="2200" i="1" dirty="0">
                <a:solidFill>
                  <a:srgbClr val="FFFFFF"/>
                </a:solidFill>
                <a:latin typeface="Georgia" pitchFamily="34" charset="0"/>
                <a:ea typeface="Georgia" pitchFamily="34" charset="-122"/>
                <a:cs typeface="Georgia" pitchFamily="34" charset="-120"/>
              </a:rPr>
              <a:t>par Intelligence Artificielle</a:t>
            </a:r>
            <a:endParaRPr lang="en-US" sz="2200" dirty="0"/>
          </a:p>
        </p:txBody>
      </p:sp>
      <p:sp>
        <p:nvSpPr>
          <p:cNvPr id="9" name="Shape 6"/>
          <p:cNvSpPr/>
          <p:nvPr/>
        </p:nvSpPr>
        <p:spPr>
          <a:xfrm>
            <a:off x="731520" y="4251960"/>
            <a:ext cx="73152" cy="457200"/>
          </a:xfrm>
          <a:prstGeom prst="rect">
            <a:avLst/>
          </a:prstGeom>
          <a:solidFill>
            <a:srgbClr val="F59E0B"/>
          </a:solidFill>
          <a:ln w="12700">
            <a:solidFill>
              <a:srgbClr val="F59E0B"/>
            </a:solidFill>
            <a:prstDash val="solid"/>
          </a:ln>
        </p:spPr>
      </p:sp>
      <p:sp>
        <p:nvSpPr>
          <p:cNvPr id="10" name="Text 7"/>
          <p:cNvSpPr/>
          <p:nvPr/>
        </p:nvSpPr>
        <p:spPr>
          <a:xfrm>
            <a:off x="914400" y="4251960"/>
            <a:ext cx="10058400" cy="457200"/>
          </a:xfrm>
          <a:prstGeom prst="rect">
            <a:avLst/>
          </a:prstGeom>
          <a:noFill/>
          <a:ln/>
        </p:spPr>
        <p:txBody>
          <a:bodyPr wrap="square" lIns="0" tIns="0" rIns="0" bIns="0" rtlCol="0" anchor="ctr"/>
          <a:lstStyle/>
          <a:p>
            <a:pPr indent="0" marL="0">
              <a:buNone/>
            </a:pPr>
            <a:r>
              <a:rPr lang="en-US" sz="1600" b="1" dirty="0">
                <a:solidFill>
                  <a:srgbClr val="60A5FA"/>
                </a:solidFill>
                <a:latin typeface="Calibri" pitchFamily="34" charset="0"/>
                <a:ea typeface="Calibri" pitchFamily="34" charset="-122"/>
                <a:cs typeface="Calibri" pitchFamily="34" charset="-120"/>
              </a:rPr>
              <a:t>Machine Learning · Deep Learning · Participation Citoyenne</a:t>
            </a:r>
            <a:endParaRPr lang="en-US" sz="1600" dirty="0"/>
          </a:p>
        </p:txBody>
      </p:sp>
      <p:sp>
        <p:nvSpPr>
          <p:cNvPr id="11" name="Shape 8"/>
          <p:cNvSpPr/>
          <p:nvPr/>
        </p:nvSpPr>
        <p:spPr>
          <a:xfrm>
            <a:off x="0" y="5166360"/>
            <a:ext cx="12161520" cy="1691640"/>
          </a:xfrm>
          <a:prstGeom prst="rect">
            <a:avLst/>
          </a:prstGeom>
          <a:solidFill>
            <a:srgbClr val="000000">
              <a:alpha val="30000"/>
            </a:srgbClr>
          </a:solidFill>
          <a:ln w="12700">
            <a:solidFill>
              <a:srgbClr val="000000"/>
            </a:solidFill>
            <a:prstDash val="solid"/>
          </a:ln>
        </p:spPr>
      </p:sp>
      <p:sp>
        <p:nvSpPr>
          <p:cNvPr id="12" name="Text 9"/>
          <p:cNvSpPr/>
          <p:nvPr/>
        </p:nvSpPr>
        <p:spPr>
          <a:xfrm>
            <a:off x="731520" y="5230368"/>
            <a:ext cx="3657600" cy="274320"/>
          </a:xfrm>
          <a:prstGeom prst="rect">
            <a:avLst/>
          </a:prstGeom>
          <a:noFill/>
          <a:ln/>
        </p:spPr>
        <p:txBody>
          <a:bodyPr wrap="square" lIns="0" tIns="0" rIns="0" bIns="0" rtlCol="0" anchor="ctr"/>
          <a:lstStyle/>
          <a:p>
            <a:pPr indent="0" marL="0">
              <a:buNone/>
            </a:pPr>
            <a:r>
              <a:rPr lang="en-US" sz="900" b="1" spc="400" kern="0" dirty="0">
                <a:solidFill>
                  <a:srgbClr val="F59E0B"/>
                </a:solidFill>
                <a:latin typeface="Calibri" pitchFamily="34" charset="0"/>
                <a:ea typeface="Calibri" pitchFamily="34" charset="-122"/>
                <a:cs typeface="Calibri" pitchFamily="34" charset="-120"/>
              </a:rPr>
              <a:t>PRÉSENTÉ PAR</a:t>
            </a:r>
            <a:endParaRPr lang="en-US" sz="900" dirty="0"/>
          </a:p>
        </p:txBody>
      </p:sp>
      <p:sp>
        <p:nvSpPr>
          <p:cNvPr id="13" name="Shape 10"/>
          <p:cNvSpPr/>
          <p:nvPr/>
        </p:nvSpPr>
        <p:spPr>
          <a:xfrm>
            <a:off x="731520" y="5577840"/>
            <a:ext cx="54864" cy="1005840"/>
          </a:xfrm>
          <a:prstGeom prst="rect">
            <a:avLst/>
          </a:prstGeom>
          <a:solidFill>
            <a:srgbClr val="F59E0B"/>
          </a:solidFill>
          <a:ln w="12700">
            <a:solidFill>
              <a:srgbClr val="F59E0B"/>
            </a:solidFill>
            <a:prstDash val="solid"/>
          </a:ln>
        </p:spPr>
      </p:sp>
      <p:sp>
        <p:nvSpPr>
          <p:cNvPr id="14" name="Text 11"/>
          <p:cNvSpPr/>
          <p:nvPr/>
        </p:nvSpPr>
        <p:spPr>
          <a:xfrm>
            <a:off x="914400" y="5577840"/>
            <a:ext cx="4754880" cy="10058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Papa Ahmadou Seydou SOW</a:t>
            </a:r>
            <a:endParaRPr lang="en-US" sz="1300" dirty="0"/>
          </a:p>
          <a:p>
            <a:pPr indent="0" marL="0">
              <a:buNone/>
            </a:pPr>
            <a:r>
              <a:rPr lang="en-US" sz="1000" i="1" dirty="0">
                <a:solidFill>
                  <a:srgbClr val="60A5FA"/>
                </a:solidFill>
                <a:latin typeface="Calibri" pitchFamily="34" charset="0"/>
                <a:ea typeface="Calibri" pitchFamily="34" charset="-122"/>
                <a:cs typeface="Calibri" pitchFamily="34" charset="-120"/>
              </a:rPr>
              <a:t>Ingénieur en Intelligence Artificielle &amp; SmartTech</a:t>
            </a:r>
            <a:endParaRPr lang="en-US" sz="1300" dirty="0"/>
          </a:p>
          <a:p>
            <a:pPr indent="0" marL="0">
              <a:buNone/>
            </a:pPr>
            <a:r>
              <a:rPr lang="en-US" sz="900" dirty="0">
                <a:solidFill>
                  <a:srgbClr val="94A3B8"/>
                </a:solidFill>
                <a:latin typeface="Calibri" pitchFamily="34" charset="0"/>
                <a:ea typeface="Calibri" pitchFamily="34" charset="-122"/>
                <a:cs typeface="Calibri" pitchFamily="34" charset="-120"/>
              </a:rPr>
              <a:t>UIDT  ·  UTT  ·  paseydou.sow@univ-thies.sn</a:t>
            </a:r>
            <a:endParaRPr lang="en-US" sz="1300" dirty="0"/>
          </a:p>
        </p:txBody>
      </p:sp>
      <p:sp>
        <p:nvSpPr>
          <p:cNvPr id="15" name="Shape 12"/>
          <p:cNvSpPr/>
          <p:nvPr/>
        </p:nvSpPr>
        <p:spPr>
          <a:xfrm>
            <a:off x="5943600" y="5577840"/>
            <a:ext cx="54864" cy="1005840"/>
          </a:xfrm>
          <a:prstGeom prst="rect">
            <a:avLst/>
          </a:prstGeom>
          <a:solidFill>
            <a:srgbClr val="F59E0B"/>
          </a:solidFill>
          <a:ln w="12700">
            <a:solidFill>
              <a:srgbClr val="F59E0B"/>
            </a:solidFill>
            <a:prstDash val="solid"/>
          </a:ln>
        </p:spPr>
      </p:sp>
      <p:sp>
        <p:nvSpPr>
          <p:cNvPr id="16" name="Text 13"/>
          <p:cNvSpPr/>
          <p:nvPr/>
        </p:nvSpPr>
        <p:spPr>
          <a:xfrm>
            <a:off x="6126480" y="5577840"/>
            <a:ext cx="4572000" cy="10058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Adama Sow KÉBÉ</a:t>
            </a:r>
            <a:endParaRPr lang="en-US" sz="1300" dirty="0"/>
          </a:p>
          <a:p>
            <a:pPr indent="0" marL="0">
              <a:buNone/>
            </a:pPr>
            <a:r>
              <a:rPr lang="en-US" sz="1000" i="1" dirty="0">
                <a:solidFill>
                  <a:srgbClr val="60A5FA"/>
                </a:solidFill>
                <a:latin typeface="Calibri" pitchFamily="34" charset="0"/>
                <a:ea typeface="Calibri" pitchFamily="34" charset="-122"/>
                <a:cs typeface="Calibri" pitchFamily="34" charset="-120"/>
              </a:rPr>
              <a:t>Ingénieur en Hydraulique &amp; Assainissement</a:t>
            </a:r>
            <a:endParaRPr lang="en-US" sz="1300" dirty="0"/>
          </a:p>
          <a:p>
            <a:pPr indent="0" marL="0">
              <a:buNone/>
            </a:pPr>
            <a:r>
              <a:rPr lang="en-US" sz="900" dirty="0">
                <a:solidFill>
                  <a:srgbClr val="94A3B8"/>
                </a:solidFill>
                <a:latin typeface="Calibri" pitchFamily="34" charset="0"/>
                <a:ea typeface="Calibri" pitchFamily="34" charset="-122"/>
                <a:cs typeface="Calibri" pitchFamily="34" charset="-120"/>
              </a:rPr>
              <a:t>Yaatal Digital  ·  Co-fondateur du projet</a:t>
            </a:r>
            <a:endParaRPr lang="en-US" sz="1300" dirty="0"/>
          </a:p>
        </p:txBody>
      </p:sp>
      <p:sp>
        <p:nvSpPr>
          <p:cNvPr id="17" name="Text 14"/>
          <p:cNvSpPr/>
          <p:nvPr/>
        </p:nvSpPr>
        <p:spPr>
          <a:xfrm>
            <a:off x="10515600" y="6355080"/>
            <a:ext cx="1371600" cy="320040"/>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Mai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100" b="1" spc="400" kern="0" dirty="0">
                <a:solidFill>
                  <a:srgbClr val="1A6FAB"/>
                </a:solidFill>
                <a:latin typeface="Calibri" pitchFamily="34" charset="0"/>
                <a:ea typeface="Calibri" pitchFamily="34" charset="-122"/>
                <a:cs typeface="Calibri" pitchFamily="34" charset="-120"/>
              </a:rPr>
              <a:t>LE CONSTAT</a:t>
            </a:r>
            <a:endParaRPr lang="en-US" sz="1100" dirty="0"/>
          </a:p>
        </p:txBody>
      </p:sp>
      <p:sp>
        <p:nvSpPr>
          <p:cNvPr id="3" name="Text 1"/>
          <p:cNvSpPr/>
          <p:nvPr/>
        </p:nvSpPr>
        <p:spPr>
          <a:xfrm>
            <a:off x="548640" y="713232"/>
            <a:ext cx="11064240" cy="777240"/>
          </a:xfrm>
          <a:prstGeom prst="rect">
            <a:avLst/>
          </a:prstGeom>
          <a:noFill/>
          <a:ln/>
        </p:spPr>
        <p:txBody>
          <a:bodyPr wrap="square" lIns="0" tIns="0" rIns="0" bIns="0" rtlCol="0" anchor="ctr"/>
          <a:lstStyle/>
          <a:p>
            <a:pPr indent="0" marL="0">
              <a:buNone/>
            </a:pPr>
            <a:r>
              <a:rPr lang="en-US" sz="3000" b="1" dirty="0">
                <a:solidFill>
                  <a:srgbClr val="0F2C4D"/>
                </a:solidFill>
                <a:latin typeface="Georgia" pitchFamily="34" charset="0"/>
                <a:ea typeface="Georgia" pitchFamily="34" charset="-122"/>
                <a:cs typeface="Georgia" pitchFamily="34" charset="-120"/>
              </a:rPr>
              <a:t>Un risque structurel, un coût hors de contrôle</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A6FAB"/>
          </a:solidFill>
          <a:ln w="12700">
            <a:solidFill>
              <a:srgbClr val="1A6FAB"/>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Text 5"/>
          <p:cNvSpPr/>
          <p:nvPr/>
        </p:nvSpPr>
        <p:spPr>
          <a:xfrm>
            <a:off x="548640" y="1874520"/>
            <a:ext cx="11064240" cy="64008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Au Sénégal, les inondations ne sont plus un aléa saisonnier mais un risque structurel. Les épisodes majeurs de 2005, 2009, 2012 et 2024 ont révélé un système de réponse encore trop largement réactif.</a:t>
            </a:r>
            <a:endParaRPr lang="en-US" sz="1300" dirty="0"/>
          </a:p>
        </p:txBody>
      </p:sp>
      <p:sp>
        <p:nvSpPr>
          <p:cNvPr id="8" name="Shape 6"/>
          <p:cNvSpPr/>
          <p:nvPr/>
        </p:nvSpPr>
        <p:spPr>
          <a:xfrm>
            <a:off x="525780" y="2743200"/>
            <a:ext cx="2606040" cy="22860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9" name="Shape 7"/>
          <p:cNvSpPr/>
          <p:nvPr/>
        </p:nvSpPr>
        <p:spPr>
          <a:xfrm>
            <a:off x="525780" y="2743200"/>
            <a:ext cx="2606040" cy="73152"/>
          </a:xfrm>
          <a:prstGeom prst="rect">
            <a:avLst/>
          </a:prstGeom>
          <a:solidFill>
            <a:srgbClr val="EA580C"/>
          </a:solidFill>
          <a:ln w="12700">
            <a:solidFill>
              <a:srgbClr val="EA580C"/>
            </a:solidFill>
            <a:prstDash val="solid"/>
          </a:ln>
        </p:spPr>
      </p:sp>
      <p:sp>
        <p:nvSpPr>
          <p:cNvPr id="10" name="Shape 8"/>
          <p:cNvSpPr/>
          <p:nvPr/>
        </p:nvSpPr>
        <p:spPr>
          <a:xfrm>
            <a:off x="1463040" y="3017520"/>
            <a:ext cx="731520" cy="731520"/>
          </a:xfrm>
          <a:prstGeom prst="ellipse">
            <a:avLst/>
          </a:prstGeom>
          <a:solidFill>
            <a:srgbClr val="FFF7ED"/>
          </a:solidFill>
          <a:ln w="12700">
            <a:solidFill>
              <a:srgbClr val="FFEDD5"/>
            </a:solidFill>
            <a:prstDash val="solid"/>
          </a:ln>
        </p:spPr>
      </p:sp>
      <p:pic>
        <p:nvPicPr>
          <p:cNvPr id="11" name="Image 0" descr="preencoded.png">    </p:cNvPr>
          <p:cNvPicPr>
            <a:picLocks noChangeAspect="1"/>
          </p:cNvPicPr>
          <p:nvPr/>
        </p:nvPicPr>
        <p:blipFill>
          <a:blip r:embed="rId1"/>
          <a:stretch>
            <a:fillRect/>
          </a:stretch>
        </p:blipFill>
        <p:spPr>
          <a:xfrm>
            <a:off x="1600200" y="3154680"/>
            <a:ext cx="457200" cy="457200"/>
          </a:xfrm>
          <a:prstGeom prst="rect">
            <a:avLst/>
          </a:prstGeom>
        </p:spPr>
      </p:pic>
      <p:sp>
        <p:nvSpPr>
          <p:cNvPr id="12" name="Text 9"/>
          <p:cNvSpPr/>
          <p:nvPr/>
        </p:nvSpPr>
        <p:spPr>
          <a:xfrm>
            <a:off x="617220" y="3840480"/>
            <a:ext cx="2423160" cy="640080"/>
          </a:xfrm>
          <a:prstGeom prst="rect">
            <a:avLst/>
          </a:prstGeom>
          <a:noFill/>
          <a:ln/>
        </p:spPr>
        <p:txBody>
          <a:bodyPr wrap="square" lIns="0" tIns="0" rIns="0" bIns="0" rtlCol="0" anchor="ctr"/>
          <a:lstStyle/>
          <a:p>
            <a:pPr algn="ctr" indent="0" marL="0">
              <a:buNone/>
            </a:pPr>
            <a:r>
              <a:rPr lang="en-US" sz="2400" b="1" dirty="0">
                <a:solidFill>
                  <a:srgbClr val="0F2C4D"/>
                </a:solidFill>
                <a:latin typeface="Georgia" pitchFamily="34" charset="0"/>
                <a:ea typeface="Georgia" pitchFamily="34" charset="-122"/>
                <a:cs typeface="Georgia" pitchFamily="34" charset="-120"/>
              </a:rPr>
              <a:t>+500 Mds</a:t>
            </a:r>
            <a:endParaRPr lang="en-US" sz="2400" dirty="0"/>
          </a:p>
          <a:p>
            <a:pPr algn="ctr" indent="0" marL="0">
              <a:buNone/>
            </a:pPr>
            <a:r>
              <a:rPr lang="en-US" sz="1000" i="1" dirty="0">
                <a:solidFill>
                  <a:srgbClr val="94A3B8"/>
                </a:solidFill>
                <a:latin typeface="Calibri" pitchFamily="34" charset="0"/>
                <a:ea typeface="Calibri" pitchFamily="34" charset="-122"/>
                <a:cs typeface="Calibri" pitchFamily="34" charset="-120"/>
              </a:rPr>
              <a:t>FCFA</a:t>
            </a:r>
            <a:endParaRPr lang="en-US" sz="2400" dirty="0"/>
          </a:p>
        </p:txBody>
      </p:sp>
      <p:sp>
        <p:nvSpPr>
          <p:cNvPr id="13" name="Text 10"/>
          <p:cNvSpPr/>
          <p:nvPr/>
        </p:nvSpPr>
        <p:spPr>
          <a:xfrm>
            <a:off x="662940" y="4498848"/>
            <a:ext cx="2331720" cy="45720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de pertes cumulées entre 2005 et 2020 (OCHA 2012)</a:t>
            </a:r>
            <a:endParaRPr lang="en-US" sz="1000" dirty="0"/>
          </a:p>
        </p:txBody>
      </p:sp>
      <p:sp>
        <p:nvSpPr>
          <p:cNvPr id="14" name="Shape 11"/>
          <p:cNvSpPr/>
          <p:nvPr/>
        </p:nvSpPr>
        <p:spPr>
          <a:xfrm>
            <a:off x="3360420" y="2743200"/>
            <a:ext cx="2606040" cy="22860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15" name="Shape 12"/>
          <p:cNvSpPr/>
          <p:nvPr/>
        </p:nvSpPr>
        <p:spPr>
          <a:xfrm>
            <a:off x="3360420" y="2743200"/>
            <a:ext cx="2606040" cy="73152"/>
          </a:xfrm>
          <a:prstGeom prst="rect">
            <a:avLst/>
          </a:prstGeom>
          <a:solidFill>
            <a:srgbClr val="EA580C"/>
          </a:solidFill>
          <a:ln w="12700">
            <a:solidFill>
              <a:srgbClr val="EA580C"/>
            </a:solidFill>
            <a:prstDash val="solid"/>
          </a:ln>
        </p:spPr>
      </p:sp>
      <p:sp>
        <p:nvSpPr>
          <p:cNvPr id="16" name="Shape 13"/>
          <p:cNvSpPr/>
          <p:nvPr/>
        </p:nvSpPr>
        <p:spPr>
          <a:xfrm>
            <a:off x="4297680" y="3017520"/>
            <a:ext cx="731520" cy="731520"/>
          </a:xfrm>
          <a:prstGeom prst="ellipse">
            <a:avLst/>
          </a:prstGeom>
          <a:solidFill>
            <a:srgbClr val="FFF7ED"/>
          </a:solidFill>
          <a:ln w="12700">
            <a:solidFill>
              <a:srgbClr val="FFEDD5"/>
            </a:solidFill>
            <a:prstDash val="solid"/>
          </a:ln>
        </p:spPr>
      </p:sp>
      <p:pic>
        <p:nvPicPr>
          <p:cNvPr id="17" name="Image 1" descr="preencoded.png">    </p:cNvPr>
          <p:cNvPicPr>
            <a:picLocks noChangeAspect="1"/>
          </p:cNvPicPr>
          <p:nvPr/>
        </p:nvPicPr>
        <p:blipFill>
          <a:blip r:embed="rId2"/>
          <a:stretch>
            <a:fillRect/>
          </a:stretch>
        </p:blipFill>
        <p:spPr>
          <a:xfrm>
            <a:off x="4434840" y="3154680"/>
            <a:ext cx="457200" cy="457200"/>
          </a:xfrm>
          <a:prstGeom prst="rect">
            <a:avLst/>
          </a:prstGeom>
        </p:spPr>
      </p:pic>
      <p:sp>
        <p:nvSpPr>
          <p:cNvPr id="18" name="Text 14"/>
          <p:cNvSpPr/>
          <p:nvPr/>
        </p:nvSpPr>
        <p:spPr>
          <a:xfrm>
            <a:off x="3451860" y="3840480"/>
            <a:ext cx="2423160" cy="640080"/>
          </a:xfrm>
          <a:prstGeom prst="rect">
            <a:avLst/>
          </a:prstGeom>
          <a:noFill/>
          <a:ln/>
        </p:spPr>
        <p:txBody>
          <a:bodyPr wrap="square" lIns="0" tIns="0" rIns="0" bIns="0" rtlCol="0" anchor="ctr"/>
          <a:lstStyle/>
          <a:p>
            <a:pPr algn="ctr" indent="0" marL="0">
              <a:buNone/>
            </a:pPr>
            <a:r>
              <a:rPr lang="en-US" sz="2400" b="1" dirty="0">
                <a:solidFill>
                  <a:srgbClr val="0F2C4D"/>
                </a:solidFill>
                <a:latin typeface="Georgia" pitchFamily="34" charset="0"/>
                <a:ea typeface="Georgia" pitchFamily="34" charset="-122"/>
                <a:cs typeface="Georgia" pitchFamily="34" charset="-120"/>
              </a:rPr>
              <a:t>≈ 5 %</a:t>
            </a:r>
            <a:endParaRPr lang="en-US" sz="2400" dirty="0"/>
          </a:p>
          <a:p>
            <a:pPr algn="ctr" indent="0" marL="0">
              <a:buNone/>
            </a:pPr>
            <a:r>
              <a:rPr lang="en-US" sz="1000" i="1" dirty="0">
                <a:solidFill>
                  <a:srgbClr val="94A3B8"/>
                </a:solidFill>
                <a:latin typeface="Calibri" pitchFamily="34" charset="0"/>
                <a:ea typeface="Calibri" pitchFamily="34" charset="-122"/>
                <a:cs typeface="Calibri" pitchFamily="34" charset="-120"/>
              </a:rPr>
              <a:t>du PIB</a:t>
            </a:r>
            <a:endParaRPr lang="en-US" sz="2400" dirty="0"/>
          </a:p>
        </p:txBody>
      </p:sp>
      <p:sp>
        <p:nvSpPr>
          <p:cNvPr id="19" name="Text 15"/>
          <p:cNvSpPr/>
          <p:nvPr/>
        </p:nvSpPr>
        <p:spPr>
          <a:xfrm>
            <a:off x="3497580" y="4498848"/>
            <a:ext cx="2331720" cy="45720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du Sénégal absorbé par les épisodes majeurs</a:t>
            </a:r>
            <a:endParaRPr lang="en-US" sz="1000" dirty="0"/>
          </a:p>
        </p:txBody>
      </p:sp>
      <p:sp>
        <p:nvSpPr>
          <p:cNvPr id="20" name="Shape 16"/>
          <p:cNvSpPr/>
          <p:nvPr/>
        </p:nvSpPr>
        <p:spPr>
          <a:xfrm>
            <a:off x="6195060" y="2743200"/>
            <a:ext cx="2606040" cy="22860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21" name="Shape 17"/>
          <p:cNvSpPr/>
          <p:nvPr/>
        </p:nvSpPr>
        <p:spPr>
          <a:xfrm>
            <a:off x="6195060" y="2743200"/>
            <a:ext cx="2606040" cy="73152"/>
          </a:xfrm>
          <a:prstGeom prst="rect">
            <a:avLst/>
          </a:prstGeom>
          <a:solidFill>
            <a:srgbClr val="EA580C"/>
          </a:solidFill>
          <a:ln w="12700">
            <a:solidFill>
              <a:srgbClr val="EA580C"/>
            </a:solidFill>
            <a:prstDash val="solid"/>
          </a:ln>
        </p:spPr>
      </p:sp>
      <p:sp>
        <p:nvSpPr>
          <p:cNvPr id="22" name="Shape 18"/>
          <p:cNvSpPr/>
          <p:nvPr/>
        </p:nvSpPr>
        <p:spPr>
          <a:xfrm>
            <a:off x="7132320" y="3017520"/>
            <a:ext cx="731520" cy="731520"/>
          </a:xfrm>
          <a:prstGeom prst="ellipse">
            <a:avLst/>
          </a:prstGeom>
          <a:solidFill>
            <a:srgbClr val="FFF7ED"/>
          </a:solidFill>
          <a:ln w="12700">
            <a:solidFill>
              <a:srgbClr val="FFEDD5"/>
            </a:solidFill>
            <a:prstDash val="solid"/>
          </a:ln>
        </p:spPr>
      </p:sp>
      <p:pic>
        <p:nvPicPr>
          <p:cNvPr id="23" name="Image 2" descr="preencoded.png">    </p:cNvPr>
          <p:cNvPicPr>
            <a:picLocks noChangeAspect="1"/>
          </p:cNvPicPr>
          <p:nvPr/>
        </p:nvPicPr>
        <p:blipFill>
          <a:blip r:embed="rId3"/>
          <a:stretch>
            <a:fillRect/>
          </a:stretch>
        </p:blipFill>
        <p:spPr>
          <a:xfrm>
            <a:off x="7269480" y="3154680"/>
            <a:ext cx="457200" cy="457200"/>
          </a:xfrm>
          <a:prstGeom prst="rect">
            <a:avLst/>
          </a:prstGeom>
        </p:spPr>
      </p:pic>
      <p:sp>
        <p:nvSpPr>
          <p:cNvPr id="24" name="Text 19"/>
          <p:cNvSpPr/>
          <p:nvPr/>
        </p:nvSpPr>
        <p:spPr>
          <a:xfrm>
            <a:off x="6286500" y="3840480"/>
            <a:ext cx="2423160" cy="640080"/>
          </a:xfrm>
          <a:prstGeom prst="rect">
            <a:avLst/>
          </a:prstGeom>
          <a:noFill/>
          <a:ln/>
        </p:spPr>
        <p:txBody>
          <a:bodyPr wrap="square" lIns="0" tIns="0" rIns="0" bIns="0" rtlCol="0" anchor="ctr"/>
          <a:lstStyle/>
          <a:p>
            <a:pPr algn="ctr" indent="0" marL="0">
              <a:buNone/>
            </a:pPr>
            <a:r>
              <a:rPr lang="en-US" sz="2400" b="1" dirty="0">
                <a:solidFill>
                  <a:srgbClr val="0F2C4D"/>
                </a:solidFill>
                <a:latin typeface="Georgia" pitchFamily="34" charset="0"/>
                <a:ea typeface="Georgia" pitchFamily="34" charset="-122"/>
                <a:cs typeface="Georgia" pitchFamily="34" charset="-120"/>
              </a:rPr>
              <a:t>6+</a:t>
            </a:r>
            <a:endParaRPr lang="en-US" sz="2400" dirty="0"/>
          </a:p>
          <a:p>
            <a:pPr algn="ctr" indent="0" marL="0">
              <a:buNone/>
            </a:pPr>
            <a:r>
              <a:rPr lang="en-US" sz="1000" i="1" dirty="0">
                <a:solidFill>
                  <a:srgbClr val="94A3B8"/>
                </a:solidFill>
                <a:latin typeface="Calibri" pitchFamily="34" charset="0"/>
                <a:ea typeface="Calibri" pitchFamily="34" charset="-122"/>
                <a:cs typeface="Calibri" pitchFamily="34" charset="-120"/>
              </a:rPr>
              <a:t>régions</a:t>
            </a:r>
            <a:endParaRPr lang="en-US" sz="2400" dirty="0"/>
          </a:p>
        </p:txBody>
      </p:sp>
      <p:sp>
        <p:nvSpPr>
          <p:cNvPr id="25" name="Text 20"/>
          <p:cNvSpPr/>
          <p:nvPr/>
        </p:nvSpPr>
        <p:spPr>
          <a:xfrm>
            <a:off x="6332220" y="4498848"/>
            <a:ext cx="2331720" cy="45720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Dakar, Pikine, Keur Massar, Touba, Kaolack, Matam…</a:t>
            </a:r>
            <a:endParaRPr lang="en-US" sz="1000" dirty="0"/>
          </a:p>
        </p:txBody>
      </p:sp>
      <p:sp>
        <p:nvSpPr>
          <p:cNvPr id="26" name="Shape 21"/>
          <p:cNvSpPr/>
          <p:nvPr/>
        </p:nvSpPr>
        <p:spPr>
          <a:xfrm>
            <a:off x="9029700" y="2743200"/>
            <a:ext cx="2606040" cy="22860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27" name="Shape 22"/>
          <p:cNvSpPr/>
          <p:nvPr/>
        </p:nvSpPr>
        <p:spPr>
          <a:xfrm>
            <a:off x="9029700" y="2743200"/>
            <a:ext cx="2606040" cy="73152"/>
          </a:xfrm>
          <a:prstGeom prst="rect">
            <a:avLst/>
          </a:prstGeom>
          <a:solidFill>
            <a:srgbClr val="EA580C"/>
          </a:solidFill>
          <a:ln w="12700">
            <a:solidFill>
              <a:srgbClr val="EA580C"/>
            </a:solidFill>
            <a:prstDash val="solid"/>
          </a:ln>
        </p:spPr>
      </p:sp>
      <p:sp>
        <p:nvSpPr>
          <p:cNvPr id="28" name="Shape 23"/>
          <p:cNvSpPr/>
          <p:nvPr/>
        </p:nvSpPr>
        <p:spPr>
          <a:xfrm>
            <a:off x="9966960" y="3017520"/>
            <a:ext cx="731520" cy="731520"/>
          </a:xfrm>
          <a:prstGeom prst="ellipse">
            <a:avLst/>
          </a:prstGeom>
          <a:solidFill>
            <a:srgbClr val="FFF7ED"/>
          </a:solidFill>
          <a:ln w="12700">
            <a:solidFill>
              <a:srgbClr val="FFEDD5"/>
            </a:solidFill>
            <a:prstDash val="solid"/>
          </a:ln>
        </p:spPr>
      </p:sp>
      <p:pic>
        <p:nvPicPr>
          <p:cNvPr id="29" name="Image 3" descr="preencoded.png">    </p:cNvPr>
          <p:cNvPicPr>
            <a:picLocks noChangeAspect="1"/>
          </p:cNvPicPr>
          <p:nvPr/>
        </p:nvPicPr>
        <p:blipFill>
          <a:blip r:embed="rId4"/>
          <a:stretch>
            <a:fillRect/>
          </a:stretch>
        </p:blipFill>
        <p:spPr>
          <a:xfrm>
            <a:off x="10104120" y="3154680"/>
            <a:ext cx="457200" cy="457200"/>
          </a:xfrm>
          <a:prstGeom prst="rect">
            <a:avLst/>
          </a:prstGeom>
        </p:spPr>
      </p:pic>
      <p:sp>
        <p:nvSpPr>
          <p:cNvPr id="30" name="Text 24"/>
          <p:cNvSpPr/>
          <p:nvPr/>
        </p:nvSpPr>
        <p:spPr>
          <a:xfrm>
            <a:off x="9121140" y="3840480"/>
            <a:ext cx="2423160" cy="640080"/>
          </a:xfrm>
          <a:prstGeom prst="rect">
            <a:avLst/>
          </a:prstGeom>
          <a:noFill/>
          <a:ln/>
        </p:spPr>
        <p:txBody>
          <a:bodyPr wrap="square" lIns="0" tIns="0" rIns="0" bIns="0" rtlCol="0" anchor="ctr"/>
          <a:lstStyle/>
          <a:p>
            <a:pPr algn="ctr" indent="0" marL="0">
              <a:buNone/>
            </a:pPr>
            <a:r>
              <a:rPr lang="en-US" sz="2400" b="1" dirty="0">
                <a:solidFill>
                  <a:srgbClr val="0F2C4D"/>
                </a:solidFill>
                <a:latin typeface="Georgia" pitchFamily="34" charset="0"/>
                <a:ea typeface="Georgia" pitchFamily="34" charset="-122"/>
                <a:cs typeface="Georgia" pitchFamily="34" charset="-120"/>
              </a:rPr>
              <a:t>&lt;40 %</a:t>
            </a:r>
            <a:endParaRPr lang="en-US" sz="2400" dirty="0"/>
          </a:p>
          <a:p>
            <a:pPr algn="ctr" indent="0" marL="0">
              <a:buNone/>
            </a:pPr>
            <a:r>
              <a:rPr lang="en-US" sz="1000" i="1" dirty="0">
                <a:solidFill>
                  <a:srgbClr val="94A3B8"/>
                </a:solidFill>
                <a:latin typeface="Calibri" pitchFamily="34" charset="0"/>
                <a:ea typeface="Calibri" pitchFamily="34" charset="-122"/>
                <a:cs typeface="Calibri" pitchFamily="34" charset="-120"/>
              </a:rPr>
              <a:t>PDGI</a:t>
            </a:r>
            <a:endParaRPr lang="en-US" sz="2400" dirty="0"/>
          </a:p>
        </p:txBody>
      </p:sp>
      <p:sp>
        <p:nvSpPr>
          <p:cNvPr id="31" name="Text 25"/>
          <p:cNvSpPr/>
          <p:nvPr/>
        </p:nvSpPr>
        <p:spPr>
          <a:xfrm>
            <a:off x="9166860" y="4498848"/>
            <a:ext cx="2331720" cy="45720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taux de réalisation du Programme Décennal (Cour des Comptes 2022)</a:t>
            </a:r>
            <a:endParaRPr lang="en-US" sz="1000" dirty="0"/>
          </a:p>
        </p:txBody>
      </p:sp>
      <p:sp>
        <p:nvSpPr>
          <p:cNvPr id="32" name="Shape 26"/>
          <p:cNvSpPr/>
          <p:nvPr/>
        </p:nvSpPr>
        <p:spPr>
          <a:xfrm>
            <a:off x="548640" y="5349240"/>
            <a:ext cx="11064240" cy="868680"/>
          </a:xfrm>
          <a:prstGeom prst="rect">
            <a:avLst/>
          </a:prstGeom>
          <a:solidFill>
            <a:srgbClr val="0F2C4D"/>
          </a:solidFill>
          <a:ln w="12700">
            <a:solidFill>
              <a:srgbClr val="0F2C4D"/>
            </a:solidFill>
            <a:prstDash val="solid"/>
          </a:ln>
        </p:spPr>
      </p:sp>
      <p:sp>
        <p:nvSpPr>
          <p:cNvPr id="33" name="Shape 27"/>
          <p:cNvSpPr/>
          <p:nvPr/>
        </p:nvSpPr>
        <p:spPr>
          <a:xfrm>
            <a:off x="548640" y="5349240"/>
            <a:ext cx="109728" cy="868680"/>
          </a:xfrm>
          <a:prstGeom prst="rect">
            <a:avLst/>
          </a:prstGeom>
          <a:solidFill>
            <a:srgbClr val="F59E0B"/>
          </a:solidFill>
          <a:ln w="12700">
            <a:solidFill>
              <a:srgbClr val="F59E0B"/>
            </a:solidFill>
            <a:prstDash val="solid"/>
          </a:ln>
        </p:spPr>
      </p:sp>
      <p:pic>
        <p:nvPicPr>
          <p:cNvPr id="34" name="Image 4" descr="preencoded.png">    </p:cNvPr>
          <p:cNvPicPr>
            <a:picLocks noChangeAspect="1"/>
          </p:cNvPicPr>
          <p:nvPr/>
        </p:nvPicPr>
        <p:blipFill>
          <a:blip r:embed="rId5"/>
          <a:stretch>
            <a:fillRect/>
          </a:stretch>
        </p:blipFill>
        <p:spPr>
          <a:xfrm>
            <a:off x="868680" y="5532120"/>
            <a:ext cx="502920" cy="502920"/>
          </a:xfrm>
          <a:prstGeom prst="rect">
            <a:avLst/>
          </a:prstGeom>
        </p:spPr>
      </p:pic>
      <p:sp>
        <p:nvSpPr>
          <p:cNvPr id="35" name="Text 28"/>
          <p:cNvSpPr/>
          <p:nvPr/>
        </p:nvSpPr>
        <p:spPr>
          <a:xfrm>
            <a:off x="1554480" y="5349240"/>
            <a:ext cx="9966960" cy="86868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Les prévisions de l'ANACIM, utiles à l'échelle nationale, opèrent à des échelles spatiales et temporelles trop larges pour mobiliser efficacement à l'échelle du quartier (Mémoire, p.13).</a:t>
            </a:r>
            <a:endParaRPr lang="en-US" sz="1200" dirty="0"/>
          </a:p>
        </p:txBody>
      </p:sp>
      <p:sp>
        <p:nvSpPr>
          <p:cNvPr id="36" name="Shape 29"/>
          <p:cNvSpPr/>
          <p:nvPr/>
        </p:nvSpPr>
        <p:spPr>
          <a:xfrm>
            <a:off x="0" y="6537960"/>
            <a:ext cx="12161520" cy="320040"/>
          </a:xfrm>
          <a:prstGeom prst="rect">
            <a:avLst/>
          </a:prstGeom>
          <a:solidFill>
            <a:srgbClr val="0F2C4D"/>
          </a:solidFill>
          <a:ln w="12700">
            <a:solidFill>
              <a:srgbClr val="0F2C4D"/>
            </a:solidFill>
            <a:prstDash val="solid"/>
          </a:ln>
        </p:spPr>
      </p:sp>
      <p:sp>
        <p:nvSpPr>
          <p:cNvPr id="37" name="Text 30"/>
          <p:cNvSpPr/>
          <p:nvPr/>
        </p:nvSpPr>
        <p:spPr>
          <a:xfrm>
            <a:off x="457200" y="6537960"/>
            <a:ext cx="9144000" cy="320040"/>
          </a:xfrm>
          <a:prstGeom prst="rect">
            <a:avLst/>
          </a:prstGeom>
          <a:noFill/>
          <a:ln/>
        </p:spPr>
        <p:txBody>
          <a:bodyPr wrap="square" lIns="0" tIns="0" rIns="0" bIns="0" rtlCol="0" anchor="ctr"/>
          <a:lstStyle/>
          <a:p>
            <a:pPr algn="l" indent="0" marL="0">
              <a:buNone/>
            </a:pPr>
            <a:r>
              <a:rPr lang="en-US" sz="900" dirty="0">
                <a:solidFill>
                  <a:srgbClr val="F8FAFC"/>
                </a:solidFill>
                <a:latin typeface="Calibri" pitchFamily="34" charset="0"/>
                <a:ea typeface="Calibri" pitchFamily="34" charset="-122"/>
                <a:cs typeface="Calibri" pitchFamily="34" charset="-120"/>
              </a:rPr>
              <a:t>Saytu Mbeund  ·  Détection &amp; Prédiction des Inondations par IA  ·  UIDT / UTT</a:t>
            </a:r>
            <a:endParaRPr lang="en-US" sz="900" dirty="0"/>
          </a:p>
        </p:txBody>
      </p:sp>
      <p:sp>
        <p:nvSpPr>
          <p:cNvPr id="38" name="Text 31"/>
          <p:cNvSpPr/>
          <p:nvPr/>
        </p:nvSpPr>
        <p:spPr>
          <a:xfrm>
            <a:off x="11064240" y="6537960"/>
            <a:ext cx="640080" cy="320040"/>
          </a:xfrm>
          <a:prstGeom prst="rect">
            <a:avLst/>
          </a:prstGeom>
          <a:noFill/>
          <a:ln/>
        </p:spPr>
        <p:txBody>
          <a:bodyPr wrap="square" lIns="0" tIns="0" rIns="0" bIns="0" rtlCol="0" anchor="ctr"/>
          <a:lstStyle/>
          <a:p>
            <a:pPr algn="r" indent="0" marL="0">
              <a:buNone/>
            </a:pPr>
            <a:r>
              <a:rPr lang="en-US" sz="900" dirty="0">
                <a:solidFill>
                  <a:srgbClr val="F8FAFC"/>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100" b="1" spc="400" kern="0" dirty="0">
                <a:solidFill>
                  <a:srgbClr val="1A6FAB"/>
                </a:solidFill>
                <a:latin typeface="Calibri" pitchFamily="34" charset="0"/>
                <a:ea typeface="Calibri" pitchFamily="34" charset="-122"/>
                <a:cs typeface="Calibri" pitchFamily="34" charset="-120"/>
              </a:rPr>
              <a:t>PROBLÉMATIQUE DE RECHERCHE</a:t>
            </a:r>
            <a:endParaRPr lang="en-US" sz="1100" dirty="0"/>
          </a:p>
        </p:txBody>
      </p:sp>
      <p:sp>
        <p:nvSpPr>
          <p:cNvPr id="3" name="Text 1"/>
          <p:cNvSpPr/>
          <p:nvPr/>
        </p:nvSpPr>
        <p:spPr>
          <a:xfrm>
            <a:off x="548640" y="713232"/>
            <a:ext cx="11064240" cy="777240"/>
          </a:xfrm>
          <a:prstGeom prst="rect">
            <a:avLst/>
          </a:prstGeom>
          <a:noFill/>
          <a:ln/>
        </p:spPr>
        <p:txBody>
          <a:bodyPr wrap="square" lIns="0" tIns="0" rIns="0" bIns="0" rtlCol="0" anchor="ctr"/>
          <a:lstStyle/>
          <a:p>
            <a:pPr indent="0" marL="0">
              <a:buNone/>
            </a:pPr>
            <a:r>
              <a:rPr lang="en-US" sz="3000" b="1" dirty="0">
                <a:solidFill>
                  <a:srgbClr val="0F2C4D"/>
                </a:solidFill>
                <a:latin typeface="Georgia" pitchFamily="34" charset="0"/>
                <a:ea typeface="Georgia" pitchFamily="34" charset="-122"/>
                <a:cs typeface="Georgia" pitchFamily="34" charset="-120"/>
              </a:rPr>
              <a:t>Trois questions, une réponse intégrée</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A6FAB"/>
          </a:solidFill>
          <a:ln w="12700">
            <a:solidFill>
              <a:srgbClr val="1A6FAB"/>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548640" y="1920240"/>
            <a:ext cx="11064240" cy="914400"/>
          </a:xfrm>
          <a:prstGeom prst="rect">
            <a:avLst/>
          </a:prstGeom>
          <a:solidFill>
            <a:srgbClr val="DBEAFE"/>
          </a:solidFill>
          <a:ln w="12700">
            <a:solidFill>
              <a:srgbClr val="DBEAFE"/>
            </a:solidFill>
            <a:prstDash val="solid"/>
          </a:ln>
        </p:spPr>
      </p:sp>
      <p:sp>
        <p:nvSpPr>
          <p:cNvPr id="8" name="Shape 6"/>
          <p:cNvSpPr/>
          <p:nvPr/>
        </p:nvSpPr>
        <p:spPr>
          <a:xfrm>
            <a:off x="548640" y="1920240"/>
            <a:ext cx="91440" cy="914400"/>
          </a:xfrm>
          <a:prstGeom prst="rect">
            <a:avLst/>
          </a:prstGeom>
          <a:solidFill>
            <a:srgbClr val="1A6FAB"/>
          </a:solidFill>
          <a:ln w="12700">
            <a:solidFill>
              <a:srgbClr val="1A6FAB"/>
            </a:solidFill>
            <a:prstDash val="solid"/>
          </a:ln>
        </p:spPr>
      </p:sp>
      <p:sp>
        <p:nvSpPr>
          <p:cNvPr id="9" name="Text 7"/>
          <p:cNvSpPr/>
          <p:nvPr/>
        </p:nvSpPr>
        <p:spPr>
          <a:xfrm>
            <a:off x="868680" y="1920240"/>
            <a:ext cx="10607040" cy="914400"/>
          </a:xfrm>
          <a:prstGeom prst="rect">
            <a:avLst/>
          </a:prstGeom>
          <a:noFill/>
          <a:ln/>
        </p:spPr>
        <p:txBody>
          <a:bodyPr wrap="square" lIns="0" tIns="0" rIns="0" bIns="0" rtlCol="0" anchor="ctr"/>
          <a:lstStyle/>
          <a:p>
            <a:pPr indent="0" marL="0">
              <a:buNone/>
            </a:pPr>
            <a:r>
              <a:rPr lang="en-US" sz="1300" i="1" dirty="0">
                <a:solidFill>
                  <a:srgbClr val="0F2C4D"/>
                </a:solidFill>
                <a:latin typeface="Georgia" pitchFamily="34" charset="0"/>
                <a:ea typeface="Georgia" pitchFamily="34" charset="-122"/>
                <a:cs typeface="Georgia" pitchFamily="34" charset="-120"/>
              </a:rPr>
              <a:t>« Comment concevoir un dispositif intégré de prédiction, de détection visuelle et de gestion collaborative des inondations, capable d'anticiper les risques à l'échelle locale et de coordonner les acteurs ? »</a:t>
            </a:r>
            <a:endParaRPr lang="en-US" sz="1300" dirty="0"/>
          </a:p>
        </p:txBody>
      </p:sp>
      <p:sp>
        <p:nvSpPr>
          <p:cNvPr id="10" name="Shape 8"/>
          <p:cNvSpPr/>
          <p:nvPr/>
        </p:nvSpPr>
        <p:spPr>
          <a:xfrm>
            <a:off x="548640" y="3108960"/>
            <a:ext cx="3657600" cy="28346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11" name="Shape 9"/>
          <p:cNvSpPr/>
          <p:nvPr/>
        </p:nvSpPr>
        <p:spPr>
          <a:xfrm>
            <a:off x="548640" y="3108960"/>
            <a:ext cx="3657600" cy="640080"/>
          </a:xfrm>
          <a:prstGeom prst="rect">
            <a:avLst/>
          </a:prstGeom>
          <a:solidFill>
            <a:srgbClr val="0F2C4D"/>
          </a:solidFill>
          <a:ln w="12700">
            <a:solidFill>
              <a:srgbClr val="0F2C4D"/>
            </a:solidFill>
            <a:prstDash val="solid"/>
          </a:ln>
        </p:spPr>
      </p:sp>
      <p:sp>
        <p:nvSpPr>
          <p:cNvPr id="12" name="Text 10"/>
          <p:cNvSpPr/>
          <p:nvPr/>
        </p:nvSpPr>
        <p:spPr>
          <a:xfrm>
            <a:off x="777240" y="3108960"/>
            <a:ext cx="731520" cy="640080"/>
          </a:xfrm>
          <a:prstGeom prst="rect">
            <a:avLst/>
          </a:prstGeom>
          <a:noFill/>
          <a:ln/>
        </p:spPr>
        <p:txBody>
          <a:bodyPr wrap="square" lIns="0" tIns="0" rIns="0" bIns="0"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Q1</a:t>
            </a:r>
            <a:endParaRPr lang="en-US" sz="2200" dirty="0"/>
          </a:p>
        </p:txBody>
      </p:sp>
      <p:sp>
        <p:nvSpPr>
          <p:cNvPr id="13" name="Text 11"/>
          <p:cNvSpPr/>
          <p:nvPr/>
        </p:nvSpPr>
        <p:spPr>
          <a:xfrm>
            <a:off x="1463040" y="3108960"/>
            <a:ext cx="2651760" cy="64008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Prédiction météorologique</a:t>
            </a:r>
            <a:endParaRPr lang="en-US" sz="1400" dirty="0"/>
          </a:p>
        </p:txBody>
      </p:sp>
      <p:sp>
        <p:nvSpPr>
          <p:cNvPr id="14" name="Shape 12"/>
          <p:cNvSpPr/>
          <p:nvPr/>
        </p:nvSpPr>
        <p:spPr>
          <a:xfrm>
            <a:off x="1965960" y="4023360"/>
            <a:ext cx="822960" cy="822960"/>
          </a:xfrm>
          <a:prstGeom prst="ellipse">
            <a:avLst/>
          </a:prstGeom>
          <a:solidFill>
            <a:srgbClr val="DBEAFE"/>
          </a:solidFill>
          <a:ln w="12700">
            <a:solidFill>
              <a:srgbClr val="DBEAFE"/>
            </a:solidFill>
            <a:prstDash val="solid"/>
          </a:ln>
        </p:spPr>
      </p:sp>
      <p:pic>
        <p:nvPicPr>
          <p:cNvPr id="15" name="Image 0" descr="preencoded.png">    </p:cNvPr>
          <p:cNvPicPr>
            <a:picLocks noChangeAspect="1"/>
          </p:cNvPicPr>
          <p:nvPr/>
        </p:nvPicPr>
        <p:blipFill>
          <a:blip r:embed="rId1"/>
          <a:stretch>
            <a:fillRect/>
          </a:stretch>
        </p:blipFill>
        <p:spPr>
          <a:xfrm>
            <a:off x="2103120" y="4160520"/>
            <a:ext cx="548640" cy="548640"/>
          </a:xfrm>
          <a:prstGeom prst="rect">
            <a:avLst/>
          </a:prstGeom>
        </p:spPr>
      </p:pic>
      <p:sp>
        <p:nvSpPr>
          <p:cNvPr id="16" name="Text 13"/>
          <p:cNvSpPr/>
          <p:nvPr/>
        </p:nvSpPr>
        <p:spPr>
          <a:xfrm>
            <a:off x="822960" y="4983480"/>
            <a:ext cx="3108960" cy="86868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Quels indicateurs météo et hydrologiques permettent d'anticiper les débordements à partir de données ouvertes ?</a:t>
            </a:r>
            <a:endParaRPr lang="en-US" sz="1100" dirty="0"/>
          </a:p>
        </p:txBody>
      </p:sp>
      <p:sp>
        <p:nvSpPr>
          <p:cNvPr id="17" name="Shape 14"/>
          <p:cNvSpPr/>
          <p:nvPr/>
        </p:nvSpPr>
        <p:spPr>
          <a:xfrm>
            <a:off x="4343400" y="3108960"/>
            <a:ext cx="3657600" cy="28346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18" name="Shape 15"/>
          <p:cNvSpPr/>
          <p:nvPr/>
        </p:nvSpPr>
        <p:spPr>
          <a:xfrm>
            <a:off x="4343400" y="3108960"/>
            <a:ext cx="3657600" cy="640080"/>
          </a:xfrm>
          <a:prstGeom prst="rect">
            <a:avLst/>
          </a:prstGeom>
          <a:solidFill>
            <a:srgbClr val="0F2C4D"/>
          </a:solidFill>
          <a:ln w="12700">
            <a:solidFill>
              <a:srgbClr val="0F2C4D"/>
            </a:solidFill>
            <a:prstDash val="solid"/>
          </a:ln>
        </p:spPr>
      </p:sp>
      <p:sp>
        <p:nvSpPr>
          <p:cNvPr id="19" name="Text 16"/>
          <p:cNvSpPr/>
          <p:nvPr/>
        </p:nvSpPr>
        <p:spPr>
          <a:xfrm>
            <a:off x="4572000" y="3108960"/>
            <a:ext cx="731520" cy="640080"/>
          </a:xfrm>
          <a:prstGeom prst="rect">
            <a:avLst/>
          </a:prstGeom>
          <a:noFill/>
          <a:ln/>
        </p:spPr>
        <p:txBody>
          <a:bodyPr wrap="square" lIns="0" tIns="0" rIns="0" bIns="0"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Q2</a:t>
            </a:r>
            <a:endParaRPr lang="en-US" sz="2200" dirty="0"/>
          </a:p>
        </p:txBody>
      </p:sp>
      <p:sp>
        <p:nvSpPr>
          <p:cNvPr id="20" name="Text 17"/>
          <p:cNvSpPr/>
          <p:nvPr/>
        </p:nvSpPr>
        <p:spPr>
          <a:xfrm>
            <a:off x="5257800" y="3108960"/>
            <a:ext cx="2651760" cy="64008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Détection visuelle</a:t>
            </a:r>
            <a:endParaRPr lang="en-US" sz="1400" dirty="0"/>
          </a:p>
        </p:txBody>
      </p:sp>
      <p:sp>
        <p:nvSpPr>
          <p:cNvPr id="21" name="Shape 18"/>
          <p:cNvSpPr/>
          <p:nvPr/>
        </p:nvSpPr>
        <p:spPr>
          <a:xfrm>
            <a:off x="5760720" y="4023360"/>
            <a:ext cx="822960" cy="822960"/>
          </a:xfrm>
          <a:prstGeom prst="ellipse">
            <a:avLst/>
          </a:prstGeom>
          <a:solidFill>
            <a:srgbClr val="DBEAFE"/>
          </a:solidFill>
          <a:ln w="12700">
            <a:solidFill>
              <a:srgbClr val="DBEAFE"/>
            </a:solidFill>
            <a:prstDash val="solid"/>
          </a:ln>
        </p:spPr>
      </p:sp>
      <p:pic>
        <p:nvPicPr>
          <p:cNvPr id="22" name="Image 1" descr="preencoded.png">    </p:cNvPr>
          <p:cNvPicPr>
            <a:picLocks noChangeAspect="1"/>
          </p:cNvPicPr>
          <p:nvPr/>
        </p:nvPicPr>
        <p:blipFill>
          <a:blip r:embed="rId2"/>
          <a:stretch>
            <a:fillRect/>
          </a:stretch>
        </p:blipFill>
        <p:spPr>
          <a:xfrm>
            <a:off x="5897880" y="4160520"/>
            <a:ext cx="548640" cy="548640"/>
          </a:xfrm>
          <a:prstGeom prst="rect">
            <a:avLst/>
          </a:prstGeom>
        </p:spPr>
      </p:pic>
      <p:sp>
        <p:nvSpPr>
          <p:cNvPr id="23" name="Text 19"/>
          <p:cNvSpPr/>
          <p:nvPr/>
        </p:nvSpPr>
        <p:spPr>
          <a:xfrm>
            <a:off x="4617720" y="4983480"/>
            <a:ext cx="3108960" cy="86868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Quelle architecture CNN offre le meilleur compromis précision/rappel sur images citoyennes en conditions réelles ?</a:t>
            </a:r>
            <a:endParaRPr lang="en-US" sz="1100" dirty="0"/>
          </a:p>
        </p:txBody>
      </p:sp>
      <p:sp>
        <p:nvSpPr>
          <p:cNvPr id="24" name="Shape 20"/>
          <p:cNvSpPr/>
          <p:nvPr/>
        </p:nvSpPr>
        <p:spPr>
          <a:xfrm>
            <a:off x="8138160" y="3108960"/>
            <a:ext cx="3657600" cy="28346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25" name="Shape 21"/>
          <p:cNvSpPr/>
          <p:nvPr/>
        </p:nvSpPr>
        <p:spPr>
          <a:xfrm>
            <a:off x="8138160" y="3108960"/>
            <a:ext cx="3657600" cy="640080"/>
          </a:xfrm>
          <a:prstGeom prst="rect">
            <a:avLst/>
          </a:prstGeom>
          <a:solidFill>
            <a:srgbClr val="0F2C4D"/>
          </a:solidFill>
          <a:ln w="12700">
            <a:solidFill>
              <a:srgbClr val="0F2C4D"/>
            </a:solidFill>
            <a:prstDash val="solid"/>
          </a:ln>
        </p:spPr>
      </p:sp>
      <p:sp>
        <p:nvSpPr>
          <p:cNvPr id="26" name="Text 22"/>
          <p:cNvSpPr/>
          <p:nvPr/>
        </p:nvSpPr>
        <p:spPr>
          <a:xfrm>
            <a:off x="8366760" y="3108960"/>
            <a:ext cx="731520" cy="640080"/>
          </a:xfrm>
          <a:prstGeom prst="rect">
            <a:avLst/>
          </a:prstGeom>
          <a:noFill/>
          <a:ln/>
        </p:spPr>
        <p:txBody>
          <a:bodyPr wrap="square" lIns="0" tIns="0" rIns="0" bIns="0"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Q3</a:t>
            </a:r>
            <a:endParaRPr lang="en-US" sz="2200" dirty="0"/>
          </a:p>
        </p:txBody>
      </p:sp>
      <p:sp>
        <p:nvSpPr>
          <p:cNvPr id="27" name="Text 23"/>
          <p:cNvSpPr/>
          <p:nvPr/>
        </p:nvSpPr>
        <p:spPr>
          <a:xfrm>
            <a:off x="9052560" y="3108960"/>
            <a:ext cx="2651760" cy="64008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Système collaboratif</a:t>
            </a:r>
            <a:endParaRPr lang="en-US" sz="1400" dirty="0"/>
          </a:p>
        </p:txBody>
      </p:sp>
      <p:sp>
        <p:nvSpPr>
          <p:cNvPr id="28" name="Shape 24"/>
          <p:cNvSpPr/>
          <p:nvPr/>
        </p:nvSpPr>
        <p:spPr>
          <a:xfrm>
            <a:off x="9555480" y="4023360"/>
            <a:ext cx="822960" cy="822960"/>
          </a:xfrm>
          <a:prstGeom prst="ellipse">
            <a:avLst/>
          </a:prstGeom>
          <a:solidFill>
            <a:srgbClr val="DBEAFE"/>
          </a:solidFill>
          <a:ln w="12700">
            <a:solidFill>
              <a:srgbClr val="DBEAFE"/>
            </a:solidFill>
            <a:prstDash val="solid"/>
          </a:ln>
        </p:spPr>
      </p:sp>
      <p:pic>
        <p:nvPicPr>
          <p:cNvPr id="29" name="Image 2" descr="preencoded.png">    </p:cNvPr>
          <p:cNvPicPr>
            <a:picLocks noChangeAspect="1"/>
          </p:cNvPicPr>
          <p:nvPr/>
        </p:nvPicPr>
        <p:blipFill>
          <a:blip r:embed="rId3"/>
          <a:stretch>
            <a:fillRect/>
          </a:stretch>
        </p:blipFill>
        <p:spPr>
          <a:xfrm>
            <a:off x="9692640" y="4160520"/>
            <a:ext cx="548640" cy="548640"/>
          </a:xfrm>
          <a:prstGeom prst="rect">
            <a:avLst/>
          </a:prstGeom>
        </p:spPr>
      </p:pic>
      <p:sp>
        <p:nvSpPr>
          <p:cNvPr id="30" name="Text 25"/>
          <p:cNvSpPr/>
          <p:nvPr/>
        </p:nvSpPr>
        <p:spPr>
          <a:xfrm>
            <a:off x="8412480" y="4983480"/>
            <a:ext cx="3108960" cy="86868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Quel dispositif applicatif garantit un partage rapide et exploitable entre citoyens, autorités et services techniques ?</a:t>
            </a:r>
            <a:endParaRPr lang="en-US" sz="1100" dirty="0"/>
          </a:p>
        </p:txBody>
      </p:sp>
      <p:sp>
        <p:nvSpPr>
          <p:cNvPr id="31" name="Shape 26"/>
          <p:cNvSpPr/>
          <p:nvPr/>
        </p:nvSpPr>
        <p:spPr>
          <a:xfrm>
            <a:off x="548640" y="6126480"/>
            <a:ext cx="11064240" cy="457200"/>
          </a:xfrm>
          <a:prstGeom prst="rect">
            <a:avLst/>
          </a:prstGeom>
          <a:solidFill>
            <a:srgbClr val="F59E0B"/>
          </a:solidFill>
          <a:ln w="12700">
            <a:solidFill>
              <a:srgbClr val="F59E0B"/>
            </a:solidFill>
            <a:prstDash val="solid"/>
          </a:ln>
        </p:spPr>
      </p:sp>
      <p:sp>
        <p:nvSpPr>
          <p:cNvPr id="32" name="Text 27"/>
          <p:cNvSpPr/>
          <p:nvPr/>
        </p:nvSpPr>
        <p:spPr>
          <a:xfrm>
            <a:off x="548640" y="6126480"/>
            <a:ext cx="11064240" cy="457200"/>
          </a:xfrm>
          <a:prstGeom prst="rect">
            <a:avLst/>
          </a:prstGeom>
          <a:noFill/>
          <a:ln/>
        </p:spPr>
        <p:txBody>
          <a:bodyPr wrap="square" lIns="0" tIns="0" rIns="0" bIns="0" rtlCol="0" anchor="ctr"/>
          <a:lstStyle/>
          <a:p>
            <a:pPr algn="ctr" indent="0" marL="0">
              <a:buNone/>
            </a:pPr>
            <a:r>
              <a:rPr lang="en-US" sz="1100" b="1" dirty="0">
                <a:solidFill>
                  <a:srgbClr val="0F2C4D"/>
                </a:solidFill>
                <a:latin typeface="Calibri" pitchFamily="34" charset="0"/>
                <a:ea typeface="Calibri" pitchFamily="34" charset="-122"/>
                <a:cs typeface="Calibri" pitchFamily="34" charset="-120"/>
              </a:rPr>
              <a:t>4 contributions originales : comparaison multi-architectures · ConvNeXt-Tiny en Afrique · validation temporelle stricte · proxy d'inondation calibré</a:t>
            </a:r>
            <a:endParaRPr lang="en-US" sz="1100" dirty="0"/>
          </a:p>
        </p:txBody>
      </p:sp>
      <p:sp>
        <p:nvSpPr>
          <p:cNvPr id="33" name="Shape 28"/>
          <p:cNvSpPr/>
          <p:nvPr/>
        </p:nvSpPr>
        <p:spPr>
          <a:xfrm>
            <a:off x="0" y="6537960"/>
            <a:ext cx="12161520" cy="320040"/>
          </a:xfrm>
          <a:prstGeom prst="rect">
            <a:avLst/>
          </a:prstGeom>
          <a:solidFill>
            <a:srgbClr val="0F2C4D"/>
          </a:solidFill>
          <a:ln w="12700">
            <a:solidFill>
              <a:srgbClr val="0F2C4D"/>
            </a:solidFill>
            <a:prstDash val="solid"/>
          </a:ln>
        </p:spPr>
      </p:sp>
      <p:sp>
        <p:nvSpPr>
          <p:cNvPr id="34" name="Text 29"/>
          <p:cNvSpPr/>
          <p:nvPr/>
        </p:nvSpPr>
        <p:spPr>
          <a:xfrm>
            <a:off x="457200" y="6537960"/>
            <a:ext cx="9144000" cy="320040"/>
          </a:xfrm>
          <a:prstGeom prst="rect">
            <a:avLst/>
          </a:prstGeom>
          <a:noFill/>
          <a:ln/>
        </p:spPr>
        <p:txBody>
          <a:bodyPr wrap="square" lIns="0" tIns="0" rIns="0" bIns="0" rtlCol="0" anchor="ctr"/>
          <a:lstStyle/>
          <a:p>
            <a:pPr algn="l" indent="0" marL="0">
              <a:buNone/>
            </a:pPr>
            <a:r>
              <a:rPr lang="en-US" sz="900" dirty="0">
                <a:solidFill>
                  <a:srgbClr val="F8FAFC"/>
                </a:solidFill>
                <a:latin typeface="Calibri" pitchFamily="34" charset="0"/>
                <a:ea typeface="Calibri" pitchFamily="34" charset="-122"/>
                <a:cs typeface="Calibri" pitchFamily="34" charset="-120"/>
              </a:rPr>
              <a:t>Saytu Mbeund  ·  Détection &amp; Prédiction des Inondations par IA  ·  UIDT / UTT</a:t>
            </a:r>
            <a:endParaRPr lang="en-US" sz="900" dirty="0"/>
          </a:p>
        </p:txBody>
      </p:sp>
      <p:sp>
        <p:nvSpPr>
          <p:cNvPr id="35" name="Text 30"/>
          <p:cNvSpPr/>
          <p:nvPr/>
        </p:nvSpPr>
        <p:spPr>
          <a:xfrm>
            <a:off x="11064240" y="6537960"/>
            <a:ext cx="640080" cy="320040"/>
          </a:xfrm>
          <a:prstGeom prst="rect">
            <a:avLst/>
          </a:prstGeom>
          <a:noFill/>
          <a:ln/>
        </p:spPr>
        <p:txBody>
          <a:bodyPr wrap="square" lIns="0" tIns="0" rIns="0" bIns="0" rtlCol="0" anchor="ctr"/>
          <a:lstStyle/>
          <a:p>
            <a:pPr algn="r" indent="0" marL="0">
              <a:buNone/>
            </a:pPr>
            <a:r>
              <a:rPr lang="en-US" sz="900" dirty="0">
                <a:solidFill>
                  <a:srgbClr val="F8FAFC"/>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100" b="1" spc="400" kern="0" dirty="0">
                <a:solidFill>
                  <a:srgbClr val="1A6FAB"/>
                </a:solidFill>
                <a:latin typeface="Calibri" pitchFamily="34" charset="0"/>
                <a:ea typeface="Calibri" pitchFamily="34" charset="-122"/>
                <a:cs typeface="Calibri" pitchFamily="34" charset="-120"/>
              </a:rPr>
              <a:t>VUE D'ENSEMBLE DU SYSTÈME</a:t>
            </a:r>
            <a:endParaRPr lang="en-US" sz="1100" dirty="0"/>
          </a:p>
        </p:txBody>
      </p:sp>
      <p:sp>
        <p:nvSpPr>
          <p:cNvPr id="3" name="Text 1"/>
          <p:cNvSpPr/>
          <p:nvPr/>
        </p:nvSpPr>
        <p:spPr>
          <a:xfrm>
            <a:off x="548640" y="713232"/>
            <a:ext cx="11064240" cy="777240"/>
          </a:xfrm>
          <a:prstGeom prst="rect">
            <a:avLst/>
          </a:prstGeom>
          <a:noFill/>
          <a:ln/>
        </p:spPr>
        <p:txBody>
          <a:bodyPr wrap="square" lIns="0" tIns="0" rIns="0" bIns="0" rtlCol="0" anchor="ctr"/>
          <a:lstStyle/>
          <a:p>
            <a:pPr indent="0" marL="0">
              <a:buNone/>
            </a:pPr>
            <a:r>
              <a:rPr lang="en-US" sz="3000" b="1" dirty="0">
                <a:solidFill>
                  <a:srgbClr val="0F2C4D"/>
                </a:solidFill>
                <a:latin typeface="Georgia" pitchFamily="34" charset="0"/>
                <a:ea typeface="Georgia" pitchFamily="34" charset="-122"/>
                <a:cs typeface="Georgia" pitchFamily="34" charset="-120"/>
              </a:rPr>
              <a:t>Une architecture hybride en 3 composantes</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A6FAB"/>
          </a:solidFill>
          <a:ln w="12700">
            <a:solidFill>
              <a:srgbClr val="1A6FAB"/>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548640" y="1920240"/>
            <a:ext cx="3520440" cy="10972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8" name="Shape 6"/>
          <p:cNvSpPr/>
          <p:nvPr/>
        </p:nvSpPr>
        <p:spPr>
          <a:xfrm>
            <a:off x="548640" y="1920240"/>
            <a:ext cx="91440" cy="1097280"/>
          </a:xfrm>
          <a:prstGeom prst="rect">
            <a:avLst/>
          </a:prstGeom>
          <a:solidFill>
            <a:srgbClr val="1A6FAB"/>
          </a:solidFill>
          <a:ln w="12700">
            <a:solidFill>
              <a:srgbClr val="1A6FAB"/>
            </a:solidFill>
            <a:prstDash val="solid"/>
          </a:ln>
        </p:spPr>
      </p:sp>
      <p:sp>
        <p:nvSpPr>
          <p:cNvPr id="9" name="Shape 7"/>
          <p:cNvSpPr/>
          <p:nvPr/>
        </p:nvSpPr>
        <p:spPr>
          <a:xfrm>
            <a:off x="777240" y="2194560"/>
            <a:ext cx="548640" cy="548640"/>
          </a:xfrm>
          <a:prstGeom prst="ellipse">
            <a:avLst/>
          </a:prstGeom>
          <a:solidFill>
            <a:srgbClr val="DBEAFE"/>
          </a:solidFill>
          <a:ln w="12700">
            <a:solidFill>
              <a:srgbClr val="DBEAFE"/>
            </a:solidFill>
            <a:prstDash val="solid"/>
          </a:ln>
        </p:spPr>
      </p:sp>
      <p:pic>
        <p:nvPicPr>
          <p:cNvPr id="10" name="Image 0" descr="preencoded.png">    </p:cNvPr>
          <p:cNvPicPr>
            <a:picLocks noChangeAspect="1"/>
          </p:cNvPicPr>
          <p:nvPr/>
        </p:nvPicPr>
        <p:blipFill>
          <a:blip r:embed="rId1"/>
          <a:stretch>
            <a:fillRect/>
          </a:stretch>
        </p:blipFill>
        <p:spPr>
          <a:xfrm>
            <a:off x="868680" y="2286000"/>
            <a:ext cx="365760" cy="365760"/>
          </a:xfrm>
          <a:prstGeom prst="rect">
            <a:avLst/>
          </a:prstGeom>
        </p:spPr>
      </p:pic>
      <p:sp>
        <p:nvSpPr>
          <p:cNvPr id="11" name="Text 8"/>
          <p:cNvSpPr/>
          <p:nvPr/>
        </p:nvSpPr>
        <p:spPr>
          <a:xfrm>
            <a:off x="1463040" y="1920240"/>
            <a:ext cx="2514600" cy="1097280"/>
          </a:xfrm>
          <a:prstGeom prst="rect">
            <a:avLst/>
          </a:prstGeom>
          <a:noFill/>
          <a:ln/>
        </p:spPr>
        <p:txBody>
          <a:bodyPr wrap="square" lIns="0" tIns="0" rIns="0" bIns="0" rtlCol="0" anchor="ctr"/>
          <a:lstStyle/>
          <a:p>
            <a:pPr indent="0" marL="0">
              <a:buNone/>
            </a:pPr>
            <a:r>
              <a:rPr lang="en-US" sz="1300" b="1" dirty="0">
                <a:solidFill>
                  <a:srgbClr val="0F2C4D"/>
                </a:solidFill>
                <a:latin typeface="Calibri" pitchFamily="34" charset="0"/>
                <a:ea typeface="Calibri" pitchFamily="34" charset="-122"/>
                <a:cs typeface="Calibri" pitchFamily="34" charset="-120"/>
              </a:rPr>
              <a:t>Données météo</a:t>
            </a:r>
            <a:endParaRPr lang="en-US" sz="1300" dirty="0"/>
          </a:p>
          <a:p>
            <a:pPr indent="0" marL="0">
              <a:buNone/>
            </a:pPr>
            <a:r>
              <a:rPr lang="en-US" sz="1000" dirty="0">
                <a:solidFill>
                  <a:srgbClr val="475569"/>
                </a:solidFill>
                <a:latin typeface="Calibri" pitchFamily="34" charset="0"/>
                <a:ea typeface="Calibri" pitchFamily="34" charset="-122"/>
                <a:cs typeface="Calibri" pitchFamily="34" charset="-120"/>
              </a:rPr>
              <a:t>Open-Meteo (2005-2025) → ANACIM (cible)</a:t>
            </a:r>
            <a:endParaRPr lang="en-US" sz="1300" dirty="0"/>
          </a:p>
        </p:txBody>
      </p:sp>
      <p:sp>
        <p:nvSpPr>
          <p:cNvPr id="12" name="Shape 9"/>
          <p:cNvSpPr/>
          <p:nvPr/>
        </p:nvSpPr>
        <p:spPr>
          <a:xfrm>
            <a:off x="4206240" y="1920240"/>
            <a:ext cx="3520440" cy="10972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13" name="Shape 10"/>
          <p:cNvSpPr/>
          <p:nvPr/>
        </p:nvSpPr>
        <p:spPr>
          <a:xfrm>
            <a:off x="4206240" y="1920240"/>
            <a:ext cx="91440" cy="1097280"/>
          </a:xfrm>
          <a:prstGeom prst="rect">
            <a:avLst/>
          </a:prstGeom>
          <a:solidFill>
            <a:srgbClr val="1A6FAB"/>
          </a:solidFill>
          <a:ln w="12700">
            <a:solidFill>
              <a:srgbClr val="1A6FAB"/>
            </a:solidFill>
            <a:prstDash val="solid"/>
          </a:ln>
        </p:spPr>
      </p:sp>
      <p:sp>
        <p:nvSpPr>
          <p:cNvPr id="14" name="Shape 11"/>
          <p:cNvSpPr/>
          <p:nvPr/>
        </p:nvSpPr>
        <p:spPr>
          <a:xfrm>
            <a:off x="4434840" y="2194560"/>
            <a:ext cx="548640" cy="548640"/>
          </a:xfrm>
          <a:prstGeom prst="ellipse">
            <a:avLst/>
          </a:prstGeom>
          <a:solidFill>
            <a:srgbClr val="DBEAFE"/>
          </a:solidFill>
          <a:ln w="12700">
            <a:solidFill>
              <a:srgbClr val="DBEAFE"/>
            </a:solidFill>
            <a:prstDash val="solid"/>
          </a:ln>
        </p:spPr>
      </p:sp>
      <p:pic>
        <p:nvPicPr>
          <p:cNvPr id="15" name="Image 1" descr="preencoded.png">    </p:cNvPr>
          <p:cNvPicPr>
            <a:picLocks noChangeAspect="1"/>
          </p:cNvPicPr>
          <p:nvPr/>
        </p:nvPicPr>
        <p:blipFill>
          <a:blip r:embed="rId2"/>
          <a:stretch>
            <a:fillRect/>
          </a:stretch>
        </p:blipFill>
        <p:spPr>
          <a:xfrm>
            <a:off x="4526280" y="2286000"/>
            <a:ext cx="365760" cy="365760"/>
          </a:xfrm>
          <a:prstGeom prst="rect">
            <a:avLst/>
          </a:prstGeom>
        </p:spPr>
      </p:pic>
      <p:sp>
        <p:nvSpPr>
          <p:cNvPr id="16" name="Text 12"/>
          <p:cNvSpPr/>
          <p:nvPr/>
        </p:nvSpPr>
        <p:spPr>
          <a:xfrm>
            <a:off x="5120640" y="1920240"/>
            <a:ext cx="2514600" cy="1097280"/>
          </a:xfrm>
          <a:prstGeom prst="rect">
            <a:avLst/>
          </a:prstGeom>
          <a:noFill/>
          <a:ln/>
        </p:spPr>
        <p:txBody>
          <a:bodyPr wrap="square" lIns="0" tIns="0" rIns="0" bIns="0" rtlCol="0" anchor="ctr"/>
          <a:lstStyle/>
          <a:p>
            <a:pPr indent="0" marL="0">
              <a:buNone/>
            </a:pPr>
            <a:r>
              <a:rPr lang="en-US" sz="1300" b="1" dirty="0">
                <a:solidFill>
                  <a:srgbClr val="0F2C4D"/>
                </a:solidFill>
                <a:latin typeface="Calibri" pitchFamily="34" charset="0"/>
                <a:ea typeface="Calibri" pitchFamily="34" charset="-122"/>
                <a:cs typeface="Calibri" pitchFamily="34" charset="-120"/>
              </a:rPr>
              <a:t>Images citoyennes</a:t>
            </a:r>
            <a:endParaRPr lang="en-US" sz="1300" dirty="0"/>
          </a:p>
          <a:p>
            <a:pPr indent="0" marL="0">
              <a:buNone/>
            </a:pPr>
            <a:r>
              <a:rPr lang="en-US" sz="1000" dirty="0">
                <a:solidFill>
                  <a:srgbClr val="475569"/>
                </a:solidFill>
                <a:latin typeface="Calibri" pitchFamily="34" charset="0"/>
                <a:ea typeface="Calibri" pitchFamily="34" charset="-122"/>
                <a:cs typeface="Calibri" pitchFamily="34" charset="-120"/>
              </a:rPr>
              <a:t>Photos GPS via app mobile / web</a:t>
            </a:r>
            <a:endParaRPr lang="en-US" sz="1300" dirty="0"/>
          </a:p>
        </p:txBody>
      </p:sp>
      <p:sp>
        <p:nvSpPr>
          <p:cNvPr id="17" name="Shape 13"/>
          <p:cNvSpPr/>
          <p:nvPr/>
        </p:nvSpPr>
        <p:spPr>
          <a:xfrm>
            <a:off x="7863840" y="1920240"/>
            <a:ext cx="3520440" cy="109728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18" name="Shape 14"/>
          <p:cNvSpPr/>
          <p:nvPr/>
        </p:nvSpPr>
        <p:spPr>
          <a:xfrm>
            <a:off x="7863840" y="1920240"/>
            <a:ext cx="91440" cy="1097280"/>
          </a:xfrm>
          <a:prstGeom prst="rect">
            <a:avLst/>
          </a:prstGeom>
          <a:solidFill>
            <a:srgbClr val="1A6FAB"/>
          </a:solidFill>
          <a:ln w="12700">
            <a:solidFill>
              <a:srgbClr val="1A6FAB"/>
            </a:solidFill>
            <a:prstDash val="solid"/>
          </a:ln>
        </p:spPr>
      </p:sp>
      <p:sp>
        <p:nvSpPr>
          <p:cNvPr id="19" name="Shape 15"/>
          <p:cNvSpPr/>
          <p:nvPr/>
        </p:nvSpPr>
        <p:spPr>
          <a:xfrm>
            <a:off x="8092440" y="2194560"/>
            <a:ext cx="548640" cy="548640"/>
          </a:xfrm>
          <a:prstGeom prst="ellipse">
            <a:avLst/>
          </a:prstGeom>
          <a:solidFill>
            <a:srgbClr val="DBEAFE"/>
          </a:solidFill>
          <a:ln w="12700">
            <a:solidFill>
              <a:srgbClr val="DBEAFE"/>
            </a:solidFill>
            <a:prstDash val="solid"/>
          </a:ln>
        </p:spPr>
      </p:sp>
      <p:pic>
        <p:nvPicPr>
          <p:cNvPr id="20" name="Image 2" descr="preencoded.png">    </p:cNvPr>
          <p:cNvPicPr>
            <a:picLocks noChangeAspect="1"/>
          </p:cNvPicPr>
          <p:nvPr/>
        </p:nvPicPr>
        <p:blipFill>
          <a:blip r:embed="rId3"/>
          <a:stretch>
            <a:fillRect/>
          </a:stretch>
        </p:blipFill>
        <p:spPr>
          <a:xfrm>
            <a:off x="8183880" y="2286000"/>
            <a:ext cx="365760" cy="365760"/>
          </a:xfrm>
          <a:prstGeom prst="rect">
            <a:avLst/>
          </a:prstGeom>
        </p:spPr>
      </p:pic>
      <p:sp>
        <p:nvSpPr>
          <p:cNvPr id="21" name="Text 16"/>
          <p:cNvSpPr/>
          <p:nvPr/>
        </p:nvSpPr>
        <p:spPr>
          <a:xfrm>
            <a:off x="8778240" y="1920240"/>
            <a:ext cx="2514600" cy="1097280"/>
          </a:xfrm>
          <a:prstGeom prst="rect">
            <a:avLst/>
          </a:prstGeom>
          <a:noFill/>
          <a:ln/>
        </p:spPr>
        <p:txBody>
          <a:bodyPr wrap="square" lIns="0" tIns="0" rIns="0" bIns="0" rtlCol="0" anchor="ctr"/>
          <a:lstStyle/>
          <a:p>
            <a:pPr indent="0" marL="0">
              <a:buNone/>
            </a:pPr>
            <a:r>
              <a:rPr lang="en-US" sz="1300" b="1" dirty="0">
                <a:solidFill>
                  <a:srgbClr val="0F2C4D"/>
                </a:solidFill>
                <a:latin typeface="Calibri" pitchFamily="34" charset="0"/>
                <a:ea typeface="Calibri" pitchFamily="34" charset="-122"/>
                <a:cs typeface="Calibri" pitchFamily="34" charset="-120"/>
              </a:rPr>
              <a:t>Données géo</a:t>
            </a:r>
            <a:endParaRPr lang="en-US" sz="1300" dirty="0"/>
          </a:p>
          <a:p>
            <a:pPr indent="0" marL="0">
              <a:buNone/>
            </a:pPr>
            <a:r>
              <a:rPr lang="en-US" sz="1000" dirty="0">
                <a:solidFill>
                  <a:srgbClr val="475569"/>
                </a:solidFill>
                <a:latin typeface="Calibri" pitchFamily="34" charset="0"/>
                <a:ea typeface="Calibri" pitchFamily="34" charset="-122"/>
                <a:cs typeface="Calibri" pitchFamily="34" charset="-120"/>
              </a:rPr>
              <a:t>Shapefiles, zones inondables, bassins</a:t>
            </a:r>
            <a:endParaRPr lang="en-US" sz="1300" dirty="0"/>
          </a:p>
        </p:txBody>
      </p:sp>
      <p:sp>
        <p:nvSpPr>
          <p:cNvPr id="22" name="Shape 17"/>
          <p:cNvSpPr/>
          <p:nvPr/>
        </p:nvSpPr>
        <p:spPr>
          <a:xfrm>
            <a:off x="2263140" y="3108960"/>
            <a:ext cx="91440" cy="320040"/>
          </a:xfrm>
          <a:prstGeom prst="rect">
            <a:avLst/>
          </a:prstGeom>
          <a:solidFill>
            <a:srgbClr val="94A3B8"/>
          </a:solidFill>
          <a:ln w="12700">
            <a:solidFill>
              <a:srgbClr val="94A3B8"/>
            </a:solidFill>
            <a:prstDash val="solid"/>
          </a:ln>
        </p:spPr>
      </p:sp>
      <p:sp>
        <p:nvSpPr>
          <p:cNvPr id="23" name="Shape 18"/>
          <p:cNvSpPr/>
          <p:nvPr/>
        </p:nvSpPr>
        <p:spPr>
          <a:xfrm>
            <a:off x="5920740" y="3108960"/>
            <a:ext cx="91440" cy="320040"/>
          </a:xfrm>
          <a:prstGeom prst="rect">
            <a:avLst/>
          </a:prstGeom>
          <a:solidFill>
            <a:srgbClr val="94A3B8"/>
          </a:solidFill>
          <a:ln w="12700">
            <a:solidFill>
              <a:srgbClr val="94A3B8"/>
            </a:solidFill>
            <a:prstDash val="solid"/>
          </a:ln>
        </p:spPr>
      </p:sp>
      <p:sp>
        <p:nvSpPr>
          <p:cNvPr id="24" name="Shape 19"/>
          <p:cNvSpPr/>
          <p:nvPr/>
        </p:nvSpPr>
        <p:spPr>
          <a:xfrm>
            <a:off x="9578340" y="3108960"/>
            <a:ext cx="91440" cy="320040"/>
          </a:xfrm>
          <a:prstGeom prst="rect">
            <a:avLst/>
          </a:prstGeom>
          <a:solidFill>
            <a:srgbClr val="94A3B8"/>
          </a:solidFill>
          <a:ln w="12700">
            <a:solidFill>
              <a:srgbClr val="94A3B8"/>
            </a:solidFill>
            <a:prstDash val="solid"/>
          </a:ln>
        </p:spPr>
      </p:sp>
      <p:sp>
        <p:nvSpPr>
          <p:cNvPr id="25" name="Shape 20"/>
          <p:cNvSpPr/>
          <p:nvPr/>
        </p:nvSpPr>
        <p:spPr>
          <a:xfrm>
            <a:off x="548640" y="3520440"/>
            <a:ext cx="11064240" cy="1417320"/>
          </a:xfrm>
          <a:prstGeom prst="rect">
            <a:avLst/>
          </a:prstGeom>
          <a:solidFill>
            <a:srgbClr val="0F2C4D"/>
          </a:solidFill>
          <a:ln w="12700">
            <a:solidFill>
              <a:srgbClr val="0F2C4D"/>
            </a:solidFill>
            <a:prstDash val="solid"/>
          </a:ln>
          <a:effectLst>
            <a:outerShdw sx="100000" sy="100000" kx="0" ky="0" algn="bl" rotWithShape="0" blurRad="101600" dist="25400" dir="5400000">
              <a:srgbClr val="000000">
                <a:alpha val="10000"/>
              </a:srgbClr>
            </a:outerShdw>
          </a:effectLst>
        </p:spPr>
      </p:sp>
      <p:sp>
        <p:nvSpPr>
          <p:cNvPr id="26" name="Shape 21"/>
          <p:cNvSpPr/>
          <p:nvPr/>
        </p:nvSpPr>
        <p:spPr>
          <a:xfrm>
            <a:off x="548640" y="3520440"/>
            <a:ext cx="11064240" cy="365760"/>
          </a:xfrm>
          <a:prstGeom prst="rect">
            <a:avLst/>
          </a:prstGeom>
          <a:solidFill>
            <a:srgbClr val="F59E0B"/>
          </a:solidFill>
          <a:ln w="12700">
            <a:solidFill>
              <a:srgbClr val="F59E0B"/>
            </a:solidFill>
            <a:prstDash val="solid"/>
          </a:ln>
        </p:spPr>
      </p:sp>
      <p:sp>
        <p:nvSpPr>
          <p:cNvPr id="27" name="Text 22"/>
          <p:cNvSpPr/>
          <p:nvPr/>
        </p:nvSpPr>
        <p:spPr>
          <a:xfrm>
            <a:off x="548640" y="3520440"/>
            <a:ext cx="11064240" cy="365760"/>
          </a:xfrm>
          <a:prstGeom prst="rect">
            <a:avLst/>
          </a:prstGeom>
          <a:noFill/>
          <a:ln/>
        </p:spPr>
        <p:txBody>
          <a:bodyPr wrap="square" lIns="0" tIns="0" rIns="0" bIns="0" rtlCol="0" anchor="ctr"/>
          <a:lstStyle/>
          <a:p>
            <a:pPr algn="ctr" indent="0" marL="0">
              <a:buNone/>
            </a:pPr>
            <a:r>
              <a:rPr lang="en-US" sz="1100" b="1" spc="400" kern="0" dirty="0">
                <a:solidFill>
                  <a:srgbClr val="0F2C4D"/>
                </a:solidFill>
                <a:latin typeface="Calibri" pitchFamily="34" charset="0"/>
                <a:ea typeface="Calibri" pitchFamily="34" charset="-122"/>
                <a:cs typeface="Calibri" pitchFamily="34" charset="-120"/>
              </a:rPr>
              <a:t>MOTEUR D'INTELLIGENCE ARTIFICIELLE</a:t>
            </a:r>
            <a:endParaRPr lang="en-US" sz="1100" dirty="0"/>
          </a:p>
        </p:txBody>
      </p:sp>
      <p:sp>
        <p:nvSpPr>
          <p:cNvPr id="28" name="Shape 23"/>
          <p:cNvSpPr/>
          <p:nvPr/>
        </p:nvSpPr>
        <p:spPr>
          <a:xfrm>
            <a:off x="777240" y="4069080"/>
            <a:ext cx="731520" cy="731520"/>
          </a:xfrm>
          <a:prstGeom prst="ellipse">
            <a:avLst/>
          </a:prstGeom>
          <a:solidFill>
            <a:srgbClr val="1A6FAB"/>
          </a:solidFill>
          <a:ln w="12700">
            <a:solidFill>
              <a:srgbClr val="1A6FAB"/>
            </a:solidFill>
            <a:prstDash val="solid"/>
          </a:ln>
        </p:spPr>
      </p:sp>
      <p:pic>
        <p:nvPicPr>
          <p:cNvPr id="29" name="Image 3" descr="preencoded.png">    </p:cNvPr>
          <p:cNvPicPr>
            <a:picLocks noChangeAspect="1"/>
          </p:cNvPicPr>
          <p:nvPr/>
        </p:nvPicPr>
        <p:blipFill>
          <a:blip r:embed="rId4"/>
          <a:stretch>
            <a:fillRect/>
          </a:stretch>
        </p:blipFill>
        <p:spPr>
          <a:xfrm>
            <a:off x="914400" y="4206240"/>
            <a:ext cx="457200" cy="457200"/>
          </a:xfrm>
          <a:prstGeom prst="rect">
            <a:avLst/>
          </a:prstGeom>
        </p:spPr>
      </p:pic>
      <p:sp>
        <p:nvSpPr>
          <p:cNvPr id="30" name="Text 24"/>
          <p:cNvSpPr/>
          <p:nvPr/>
        </p:nvSpPr>
        <p:spPr>
          <a:xfrm>
            <a:off x="1645920" y="4023360"/>
            <a:ext cx="44348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Random Forest</a:t>
            </a:r>
            <a:endParaRPr lang="en-US" sz="1400" dirty="0"/>
          </a:p>
          <a:p>
            <a:pPr indent="0" marL="0">
              <a:buNone/>
            </a:pPr>
            <a:r>
              <a:rPr lang="en-US" sz="1100" dirty="0">
                <a:solidFill>
                  <a:srgbClr val="60A5FA"/>
                </a:solidFill>
                <a:latin typeface="Calibri" pitchFamily="34" charset="0"/>
                <a:ea typeface="Calibri" pitchFamily="34" charset="-122"/>
                <a:cs typeface="Calibri" pitchFamily="34" charset="-120"/>
              </a:rPr>
              <a:t>Prédiction risque météo  ·  AUC = 1,000  ·  Recall = 100 %</a:t>
            </a:r>
            <a:endParaRPr lang="en-US" sz="1400" dirty="0"/>
          </a:p>
        </p:txBody>
      </p:sp>
      <p:sp>
        <p:nvSpPr>
          <p:cNvPr id="31" name="Shape 25"/>
          <p:cNvSpPr/>
          <p:nvPr/>
        </p:nvSpPr>
        <p:spPr>
          <a:xfrm>
            <a:off x="6263640" y="4069080"/>
            <a:ext cx="731520" cy="731520"/>
          </a:xfrm>
          <a:prstGeom prst="ellipse">
            <a:avLst/>
          </a:prstGeom>
          <a:solidFill>
            <a:srgbClr val="1A6FAB"/>
          </a:solidFill>
          <a:ln w="12700">
            <a:solidFill>
              <a:srgbClr val="1A6FAB"/>
            </a:solidFill>
            <a:prstDash val="solid"/>
          </a:ln>
        </p:spPr>
      </p:sp>
      <p:pic>
        <p:nvPicPr>
          <p:cNvPr id="32" name="Image 4" descr="preencoded.png">    </p:cNvPr>
          <p:cNvPicPr>
            <a:picLocks noChangeAspect="1"/>
          </p:cNvPicPr>
          <p:nvPr/>
        </p:nvPicPr>
        <p:blipFill>
          <a:blip r:embed="rId5"/>
          <a:stretch>
            <a:fillRect/>
          </a:stretch>
        </p:blipFill>
        <p:spPr>
          <a:xfrm>
            <a:off x="6400800" y="4206240"/>
            <a:ext cx="457200" cy="457200"/>
          </a:xfrm>
          <a:prstGeom prst="rect">
            <a:avLst/>
          </a:prstGeom>
        </p:spPr>
      </p:pic>
      <p:sp>
        <p:nvSpPr>
          <p:cNvPr id="33" name="Text 26"/>
          <p:cNvSpPr/>
          <p:nvPr/>
        </p:nvSpPr>
        <p:spPr>
          <a:xfrm>
            <a:off x="7132320" y="4023360"/>
            <a:ext cx="4434840" cy="9144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ConvNeXt-Tiny</a:t>
            </a:r>
            <a:endParaRPr lang="en-US" sz="1400" dirty="0"/>
          </a:p>
          <a:p>
            <a:pPr indent="0" marL="0">
              <a:buNone/>
            </a:pPr>
            <a:r>
              <a:rPr lang="en-US" sz="1100" dirty="0">
                <a:solidFill>
                  <a:srgbClr val="60A5FA"/>
                </a:solidFill>
                <a:latin typeface="Calibri" pitchFamily="34" charset="0"/>
                <a:ea typeface="Calibri" pitchFamily="34" charset="-122"/>
                <a:cs typeface="Calibri" pitchFamily="34" charset="-120"/>
              </a:rPr>
              <a:t>Validation visuelle  ·  F1 = 96,48 %  ·  0 fausse alerte</a:t>
            </a:r>
            <a:endParaRPr lang="en-US" sz="1400" dirty="0"/>
          </a:p>
        </p:txBody>
      </p:sp>
      <p:sp>
        <p:nvSpPr>
          <p:cNvPr id="34" name="Shape 27"/>
          <p:cNvSpPr/>
          <p:nvPr/>
        </p:nvSpPr>
        <p:spPr>
          <a:xfrm>
            <a:off x="6035040" y="5029200"/>
            <a:ext cx="91440" cy="320040"/>
          </a:xfrm>
          <a:prstGeom prst="rect">
            <a:avLst/>
          </a:prstGeom>
          <a:solidFill>
            <a:srgbClr val="94A3B8"/>
          </a:solidFill>
          <a:ln w="12700">
            <a:solidFill>
              <a:srgbClr val="94A3B8"/>
            </a:solidFill>
            <a:prstDash val="solid"/>
          </a:ln>
        </p:spPr>
      </p:sp>
      <p:sp>
        <p:nvSpPr>
          <p:cNvPr id="35" name="Shape 28"/>
          <p:cNvSpPr/>
          <p:nvPr/>
        </p:nvSpPr>
        <p:spPr>
          <a:xfrm>
            <a:off x="548640" y="5440680"/>
            <a:ext cx="11064240" cy="777240"/>
          </a:xfrm>
          <a:prstGeom prst="rect">
            <a:avLst/>
          </a:prstGeom>
          <a:solidFill>
            <a:srgbClr val="10B981"/>
          </a:solidFill>
          <a:ln w="12700">
            <a:solidFill>
              <a:srgbClr val="10B981"/>
            </a:solidFill>
            <a:prstDash val="solid"/>
          </a:ln>
          <a:effectLst>
            <a:outerShdw sx="100000" sy="100000" kx="0" ky="0" algn="bl" rotWithShape="0" blurRad="101600" dist="25400" dir="5400000">
              <a:srgbClr val="000000">
                <a:alpha val="10000"/>
              </a:srgbClr>
            </a:outerShdw>
          </a:effectLst>
        </p:spPr>
      </p:sp>
      <p:pic>
        <p:nvPicPr>
          <p:cNvPr id="36" name="Image 5" descr="preencoded.png">    </p:cNvPr>
          <p:cNvPicPr>
            <a:picLocks noChangeAspect="1"/>
          </p:cNvPicPr>
          <p:nvPr/>
        </p:nvPicPr>
        <p:blipFill>
          <a:blip r:embed="rId6"/>
          <a:stretch>
            <a:fillRect/>
          </a:stretch>
        </p:blipFill>
        <p:spPr>
          <a:xfrm>
            <a:off x="777240" y="5577840"/>
            <a:ext cx="502920" cy="502920"/>
          </a:xfrm>
          <a:prstGeom prst="rect">
            <a:avLst/>
          </a:prstGeom>
        </p:spPr>
      </p:pic>
      <p:sp>
        <p:nvSpPr>
          <p:cNvPr id="37" name="Text 29"/>
          <p:cNvSpPr/>
          <p:nvPr/>
        </p:nvSpPr>
        <p:spPr>
          <a:xfrm>
            <a:off x="1417320" y="5440680"/>
            <a:ext cx="1005840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Plateforme collaborative  </a:t>
            </a:r>
            <a:pPr indent="0" marL="0">
              <a:buNone/>
            </a:pPr>
            <a:r>
              <a:rPr lang="en-US" sz="1100" dirty="0">
                <a:solidFill>
                  <a:srgbClr val="ECFDF5"/>
                </a:solidFill>
                <a:latin typeface="Calibri" pitchFamily="34" charset="0"/>
                <a:ea typeface="Calibri" pitchFamily="34" charset="-122"/>
                <a:cs typeface="Calibri" pitchFamily="34" charset="-120"/>
              </a:rPr>
              <a:t>·  Carte temps réel · alertes ciblées · tableau de bord autorités · API ouverte</a:t>
            </a:r>
            <a:endParaRPr lang="en-US" sz="1400" dirty="0"/>
          </a:p>
        </p:txBody>
      </p:sp>
      <p:sp>
        <p:nvSpPr>
          <p:cNvPr id="38" name="Shape 30"/>
          <p:cNvSpPr/>
          <p:nvPr/>
        </p:nvSpPr>
        <p:spPr>
          <a:xfrm>
            <a:off x="0" y="6537960"/>
            <a:ext cx="12161520" cy="320040"/>
          </a:xfrm>
          <a:prstGeom prst="rect">
            <a:avLst/>
          </a:prstGeom>
          <a:solidFill>
            <a:srgbClr val="0F2C4D"/>
          </a:solidFill>
          <a:ln w="12700">
            <a:solidFill>
              <a:srgbClr val="0F2C4D"/>
            </a:solidFill>
            <a:prstDash val="solid"/>
          </a:ln>
        </p:spPr>
      </p:sp>
      <p:sp>
        <p:nvSpPr>
          <p:cNvPr id="39" name="Text 31"/>
          <p:cNvSpPr/>
          <p:nvPr/>
        </p:nvSpPr>
        <p:spPr>
          <a:xfrm>
            <a:off x="457200" y="6537960"/>
            <a:ext cx="9144000" cy="320040"/>
          </a:xfrm>
          <a:prstGeom prst="rect">
            <a:avLst/>
          </a:prstGeom>
          <a:noFill/>
          <a:ln/>
        </p:spPr>
        <p:txBody>
          <a:bodyPr wrap="square" lIns="0" tIns="0" rIns="0" bIns="0" rtlCol="0" anchor="ctr"/>
          <a:lstStyle/>
          <a:p>
            <a:pPr algn="l" indent="0" marL="0">
              <a:buNone/>
            </a:pPr>
            <a:r>
              <a:rPr lang="en-US" sz="900" dirty="0">
                <a:solidFill>
                  <a:srgbClr val="F8FAFC"/>
                </a:solidFill>
                <a:latin typeface="Calibri" pitchFamily="34" charset="0"/>
                <a:ea typeface="Calibri" pitchFamily="34" charset="-122"/>
                <a:cs typeface="Calibri" pitchFamily="34" charset="-120"/>
              </a:rPr>
              <a:t>Saytu Mbeund  ·  Détection &amp; Prédiction des Inondations par IA  ·  UIDT / UTT</a:t>
            </a:r>
            <a:endParaRPr lang="en-US" sz="900" dirty="0"/>
          </a:p>
        </p:txBody>
      </p:sp>
      <p:sp>
        <p:nvSpPr>
          <p:cNvPr id="40" name="Text 32"/>
          <p:cNvSpPr/>
          <p:nvPr/>
        </p:nvSpPr>
        <p:spPr>
          <a:xfrm>
            <a:off x="11064240" y="6537960"/>
            <a:ext cx="640080" cy="320040"/>
          </a:xfrm>
          <a:prstGeom prst="rect">
            <a:avLst/>
          </a:prstGeom>
          <a:noFill/>
          <a:ln/>
        </p:spPr>
        <p:txBody>
          <a:bodyPr wrap="square" lIns="0" tIns="0" rIns="0" bIns="0" rtlCol="0" anchor="ctr"/>
          <a:lstStyle/>
          <a:p>
            <a:pPr algn="r" indent="0" marL="0">
              <a:buNone/>
            </a:pPr>
            <a:r>
              <a:rPr lang="en-US" sz="900" dirty="0">
                <a:solidFill>
                  <a:srgbClr val="F8FAFC"/>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100" b="1" spc="400" kern="0" dirty="0">
                <a:solidFill>
                  <a:srgbClr val="1A6FAB"/>
                </a:solidFill>
                <a:latin typeface="Calibri" pitchFamily="34" charset="0"/>
                <a:ea typeface="Calibri" pitchFamily="34" charset="-122"/>
                <a:cs typeface="Calibri" pitchFamily="34" charset="-120"/>
              </a:rPr>
              <a:t>ANTICIPATION 24-48H</a:t>
            </a:r>
            <a:endParaRPr lang="en-US" sz="1100" dirty="0"/>
          </a:p>
        </p:txBody>
      </p:sp>
      <p:sp>
        <p:nvSpPr>
          <p:cNvPr id="3" name="Text 1"/>
          <p:cNvSpPr/>
          <p:nvPr/>
        </p:nvSpPr>
        <p:spPr>
          <a:xfrm>
            <a:off x="548640" y="713232"/>
            <a:ext cx="11064240" cy="777240"/>
          </a:xfrm>
          <a:prstGeom prst="rect">
            <a:avLst/>
          </a:prstGeom>
          <a:noFill/>
          <a:ln/>
        </p:spPr>
        <p:txBody>
          <a:bodyPr wrap="square" lIns="0" tIns="0" rIns="0" bIns="0" rtlCol="0" anchor="ctr"/>
          <a:lstStyle/>
          <a:p>
            <a:pPr indent="0" marL="0">
              <a:buNone/>
            </a:pPr>
            <a:r>
              <a:rPr lang="en-US" sz="3000" b="1" dirty="0">
                <a:solidFill>
                  <a:srgbClr val="0F2C4D"/>
                </a:solidFill>
                <a:latin typeface="Georgia" pitchFamily="34" charset="0"/>
                <a:ea typeface="Georgia" pitchFamily="34" charset="-122"/>
                <a:cs typeface="Georgia" pitchFamily="34" charset="-120"/>
              </a:rPr>
              <a:t>Composante 1 — Prédiction météo (Random Forest)</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A6FAB"/>
          </a:solidFill>
          <a:ln w="12700">
            <a:solidFill>
              <a:srgbClr val="1A6FAB"/>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Text 5"/>
          <p:cNvSpPr/>
          <p:nvPr/>
        </p:nvSpPr>
        <p:spPr>
          <a:xfrm>
            <a:off x="548640" y="2011680"/>
            <a:ext cx="5852160" cy="457200"/>
          </a:xfrm>
          <a:prstGeom prst="rect">
            <a:avLst/>
          </a:prstGeom>
          <a:noFill/>
          <a:ln/>
        </p:spPr>
        <p:txBody>
          <a:bodyPr wrap="square" lIns="0" tIns="0" rIns="0" bIns="0" rtlCol="0" anchor="ctr"/>
          <a:lstStyle/>
          <a:p>
            <a:pPr indent="0" marL="0">
              <a:buNone/>
            </a:pPr>
            <a:r>
              <a:rPr lang="en-US" sz="1400" b="1" i="1" dirty="0">
                <a:solidFill>
                  <a:srgbClr val="1A6FAB"/>
                </a:solidFill>
                <a:latin typeface="Georgia" pitchFamily="34" charset="0"/>
                <a:ea typeface="Georgia" pitchFamily="34" charset="-122"/>
                <a:cs typeface="Georgia" pitchFamily="34" charset="-120"/>
              </a:rPr>
              <a:t>Anticiper les épisodes critiques à partir de 20 ans de réanalyses horaires.</a:t>
            </a:r>
            <a:endParaRPr lang="en-US" sz="1400" dirty="0"/>
          </a:p>
        </p:txBody>
      </p:sp>
      <p:sp>
        <p:nvSpPr>
          <p:cNvPr id="8" name="Text 6"/>
          <p:cNvSpPr/>
          <p:nvPr/>
        </p:nvSpPr>
        <p:spPr>
          <a:xfrm>
            <a:off x="548640" y="2514600"/>
            <a:ext cx="5852160" cy="128016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Modèle Random Forest entraîné sur les données Open-Meteo 2005-2025, sur 6 zones représentatives du Sénégal (Dakar, Touba, Kaolack, Kolda, Matam, Tambacounda). Validation croisée temporelle stricte (TimeSeriesSplit, 5 folds).</a:t>
            </a:r>
            <a:endParaRPr lang="en-US" sz="1200" dirty="0"/>
          </a:p>
        </p:txBody>
      </p:sp>
      <p:sp>
        <p:nvSpPr>
          <p:cNvPr id="9" name="Text 7"/>
          <p:cNvSpPr/>
          <p:nvPr/>
        </p:nvSpPr>
        <p:spPr>
          <a:xfrm>
            <a:off x="548640" y="3840480"/>
            <a:ext cx="5852160" cy="365760"/>
          </a:xfrm>
          <a:prstGeom prst="rect">
            <a:avLst/>
          </a:prstGeom>
          <a:noFill/>
          <a:ln/>
        </p:spPr>
        <p:txBody>
          <a:bodyPr wrap="square" lIns="0" tIns="0" rIns="0" bIns="0" rtlCol="0" anchor="ctr"/>
          <a:lstStyle/>
          <a:p>
            <a:pPr indent="0" marL="0">
              <a:buNone/>
            </a:pPr>
            <a:r>
              <a:rPr lang="en-US" sz="1200" b="1" dirty="0">
                <a:solidFill>
                  <a:srgbClr val="0F2C4D"/>
                </a:solidFill>
                <a:latin typeface="Calibri" pitchFamily="34" charset="0"/>
                <a:ea typeface="Calibri" pitchFamily="34" charset="-122"/>
                <a:cs typeface="Calibri" pitchFamily="34" charset="-120"/>
              </a:rPr>
              <a:t>Importance des variables (Gini)</a:t>
            </a:r>
            <a:endParaRPr lang="en-US" sz="1200" dirty="0"/>
          </a:p>
        </p:txBody>
      </p:sp>
      <p:sp>
        <p:nvSpPr>
          <p:cNvPr id="10" name="Text 8"/>
          <p:cNvSpPr/>
          <p:nvPr/>
        </p:nvSpPr>
        <p:spPr>
          <a:xfrm>
            <a:off x="548640" y="4251960"/>
            <a:ext cx="155448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precip_3d_sum</a:t>
            </a:r>
            <a:endParaRPr lang="en-US" sz="1000" dirty="0"/>
          </a:p>
        </p:txBody>
      </p:sp>
      <p:sp>
        <p:nvSpPr>
          <p:cNvPr id="11" name="Shape 9"/>
          <p:cNvSpPr/>
          <p:nvPr/>
        </p:nvSpPr>
        <p:spPr>
          <a:xfrm>
            <a:off x="2194560" y="4297680"/>
            <a:ext cx="3474720" cy="228600"/>
          </a:xfrm>
          <a:prstGeom prst="rect">
            <a:avLst/>
          </a:prstGeom>
          <a:solidFill>
            <a:srgbClr val="E2E8F0"/>
          </a:solidFill>
          <a:ln w="12700">
            <a:solidFill>
              <a:srgbClr val="E2E8F0"/>
            </a:solidFill>
            <a:prstDash val="solid"/>
          </a:ln>
        </p:spPr>
      </p:sp>
      <p:sp>
        <p:nvSpPr>
          <p:cNvPr id="12" name="Shape 10"/>
          <p:cNvSpPr/>
          <p:nvPr/>
        </p:nvSpPr>
        <p:spPr>
          <a:xfrm>
            <a:off x="2194560" y="4297680"/>
            <a:ext cx="3314883" cy="228600"/>
          </a:xfrm>
          <a:prstGeom prst="rect">
            <a:avLst/>
          </a:prstGeom>
          <a:solidFill>
            <a:srgbClr val="F59E0B"/>
          </a:solidFill>
          <a:ln w="12700">
            <a:solidFill>
              <a:srgbClr val="F59E0B"/>
            </a:solidFill>
            <a:prstDash val="solid"/>
          </a:ln>
        </p:spPr>
      </p:sp>
      <p:sp>
        <p:nvSpPr>
          <p:cNvPr id="13" name="Text 11"/>
          <p:cNvSpPr/>
          <p:nvPr/>
        </p:nvSpPr>
        <p:spPr>
          <a:xfrm>
            <a:off x="5715000" y="4251960"/>
            <a:ext cx="731520" cy="320040"/>
          </a:xfrm>
          <a:prstGeom prst="rect">
            <a:avLst/>
          </a:prstGeom>
          <a:noFill/>
          <a:ln/>
        </p:spPr>
        <p:txBody>
          <a:bodyPr wrap="square" lIns="0" tIns="0" rIns="0" bIns="0" rtlCol="0" anchor="ctr"/>
          <a:lstStyle/>
          <a:p>
            <a:pPr indent="0" marL="0">
              <a:buNone/>
            </a:pPr>
            <a:r>
              <a:rPr lang="en-US" sz="1000" b="1" dirty="0">
                <a:solidFill>
                  <a:srgbClr val="0F2C4D"/>
                </a:solidFill>
                <a:latin typeface="Calibri" pitchFamily="34" charset="0"/>
                <a:ea typeface="Calibri" pitchFamily="34" charset="-122"/>
                <a:cs typeface="Calibri" pitchFamily="34" charset="-120"/>
              </a:rPr>
              <a:t>47.7 %</a:t>
            </a:r>
            <a:endParaRPr lang="en-US" sz="1000" dirty="0"/>
          </a:p>
        </p:txBody>
      </p:sp>
      <p:sp>
        <p:nvSpPr>
          <p:cNvPr id="14" name="Text 12"/>
          <p:cNvSpPr/>
          <p:nvPr/>
        </p:nvSpPr>
        <p:spPr>
          <a:xfrm>
            <a:off x="548640" y="4617720"/>
            <a:ext cx="155448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precip_24h</a:t>
            </a:r>
            <a:endParaRPr lang="en-US" sz="1000" dirty="0"/>
          </a:p>
        </p:txBody>
      </p:sp>
      <p:sp>
        <p:nvSpPr>
          <p:cNvPr id="15" name="Shape 13"/>
          <p:cNvSpPr/>
          <p:nvPr/>
        </p:nvSpPr>
        <p:spPr>
          <a:xfrm>
            <a:off x="2194560" y="4663440"/>
            <a:ext cx="3474720" cy="228600"/>
          </a:xfrm>
          <a:prstGeom prst="rect">
            <a:avLst/>
          </a:prstGeom>
          <a:solidFill>
            <a:srgbClr val="E2E8F0"/>
          </a:solidFill>
          <a:ln w="12700">
            <a:solidFill>
              <a:srgbClr val="E2E8F0"/>
            </a:solidFill>
            <a:prstDash val="solid"/>
          </a:ln>
        </p:spPr>
      </p:sp>
      <p:sp>
        <p:nvSpPr>
          <p:cNvPr id="16" name="Shape 14"/>
          <p:cNvSpPr/>
          <p:nvPr/>
        </p:nvSpPr>
        <p:spPr>
          <a:xfrm>
            <a:off x="2194560" y="4663440"/>
            <a:ext cx="1271748" cy="228600"/>
          </a:xfrm>
          <a:prstGeom prst="rect">
            <a:avLst/>
          </a:prstGeom>
          <a:solidFill>
            <a:srgbClr val="1A6FAB"/>
          </a:solidFill>
          <a:ln w="12700">
            <a:solidFill>
              <a:srgbClr val="1A6FAB"/>
            </a:solidFill>
            <a:prstDash val="solid"/>
          </a:ln>
        </p:spPr>
      </p:sp>
      <p:sp>
        <p:nvSpPr>
          <p:cNvPr id="17" name="Text 15"/>
          <p:cNvSpPr/>
          <p:nvPr/>
        </p:nvSpPr>
        <p:spPr>
          <a:xfrm>
            <a:off x="5715000" y="4617720"/>
            <a:ext cx="731520" cy="320040"/>
          </a:xfrm>
          <a:prstGeom prst="rect">
            <a:avLst/>
          </a:prstGeom>
          <a:noFill/>
          <a:ln/>
        </p:spPr>
        <p:txBody>
          <a:bodyPr wrap="square" lIns="0" tIns="0" rIns="0" bIns="0" rtlCol="0" anchor="ctr"/>
          <a:lstStyle/>
          <a:p>
            <a:pPr indent="0" marL="0">
              <a:buNone/>
            </a:pPr>
            <a:r>
              <a:rPr lang="en-US" sz="1000" b="1" dirty="0">
                <a:solidFill>
                  <a:srgbClr val="0F2C4D"/>
                </a:solidFill>
                <a:latin typeface="Calibri" pitchFamily="34" charset="0"/>
                <a:ea typeface="Calibri" pitchFamily="34" charset="-122"/>
                <a:cs typeface="Calibri" pitchFamily="34" charset="-120"/>
              </a:rPr>
              <a:t>18.3 %</a:t>
            </a:r>
            <a:endParaRPr lang="en-US" sz="1000" dirty="0"/>
          </a:p>
        </p:txBody>
      </p:sp>
      <p:sp>
        <p:nvSpPr>
          <p:cNvPr id="18" name="Text 16"/>
          <p:cNvSpPr/>
          <p:nvPr/>
        </p:nvSpPr>
        <p:spPr>
          <a:xfrm>
            <a:off x="548640" y="4983480"/>
            <a:ext cx="155448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humidity_72h</a:t>
            </a:r>
            <a:endParaRPr lang="en-US" sz="1000" dirty="0"/>
          </a:p>
        </p:txBody>
      </p:sp>
      <p:sp>
        <p:nvSpPr>
          <p:cNvPr id="19" name="Shape 17"/>
          <p:cNvSpPr/>
          <p:nvPr/>
        </p:nvSpPr>
        <p:spPr>
          <a:xfrm>
            <a:off x="2194560" y="5029200"/>
            <a:ext cx="3474720" cy="228600"/>
          </a:xfrm>
          <a:prstGeom prst="rect">
            <a:avLst/>
          </a:prstGeom>
          <a:solidFill>
            <a:srgbClr val="E2E8F0"/>
          </a:solidFill>
          <a:ln w="12700">
            <a:solidFill>
              <a:srgbClr val="E2E8F0"/>
            </a:solidFill>
            <a:prstDash val="solid"/>
          </a:ln>
        </p:spPr>
      </p:sp>
      <p:sp>
        <p:nvSpPr>
          <p:cNvPr id="20" name="Shape 18"/>
          <p:cNvSpPr/>
          <p:nvPr/>
        </p:nvSpPr>
        <p:spPr>
          <a:xfrm>
            <a:off x="2194560" y="5029200"/>
            <a:ext cx="868680" cy="228600"/>
          </a:xfrm>
          <a:prstGeom prst="rect">
            <a:avLst/>
          </a:prstGeom>
          <a:solidFill>
            <a:srgbClr val="1A6FAB"/>
          </a:solidFill>
          <a:ln w="12700">
            <a:solidFill>
              <a:srgbClr val="1A6FAB"/>
            </a:solidFill>
            <a:prstDash val="solid"/>
          </a:ln>
        </p:spPr>
      </p:sp>
      <p:sp>
        <p:nvSpPr>
          <p:cNvPr id="21" name="Text 19"/>
          <p:cNvSpPr/>
          <p:nvPr/>
        </p:nvSpPr>
        <p:spPr>
          <a:xfrm>
            <a:off x="5715000" y="4983480"/>
            <a:ext cx="731520" cy="320040"/>
          </a:xfrm>
          <a:prstGeom prst="rect">
            <a:avLst/>
          </a:prstGeom>
          <a:noFill/>
          <a:ln/>
        </p:spPr>
        <p:txBody>
          <a:bodyPr wrap="square" lIns="0" tIns="0" rIns="0" bIns="0" rtlCol="0" anchor="ctr"/>
          <a:lstStyle/>
          <a:p>
            <a:pPr indent="0" marL="0">
              <a:buNone/>
            </a:pPr>
            <a:r>
              <a:rPr lang="en-US" sz="1000" b="1" dirty="0">
                <a:solidFill>
                  <a:srgbClr val="0F2C4D"/>
                </a:solidFill>
                <a:latin typeface="Calibri" pitchFamily="34" charset="0"/>
                <a:ea typeface="Calibri" pitchFamily="34" charset="-122"/>
                <a:cs typeface="Calibri" pitchFamily="34" charset="-120"/>
              </a:rPr>
              <a:t>12.5 %</a:t>
            </a:r>
            <a:endParaRPr lang="en-US" sz="1000" dirty="0"/>
          </a:p>
        </p:txBody>
      </p:sp>
      <p:sp>
        <p:nvSpPr>
          <p:cNvPr id="22" name="Text 20"/>
          <p:cNvSpPr/>
          <p:nvPr/>
        </p:nvSpPr>
        <p:spPr>
          <a:xfrm>
            <a:off x="548640" y="5349240"/>
            <a:ext cx="155448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temp_max_3d</a:t>
            </a:r>
            <a:endParaRPr lang="en-US" sz="1000" dirty="0"/>
          </a:p>
        </p:txBody>
      </p:sp>
      <p:sp>
        <p:nvSpPr>
          <p:cNvPr id="23" name="Shape 21"/>
          <p:cNvSpPr/>
          <p:nvPr/>
        </p:nvSpPr>
        <p:spPr>
          <a:xfrm>
            <a:off x="2194560" y="5394960"/>
            <a:ext cx="3474720" cy="228600"/>
          </a:xfrm>
          <a:prstGeom prst="rect">
            <a:avLst/>
          </a:prstGeom>
          <a:solidFill>
            <a:srgbClr val="E2E8F0"/>
          </a:solidFill>
          <a:ln w="12700">
            <a:solidFill>
              <a:srgbClr val="E2E8F0"/>
            </a:solidFill>
            <a:prstDash val="solid"/>
          </a:ln>
        </p:spPr>
      </p:sp>
      <p:sp>
        <p:nvSpPr>
          <p:cNvPr id="24" name="Shape 22"/>
          <p:cNvSpPr/>
          <p:nvPr/>
        </p:nvSpPr>
        <p:spPr>
          <a:xfrm>
            <a:off x="2194560" y="5394960"/>
            <a:ext cx="639348" cy="228600"/>
          </a:xfrm>
          <a:prstGeom prst="rect">
            <a:avLst/>
          </a:prstGeom>
          <a:solidFill>
            <a:srgbClr val="1A6FAB"/>
          </a:solidFill>
          <a:ln w="12700">
            <a:solidFill>
              <a:srgbClr val="1A6FAB"/>
            </a:solidFill>
            <a:prstDash val="solid"/>
          </a:ln>
        </p:spPr>
      </p:sp>
      <p:sp>
        <p:nvSpPr>
          <p:cNvPr id="25" name="Text 23"/>
          <p:cNvSpPr/>
          <p:nvPr/>
        </p:nvSpPr>
        <p:spPr>
          <a:xfrm>
            <a:off x="5715000" y="5349240"/>
            <a:ext cx="731520" cy="320040"/>
          </a:xfrm>
          <a:prstGeom prst="rect">
            <a:avLst/>
          </a:prstGeom>
          <a:noFill/>
          <a:ln/>
        </p:spPr>
        <p:txBody>
          <a:bodyPr wrap="square" lIns="0" tIns="0" rIns="0" bIns="0" rtlCol="0" anchor="ctr"/>
          <a:lstStyle/>
          <a:p>
            <a:pPr indent="0" marL="0">
              <a:buNone/>
            </a:pPr>
            <a:r>
              <a:rPr lang="en-US" sz="1000" b="1" dirty="0">
                <a:solidFill>
                  <a:srgbClr val="0F2C4D"/>
                </a:solidFill>
                <a:latin typeface="Calibri" pitchFamily="34" charset="0"/>
                <a:ea typeface="Calibri" pitchFamily="34" charset="-122"/>
                <a:cs typeface="Calibri" pitchFamily="34" charset="-120"/>
              </a:rPr>
              <a:t>9.2 %</a:t>
            </a:r>
            <a:endParaRPr lang="en-US" sz="1000" dirty="0"/>
          </a:p>
        </p:txBody>
      </p:sp>
      <p:sp>
        <p:nvSpPr>
          <p:cNvPr id="26" name="Text 24"/>
          <p:cNvSpPr/>
          <p:nvPr/>
        </p:nvSpPr>
        <p:spPr>
          <a:xfrm>
            <a:off x="548640" y="5715000"/>
            <a:ext cx="155448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wind_max</a:t>
            </a:r>
            <a:endParaRPr lang="en-US" sz="1000" dirty="0"/>
          </a:p>
        </p:txBody>
      </p:sp>
      <p:sp>
        <p:nvSpPr>
          <p:cNvPr id="27" name="Shape 25"/>
          <p:cNvSpPr/>
          <p:nvPr/>
        </p:nvSpPr>
        <p:spPr>
          <a:xfrm>
            <a:off x="2194560" y="5760720"/>
            <a:ext cx="3474720" cy="228600"/>
          </a:xfrm>
          <a:prstGeom prst="rect">
            <a:avLst/>
          </a:prstGeom>
          <a:solidFill>
            <a:srgbClr val="E2E8F0"/>
          </a:solidFill>
          <a:ln w="12700">
            <a:solidFill>
              <a:srgbClr val="E2E8F0"/>
            </a:solidFill>
            <a:prstDash val="solid"/>
          </a:ln>
        </p:spPr>
      </p:sp>
      <p:sp>
        <p:nvSpPr>
          <p:cNvPr id="28" name="Shape 26"/>
          <p:cNvSpPr/>
          <p:nvPr/>
        </p:nvSpPr>
        <p:spPr>
          <a:xfrm>
            <a:off x="2194560" y="5760720"/>
            <a:ext cx="423916" cy="228600"/>
          </a:xfrm>
          <a:prstGeom prst="rect">
            <a:avLst/>
          </a:prstGeom>
          <a:solidFill>
            <a:srgbClr val="1A6FAB"/>
          </a:solidFill>
          <a:ln w="12700">
            <a:solidFill>
              <a:srgbClr val="1A6FAB"/>
            </a:solidFill>
            <a:prstDash val="solid"/>
          </a:ln>
        </p:spPr>
      </p:sp>
      <p:sp>
        <p:nvSpPr>
          <p:cNvPr id="29" name="Text 27"/>
          <p:cNvSpPr/>
          <p:nvPr/>
        </p:nvSpPr>
        <p:spPr>
          <a:xfrm>
            <a:off x="5715000" y="5715000"/>
            <a:ext cx="731520" cy="320040"/>
          </a:xfrm>
          <a:prstGeom prst="rect">
            <a:avLst/>
          </a:prstGeom>
          <a:noFill/>
          <a:ln/>
        </p:spPr>
        <p:txBody>
          <a:bodyPr wrap="square" lIns="0" tIns="0" rIns="0" bIns="0" rtlCol="0" anchor="ctr"/>
          <a:lstStyle/>
          <a:p>
            <a:pPr indent="0" marL="0">
              <a:buNone/>
            </a:pPr>
            <a:r>
              <a:rPr lang="en-US" sz="1000" b="1" dirty="0">
                <a:solidFill>
                  <a:srgbClr val="0F2C4D"/>
                </a:solidFill>
                <a:latin typeface="Calibri" pitchFamily="34" charset="0"/>
                <a:ea typeface="Calibri" pitchFamily="34" charset="-122"/>
                <a:cs typeface="Calibri" pitchFamily="34" charset="-120"/>
              </a:rPr>
              <a:t>6.1 %</a:t>
            </a:r>
            <a:endParaRPr lang="en-US" sz="1000" dirty="0"/>
          </a:p>
        </p:txBody>
      </p:sp>
      <p:sp>
        <p:nvSpPr>
          <p:cNvPr id="30" name="Shape 28"/>
          <p:cNvSpPr/>
          <p:nvPr/>
        </p:nvSpPr>
        <p:spPr>
          <a:xfrm>
            <a:off x="6858000" y="2011680"/>
            <a:ext cx="4754880" cy="4160520"/>
          </a:xfrm>
          <a:prstGeom prst="rect">
            <a:avLst/>
          </a:prstGeom>
          <a:solidFill>
            <a:srgbClr val="0F2C4D"/>
          </a:solidFill>
          <a:ln w="12700">
            <a:solidFill>
              <a:srgbClr val="0F2C4D"/>
            </a:solidFill>
            <a:prstDash val="solid"/>
          </a:ln>
          <a:effectLst>
            <a:outerShdw sx="100000" sy="100000" kx="0" ky="0" algn="bl" rotWithShape="0" blurRad="101600" dist="25400" dir="5400000">
              <a:srgbClr val="000000">
                <a:alpha val="10000"/>
              </a:srgbClr>
            </a:outerShdw>
          </a:effectLst>
        </p:spPr>
      </p:sp>
      <p:sp>
        <p:nvSpPr>
          <p:cNvPr id="31" name="Shape 29"/>
          <p:cNvSpPr/>
          <p:nvPr/>
        </p:nvSpPr>
        <p:spPr>
          <a:xfrm>
            <a:off x="6858000" y="2011680"/>
            <a:ext cx="4754880" cy="457200"/>
          </a:xfrm>
          <a:prstGeom prst="rect">
            <a:avLst/>
          </a:prstGeom>
          <a:solidFill>
            <a:srgbClr val="F59E0B"/>
          </a:solidFill>
          <a:ln w="12700">
            <a:solidFill>
              <a:srgbClr val="F59E0B"/>
            </a:solidFill>
            <a:prstDash val="solid"/>
          </a:ln>
        </p:spPr>
      </p:sp>
      <p:sp>
        <p:nvSpPr>
          <p:cNvPr id="32" name="Text 30"/>
          <p:cNvSpPr/>
          <p:nvPr/>
        </p:nvSpPr>
        <p:spPr>
          <a:xfrm>
            <a:off x="6858000" y="2011680"/>
            <a:ext cx="4754880" cy="457200"/>
          </a:xfrm>
          <a:prstGeom prst="rect">
            <a:avLst/>
          </a:prstGeom>
          <a:noFill/>
          <a:ln/>
        </p:spPr>
        <p:txBody>
          <a:bodyPr wrap="square" lIns="0" tIns="0" rIns="0" bIns="0" rtlCol="0" anchor="ctr"/>
          <a:lstStyle/>
          <a:p>
            <a:pPr algn="ctr" indent="0" marL="0">
              <a:buNone/>
            </a:pPr>
            <a:r>
              <a:rPr lang="en-US" sz="1000" b="1" spc="200" kern="0" dirty="0">
                <a:solidFill>
                  <a:srgbClr val="0F2C4D"/>
                </a:solidFill>
                <a:latin typeface="Calibri" pitchFamily="34" charset="0"/>
                <a:ea typeface="Calibri" pitchFamily="34" charset="-122"/>
                <a:cs typeface="Calibri" pitchFamily="34" charset="-120"/>
              </a:rPr>
              <a:t>RÉSULTATS — TEST 2023-2025 (2 202 OBSERVATIONS)</a:t>
            </a:r>
            <a:endParaRPr lang="en-US" sz="1000" dirty="0"/>
          </a:p>
        </p:txBody>
      </p:sp>
      <p:sp>
        <p:nvSpPr>
          <p:cNvPr id="33" name="Text 31"/>
          <p:cNvSpPr/>
          <p:nvPr/>
        </p:nvSpPr>
        <p:spPr>
          <a:xfrm>
            <a:off x="7040880" y="2697480"/>
            <a:ext cx="2011680" cy="502920"/>
          </a:xfrm>
          <a:prstGeom prst="rect">
            <a:avLst/>
          </a:prstGeom>
          <a:noFill/>
          <a:ln/>
        </p:spPr>
        <p:txBody>
          <a:bodyPr wrap="square" lIns="0" tIns="0" rIns="0" bIns="0" rtlCol="0" anchor="ctr"/>
          <a:lstStyle/>
          <a:p>
            <a:pPr indent="0" marL="0">
              <a:buNone/>
            </a:pPr>
            <a:r>
              <a:rPr lang="en-US" sz="2800" b="1" dirty="0">
                <a:solidFill>
                  <a:srgbClr val="F59E0B"/>
                </a:solidFill>
                <a:latin typeface="Georgia" pitchFamily="34" charset="0"/>
                <a:ea typeface="Georgia" pitchFamily="34" charset="-122"/>
                <a:cs typeface="Georgia" pitchFamily="34" charset="-120"/>
              </a:rPr>
              <a:t>1,000</a:t>
            </a:r>
            <a:endParaRPr lang="en-US" sz="2800" dirty="0"/>
          </a:p>
        </p:txBody>
      </p:sp>
      <p:sp>
        <p:nvSpPr>
          <p:cNvPr id="34" name="Text 32"/>
          <p:cNvSpPr/>
          <p:nvPr/>
        </p:nvSpPr>
        <p:spPr>
          <a:xfrm>
            <a:off x="9098280" y="2697480"/>
            <a:ext cx="246888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AUC-ROC</a:t>
            </a:r>
            <a:endParaRPr lang="en-US" sz="1100" dirty="0"/>
          </a:p>
        </p:txBody>
      </p:sp>
      <p:sp>
        <p:nvSpPr>
          <p:cNvPr id="35" name="Shape 33"/>
          <p:cNvSpPr/>
          <p:nvPr/>
        </p:nvSpPr>
        <p:spPr>
          <a:xfrm>
            <a:off x="7040880" y="3337560"/>
            <a:ext cx="4434840" cy="0"/>
          </a:xfrm>
          <a:prstGeom prst="line">
            <a:avLst/>
          </a:prstGeom>
          <a:noFill/>
          <a:ln w="6350">
            <a:solidFill>
              <a:srgbClr val="1A6FAB"/>
            </a:solidFill>
            <a:prstDash val="solid"/>
          </a:ln>
        </p:spPr>
      </p:sp>
      <p:sp>
        <p:nvSpPr>
          <p:cNvPr id="36" name="Text 34"/>
          <p:cNvSpPr/>
          <p:nvPr/>
        </p:nvSpPr>
        <p:spPr>
          <a:xfrm>
            <a:off x="7040880" y="3547872"/>
            <a:ext cx="2011680" cy="502920"/>
          </a:xfrm>
          <a:prstGeom prst="rect">
            <a:avLst/>
          </a:prstGeom>
          <a:noFill/>
          <a:ln/>
        </p:spPr>
        <p:txBody>
          <a:bodyPr wrap="square" lIns="0" tIns="0" rIns="0" bIns="0" rtlCol="0" anchor="ctr"/>
          <a:lstStyle/>
          <a:p>
            <a:pPr indent="0" marL="0">
              <a:buNone/>
            </a:pPr>
            <a:r>
              <a:rPr lang="en-US" sz="2800" b="1" dirty="0">
                <a:solidFill>
                  <a:srgbClr val="F59E0B"/>
                </a:solidFill>
                <a:latin typeface="Georgia" pitchFamily="34" charset="0"/>
                <a:ea typeface="Georgia" pitchFamily="34" charset="-122"/>
                <a:cs typeface="Georgia" pitchFamily="34" charset="-120"/>
              </a:rPr>
              <a:t>100 %</a:t>
            </a:r>
            <a:endParaRPr lang="en-US" sz="2800" dirty="0"/>
          </a:p>
        </p:txBody>
      </p:sp>
      <p:sp>
        <p:nvSpPr>
          <p:cNvPr id="37" name="Text 35"/>
          <p:cNvSpPr/>
          <p:nvPr/>
        </p:nvSpPr>
        <p:spPr>
          <a:xfrm>
            <a:off x="9098280" y="3547872"/>
            <a:ext cx="246888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Rappel (zéro faux négatif)</a:t>
            </a:r>
            <a:endParaRPr lang="en-US" sz="1100" dirty="0"/>
          </a:p>
        </p:txBody>
      </p:sp>
      <p:sp>
        <p:nvSpPr>
          <p:cNvPr id="38" name="Shape 36"/>
          <p:cNvSpPr/>
          <p:nvPr/>
        </p:nvSpPr>
        <p:spPr>
          <a:xfrm>
            <a:off x="7040880" y="4187952"/>
            <a:ext cx="4434840" cy="0"/>
          </a:xfrm>
          <a:prstGeom prst="line">
            <a:avLst/>
          </a:prstGeom>
          <a:noFill/>
          <a:ln w="6350">
            <a:solidFill>
              <a:srgbClr val="1A6FAB"/>
            </a:solidFill>
            <a:prstDash val="solid"/>
          </a:ln>
        </p:spPr>
      </p:sp>
      <p:sp>
        <p:nvSpPr>
          <p:cNvPr id="39" name="Text 37"/>
          <p:cNvSpPr/>
          <p:nvPr/>
        </p:nvSpPr>
        <p:spPr>
          <a:xfrm>
            <a:off x="7040880" y="4398264"/>
            <a:ext cx="2011680" cy="502920"/>
          </a:xfrm>
          <a:prstGeom prst="rect">
            <a:avLst/>
          </a:prstGeom>
          <a:noFill/>
          <a:ln/>
        </p:spPr>
        <p:txBody>
          <a:bodyPr wrap="square" lIns="0" tIns="0" rIns="0" bIns="0" rtlCol="0" anchor="ctr"/>
          <a:lstStyle/>
          <a:p>
            <a:pPr indent="0" marL="0">
              <a:buNone/>
            </a:pPr>
            <a:r>
              <a:rPr lang="en-US" sz="2800" b="1" dirty="0">
                <a:solidFill>
                  <a:srgbClr val="F59E0B"/>
                </a:solidFill>
                <a:latin typeface="Georgia" pitchFamily="34" charset="0"/>
                <a:ea typeface="Georgia" pitchFamily="34" charset="-122"/>
                <a:cs typeface="Georgia" pitchFamily="34" charset="-120"/>
              </a:rPr>
              <a:t>99,5 %</a:t>
            </a:r>
            <a:endParaRPr lang="en-US" sz="2800" dirty="0"/>
          </a:p>
        </p:txBody>
      </p:sp>
      <p:sp>
        <p:nvSpPr>
          <p:cNvPr id="40" name="Text 38"/>
          <p:cNvSpPr/>
          <p:nvPr/>
        </p:nvSpPr>
        <p:spPr>
          <a:xfrm>
            <a:off x="9098280" y="4398264"/>
            <a:ext cx="246888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Précision</a:t>
            </a:r>
            <a:endParaRPr lang="en-US" sz="1100" dirty="0"/>
          </a:p>
        </p:txBody>
      </p:sp>
      <p:sp>
        <p:nvSpPr>
          <p:cNvPr id="41" name="Shape 39"/>
          <p:cNvSpPr/>
          <p:nvPr/>
        </p:nvSpPr>
        <p:spPr>
          <a:xfrm>
            <a:off x="7040880" y="5038344"/>
            <a:ext cx="4434840" cy="0"/>
          </a:xfrm>
          <a:prstGeom prst="line">
            <a:avLst/>
          </a:prstGeom>
          <a:noFill/>
          <a:ln w="6350">
            <a:solidFill>
              <a:srgbClr val="1A6FAB"/>
            </a:solidFill>
            <a:prstDash val="solid"/>
          </a:ln>
        </p:spPr>
      </p:sp>
      <p:sp>
        <p:nvSpPr>
          <p:cNvPr id="42" name="Text 40"/>
          <p:cNvSpPr/>
          <p:nvPr/>
        </p:nvSpPr>
        <p:spPr>
          <a:xfrm>
            <a:off x="7040880" y="5248656"/>
            <a:ext cx="2011680" cy="502920"/>
          </a:xfrm>
          <a:prstGeom prst="rect">
            <a:avLst/>
          </a:prstGeom>
          <a:noFill/>
          <a:ln/>
        </p:spPr>
        <p:txBody>
          <a:bodyPr wrap="square" lIns="0" tIns="0" rIns="0" bIns="0" rtlCol="0" anchor="ctr"/>
          <a:lstStyle/>
          <a:p>
            <a:pPr indent="0" marL="0">
              <a:buNone/>
            </a:pPr>
            <a:r>
              <a:rPr lang="en-US" sz="2800" b="1" dirty="0">
                <a:solidFill>
                  <a:srgbClr val="F59E0B"/>
                </a:solidFill>
                <a:latin typeface="Georgia" pitchFamily="34" charset="0"/>
                <a:ea typeface="Georgia" pitchFamily="34" charset="-122"/>
                <a:cs typeface="Georgia" pitchFamily="34" charset="-120"/>
              </a:rPr>
              <a:t>0,9999</a:t>
            </a:r>
            <a:endParaRPr lang="en-US" sz="2800" dirty="0"/>
          </a:p>
        </p:txBody>
      </p:sp>
      <p:sp>
        <p:nvSpPr>
          <p:cNvPr id="43" name="Text 41"/>
          <p:cNvSpPr/>
          <p:nvPr/>
        </p:nvSpPr>
        <p:spPr>
          <a:xfrm>
            <a:off x="9098280" y="5248656"/>
            <a:ext cx="246888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AUC moyen sur 5 folds (TimeSeriesSplit)</a:t>
            </a:r>
            <a:endParaRPr lang="en-US" sz="1100" dirty="0"/>
          </a:p>
        </p:txBody>
      </p:sp>
      <p:sp>
        <p:nvSpPr>
          <p:cNvPr id="44" name="Shape 42"/>
          <p:cNvSpPr/>
          <p:nvPr/>
        </p:nvSpPr>
        <p:spPr>
          <a:xfrm>
            <a:off x="0" y="6537960"/>
            <a:ext cx="12161520" cy="320040"/>
          </a:xfrm>
          <a:prstGeom prst="rect">
            <a:avLst/>
          </a:prstGeom>
          <a:solidFill>
            <a:srgbClr val="0F2C4D"/>
          </a:solidFill>
          <a:ln w="12700">
            <a:solidFill>
              <a:srgbClr val="0F2C4D"/>
            </a:solidFill>
            <a:prstDash val="solid"/>
          </a:ln>
        </p:spPr>
      </p:sp>
      <p:sp>
        <p:nvSpPr>
          <p:cNvPr id="45" name="Text 43"/>
          <p:cNvSpPr/>
          <p:nvPr/>
        </p:nvSpPr>
        <p:spPr>
          <a:xfrm>
            <a:off x="457200" y="6537960"/>
            <a:ext cx="9144000" cy="320040"/>
          </a:xfrm>
          <a:prstGeom prst="rect">
            <a:avLst/>
          </a:prstGeom>
          <a:noFill/>
          <a:ln/>
        </p:spPr>
        <p:txBody>
          <a:bodyPr wrap="square" lIns="0" tIns="0" rIns="0" bIns="0" rtlCol="0" anchor="ctr"/>
          <a:lstStyle/>
          <a:p>
            <a:pPr algn="l" indent="0" marL="0">
              <a:buNone/>
            </a:pPr>
            <a:r>
              <a:rPr lang="en-US" sz="900" dirty="0">
                <a:solidFill>
                  <a:srgbClr val="F8FAFC"/>
                </a:solidFill>
                <a:latin typeface="Calibri" pitchFamily="34" charset="0"/>
                <a:ea typeface="Calibri" pitchFamily="34" charset="-122"/>
                <a:cs typeface="Calibri" pitchFamily="34" charset="-120"/>
              </a:rPr>
              <a:t>Saytu Mbeund  ·  Détection &amp; Prédiction des Inondations par IA  ·  UIDT / UTT</a:t>
            </a:r>
            <a:endParaRPr lang="en-US" sz="900" dirty="0"/>
          </a:p>
        </p:txBody>
      </p:sp>
      <p:sp>
        <p:nvSpPr>
          <p:cNvPr id="46" name="Text 44"/>
          <p:cNvSpPr/>
          <p:nvPr/>
        </p:nvSpPr>
        <p:spPr>
          <a:xfrm>
            <a:off x="11064240" y="6537960"/>
            <a:ext cx="640080" cy="320040"/>
          </a:xfrm>
          <a:prstGeom prst="rect">
            <a:avLst/>
          </a:prstGeom>
          <a:noFill/>
          <a:ln/>
        </p:spPr>
        <p:txBody>
          <a:bodyPr wrap="square" lIns="0" tIns="0" rIns="0" bIns="0" rtlCol="0" anchor="ctr"/>
          <a:lstStyle/>
          <a:p>
            <a:pPr algn="r" indent="0" marL="0">
              <a:buNone/>
            </a:pPr>
            <a:r>
              <a:rPr lang="en-US" sz="900" dirty="0">
                <a:solidFill>
                  <a:srgbClr val="F8FAFC"/>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100" b="1" spc="400" kern="0" dirty="0">
                <a:solidFill>
                  <a:srgbClr val="1A6FAB"/>
                </a:solidFill>
                <a:latin typeface="Calibri" pitchFamily="34" charset="0"/>
                <a:ea typeface="Calibri" pitchFamily="34" charset="-122"/>
                <a:cs typeface="Calibri" pitchFamily="34" charset="-120"/>
              </a:rPr>
              <a:t>VALIDATION PAR IMAGE</a:t>
            </a:r>
            <a:endParaRPr lang="en-US" sz="1100" dirty="0"/>
          </a:p>
        </p:txBody>
      </p:sp>
      <p:sp>
        <p:nvSpPr>
          <p:cNvPr id="3" name="Text 1"/>
          <p:cNvSpPr/>
          <p:nvPr/>
        </p:nvSpPr>
        <p:spPr>
          <a:xfrm>
            <a:off x="548640" y="713232"/>
            <a:ext cx="11064240" cy="777240"/>
          </a:xfrm>
          <a:prstGeom prst="rect">
            <a:avLst/>
          </a:prstGeom>
          <a:noFill/>
          <a:ln/>
        </p:spPr>
        <p:txBody>
          <a:bodyPr wrap="square" lIns="0" tIns="0" rIns="0" bIns="0" rtlCol="0" anchor="ctr"/>
          <a:lstStyle/>
          <a:p>
            <a:pPr indent="0" marL="0">
              <a:buNone/>
            </a:pPr>
            <a:r>
              <a:rPr lang="en-US" sz="3000" b="1" dirty="0">
                <a:solidFill>
                  <a:srgbClr val="0F2C4D"/>
                </a:solidFill>
                <a:latin typeface="Georgia" pitchFamily="34" charset="0"/>
                <a:ea typeface="Georgia" pitchFamily="34" charset="-122"/>
                <a:cs typeface="Georgia" pitchFamily="34" charset="-120"/>
              </a:rPr>
              <a:t>Composante 2 — Détection visuelle (ConvNeXt-Tiny)</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A6FAB"/>
          </a:solidFill>
          <a:ln w="12700">
            <a:solidFill>
              <a:srgbClr val="1A6FAB"/>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Text 5"/>
          <p:cNvSpPr/>
          <p:nvPr/>
        </p:nvSpPr>
        <p:spPr>
          <a:xfrm>
            <a:off x="548640" y="2011680"/>
            <a:ext cx="11064240" cy="457200"/>
          </a:xfrm>
          <a:prstGeom prst="rect">
            <a:avLst/>
          </a:prstGeom>
          <a:noFill/>
          <a:ln/>
        </p:spPr>
        <p:txBody>
          <a:bodyPr wrap="square" lIns="0" tIns="0" rIns="0" bIns="0" rtlCol="0" anchor="ctr"/>
          <a:lstStyle/>
          <a:p>
            <a:pPr indent="0" marL="0">
              <a:buNone/>
            </a:pPr>
            <a:r>
              <a:rPr lang="en-US" sz="1400" b="1" i="1" dirty="0">
                <a:solidFill>
                  <a:srgbClr val="1A6FAB"/>
                </a:solidFill>
                <a:latin typeface="Georgia" pitchFamily="34" charset="0"/>
                <a:ea typeface="Georgia" pitchFamily="34" charset="-122"/>
                <a:cs typeface="Georgia" pitchFamily="34" charset="-120"/>
              </a:rPr>
              <a:t>Valider chaque signalement citoyen en moins de 2 secondes — sans aucune fausse alerte.</a:t>
            </a:r>
            <a:endParaRPr lang="en-US" sz="1400" dirty="0"/>
          </a:p>
        </p:txBody>
      </p:sp>
      <p:sp>
        <p:nvSpPr>
          <p:cNvPr id="8" name="Text 6"/>
          <p:cNvSpPr/>
          <p:nvPr/>
        </p:nvSpPr>
        <p:spPr>
          <a:xfrm>
            <a:off x="548640" y="2606040"/>
            <a:ext cx="5943600" cy="365760"/>
          </a:xfrm>
          <a:prstGeom prst="rect">
            <a:avLst/>
          </a:prstGeom>
          <a:noFill/>
          <a:ln/>
        </p:spPr>
        <p:txBody>
          <a:bodyPr wrap="square" lIns="0" tIns="0" rIns="0" bIns="0" rtlCol="0" anchor="ctr"/>
          <a:lstStyle/>
          <a:p>
            <a:pPr indent="0" marL="0">
              <a:buNone/>
            </a:pPr>
            <a:r>
              <a:rPr lang="en-US" sz="1200" b="1" dirty="0">
                <a:solidFill>
                  <a:srgbClr val="0F2C4D"/>
                </a:solidFill>
                <a:latin typeface="Calibri" pitchFamily="34" charset="0"/>
                <a:ea typeface="Calibri" pitchFamily="34" charset="-122"/>
                <a:cs typeface="Calibri" pitchFamily="34" charset="-120"/>
              </a:rPr>
              <a:t>Comparaison de 4 architectures CNN (F1-Score)</a:t>
            </a:r>
            <a:endParaRPr lang="en-US" sz="1200" dirty="0"/>
          </a:p>
        </p:txBody>
      </p:sp>
      <p:sp>
        <p:nvSpPr>
          <p:cNvPr id="9" name="Text 7"/>
          <p:cNvSpPr/>
          <p:nvPr/>
        </p:nvSpPr>
        <p:spPr>
          <a:xfrm>
            <a:off x="548640" y="3108960"/>
            <a:ext cx="210312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ResNet-18 (baseline)</a:t>
            </a:r>
            <a:endParaRPr lang="en-US" sz="1100" dirty="0"/>
          </a:p>
        </p:txBody>
      </p:sp>
      <p:sp>
        <p:nvSpPr>
          <p:cNvPr id="10" name="Shape 8"/>
          <p:cNvSpPr/>
          <p:nvPr/>
        </p:nvSpPr>
        <p:spPr>
          <a:xfrm>
            <a:off x="2743200" y="3182112"/>
            <a:ext cx="3200400" cy="274320"/>
          </a:xfrm>
          <a:prstGeom prst="rect">
            <a:avLst/>
          </a:prstGeom>
          <a:solidFill>
            <a:srgbClr val="E2E8F0"/>
          </a:solidFill>
          <a:ln w="12700">
            <a:solidFill>
              <a:srgbClr val="E2E8F0"/>
            </a:solidFill>
            <a:prstDash val="solid"/>
          </a:ln>
        </p:spPr>
      </p:sp>
      <p:sp>
        <p:nvSpPr>
          <p:cNvPr id="11" name="Shape 9"/>
          <p:cNvSpPr/>
          <p:nvPr/>
        </p:nvSpPr>
        <p:spPr>
          <a:xfrm>
            <a:off x="2743200" y="3182112"/>
            <a:ext cx="2553919" cy="274320"/>
          </a:xfrm>
          <a:prstGeom prst="rect">
            <a:avLst/>
          </a:prstGeom>
          <a:solidFill>
            <a:srgbClr val="94A3B8"/>
          </a:solidFill>
          <a:ln w="12700">
            <a:solidFill>
              <a:srgbClr val="94A3B8"/>
            </a:solidFill>
            <a:prstDash val="solid"/>
          </a:ln>
        </p:spPr>
      </p:sp>
      <p:sp>
        <p:nvSpPr>
          <p:cNvPr id="12" name="Text 10"/>
          <p:cNvSpPr/>
          <p:nvPr/>
        </p:nvSpPr>
        <p:spPr>
          <a:xfrm>
            <a:off x="5989320" y="3108960"/>
            <a:ext cx="777240" cy="411480"/>
          </a:xfrm>
          <a:prstGeom prst="rect">
            <a:avLst/>
          </a:prstGeom>
          <a:noFill/>
          <a:ln/>
        </p:spPr>
        <p:txBody>
          <a:bodyPr wrap="square" lIns="0" tIns="0" rIns="0" bIns="0" rtlCol="0" anchor="ctr"/>
          <a:lstStyle/>
          <a:p>
            <a:pPr indent="0" marL="0">
              <a:buNone/>
            </a:pPr>
            <a:r>
              <a:rPr lang="en-US" sz="1100" b="1" dirty="0">
                <a:solidFill>
                  <a:srgbClr val="0F2C4D"/>
                </a:solidFill>
                <a:latin typeface="Calibri" pitchFamily="34" charset="0"/>
                <a:ea typeface="Calibri" pitchFamily="34" charset="-122"/>
                <a:cs typeface="Calibri" pitchFamily="34" charset="-120"/>
              </a:rPr>
              <a:t>79.80 %</a:t>
            </a:r>
            <a:endParaRPr lang="en-US" sz="1100" dirty="0"/>
          </a:p>
        </p:txBody>
      </p:sp>
      <p:sp>
        <p:nvSpPr>
          <p:cNvPr id="13" name="Text 11"/>
          <p:cNvSpPr/>
          <p:nvPr/>
        </p:nvSpPr>
        <p:spPr>
          <a:xfrm>
            <a:off x="548640" y="3611880"/>
            <a:ext cx="210312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EfficientNet-B3</a:t>
            </a:r>
            <a:endParaRPr lang="en-US" sz="1100" dirty="0"/>
          </a:p>
        </p:txBody>
      </p:sp>
      <p:sp>
        <p:nvSpPr>
          <p:cNvPr id="14" name="Shape 12"/>
          <p:cNvSpPr/>
          <p:nvPr/>
        </p:nvSpPr>
        <p:spPr>
          <a:xfrm>
            <a:off x="2743200" y="3685032"/>
            <a:ext cx="3200400" cy="274320"/>
          </a:xfrm>
          <a:prstGeom prst="rect">
            <a:avLst/>
          </a:prstGeom>
          <a:solidFill>
            <a:srgbClr val="E2E8F0"/>
          </a:solidFill>
          <a:ln w="12700">
            <a:solidFill>
              <a:srgbClr val="E2E8F0"/>
            </a:solidFill>
            <a:prstDash val="solid"/>
          </a:ln>
        </p:spPr>
      </p:sp>
      <p:sp>
        <p:nvSpPr>
          <p:cNvPr id="15" name="Shape 13"/>
          <p:cNvSpPr/>
          <p:nvPr/>
        </p:nvSpPr>
        <p:spPr>
          <a:xfrm>
            <a:off x="2743200" y="3685032"/>
            <a:ext cx="2891561" cy="274320"/>
          </a:xfrm>
          <a:prstGeom prst="rect">
            <a:avLst/>
          </a:prstGeom>
          <a:solidFill>
            <a:srgbClr val="1A6FAB"/>
          </a:solidFill>
          <a:ln w="12700">
            <a:solidFill>
              <a:srgbClr val="1A6FAB"/>
            </a:solidFill>
            <a:prstDash val="solid"/>
          </a:ln>
        </p:spPr>
      </p:sp>
      <p:sp>
        <p:nvSpPr>
          <p:cNvPr id="16" name="Text 14"/>
          <p:cNvSpPr/>
          <p:nvPr/>
        </p:nvSpPr>
        <p:spPr>
          <a:xfrm>
            <a:off x="5989320" y="3611880"/>
            <a:ext cx="777240" cy="411480"/>
          </a:xfrm>
          <a:prstGeom prst="rect">
            <a:avLst/>
          </a:prstGeom>
          <a:noFill/>
          <a:ln/>
        </p:spPr>
        <p:txBody>
          <a:bodyPr wrap="square" lIns="0" tIns="0" rIns="0" bIns="0" rtlCol="0" anchor="ctr"/>
          <a:lstStyle/>
          <a:p>
            <a:pPr indent="0" marL="0">
              <a:buNone/>
            </a:pPr>
            <a:r>
              <a:rPr lang="en-US" sz="1100" b="1" dirty="0">
                <a:solidFill>
                  <a:srgbClr val="0F2C4D"/>
                </a:solidFill>
                <a:latin typeface="Calibri" pitchFamily="34" charset="0"/>
                <a:ea typeface="Calibri" pitchFamily="34" charset="-122"/>
                <a:cs typeface="Calibri" pitchFamily="34" charset="-120"/>
              </a:rPr>
              <a:t>90.35 %</a:t>
            </a:r>
            <a:endParaRPr lang="en-US" sz="1100" dirty="0"/>
          </a:p>
        </p:txBody>
      </p:sp>
      <p:sp>
        <p:nvSpPr>
          <p:cNvPr id="17" name="Text 15"/>
          <p:cNvSpPr/>
          <p:nvPr/>
        </p:nvSpPr>
        <p:spPr>
          <a:xfrm>
            <a:off x="548640" y="4114800"/>
            <a:ext cx="210312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Swin-Tiny</a:t>
            </a:r>
            <a:endParaRPr lang="en-US" sz="1100" dirty="0"/>
          </a:p>
        </p:txBody>
      </p:sp>
      <p:sp>
        <p:nvSpPr>
          <p:cNvPr id="18" name="Shape 16"/>
          <p:cNvSpPr/>
          <p:nvPr/>
        </p:nvSpPr>
        <p:spPr>
          <a:xfrm>
            <a:off x="2743200" y="4187952"/>
            <a:ext cx="3200400" cy="274320"/>
          </a:xfrm>
          <a:prstGeom prst="rect">
            <a:avLst/>
          </a:prstGeom>
          <a:solidFill>
            <a:srgbClr val="E2E8F0"/>
          </a:solidFill>
          <a:ln w="12700">
            <a:solidFill>
              <a:srgbClr val="E2E8F0"/>
            </a:solidFill>
            <a:prstDash val="solid"/>
          </a:ln>
        </p:spPr>
      </p:sp>
      <p:sp>
        <p:nvSpPr>
          <p:cNvPr id="19" name="Shape 17"/>
          <p:cNvSpPr/>
          <p:nvPr/>
        </p:nvSpPr>
        <p:spPr>
          <a:xfrm>
            <a:off x="2743200" y="4187952"/>
            <a:ext cx="3057982" cy="274320"/>
          </a:xfrm>
          <a:prstGeom prst="rect">
            <a:avLst/>
          </a:prstGeom>
          <a:solidFill>
            <a:srgbClr val="1A6FAB"/>
          </a:solidFill>
          <a:ln w="12700">
            <a:solidFill>
              <a:srgbClr val="1A6FAB"/>
            </a:solidFill>
            <a:prstDash val="solid"/>
          </a:ln>
        </p:spPr>
      </p:sp>
      <p:sp>
        <p:nvSpPr>
          <p:cNvPr id="20" name="Text 18"/>
          <p:cNvSpPr/>
          <p:nvPr/>
        </p:nvSpPr>
        <p:spPr>
          <a:xfrm>
            <a:off x="5989320" y="4114800"/>
            <a:ext cx="777240" cy="411480"/>
          </a:xfrm>
          <a:prstGeom prst="rect">
            <a:avLst/>
          </a:prstGeom>
          <a:noFill/>
          <a:ln/>
        </p:spPr>
        <p:txBody>
          <a:bodyPr wrap="square" lIns="0" tIns="0" rIns="0" bIns="0" rtlCol="0" anchor="ctr"/>
          <a:lstStyle/>
          <a:p>
            <a:pPr indent="0" marL="0">
              <a:buNone/>
            </a:pPr>
            <a:r>
              <a:rPr lang="en-US" sz="1100" b="1" dirty="0">
                <a:solidFill>
                  <a:srgbClr val="0F2C4D"/>
                </a:solidFill>
                <a:latin typeface="Calibri" pitchFamily="34" charset="0"/>
                <a:ea typeface="Calibri" pitchFamily="34" charset="-122"/>
                <a:cs typeface="Calibri" pitchFamily="34" charset="-120"/>
              </a:rPr>
              <a:t>95.55 %</a:t>
            </a:r>
            <a:endParaRPr lang="en-US" sz="1100" dirty="0"/>
          </a:p>
        </p:txBody>
      </p:sp>
      <p:sp>
        <p:nvSpPr>
          <p:cNvPr id="21" name="Text 19"/>
          <p:cNvSpPr/>
          <p:nvPr/>
        </p:nvSpPr>
        <p:spPr>
          <a:xfrm>
            <a:off x="548640" y="4617720"/>
            <a:ext cx="2103120" cy="411480"/>
          </a:xfrm>
          <a:prstGeom prst="rect">
            <a:avLst/>
          </a:prstGeom>
          <a:noFill/>
          <a:ln/>
        </p:spPr>
        <p:txBody>
          <a:bodyPr wrap="square" lIns="0" tIns="0" rIns="0" bIns="0" rtlCol="0" anchor="ctr"/>
          <a:lstStyle/>
          <a:p>
            <a:pPr indent="0" marL="0">
              <a:buNone/>
            </a:pPr>
            <a:r>
              <a:rPr lang="en-US" sz="1100" b="1" dirty="0">
                <a:solidFill>
                  <a:srgbClr val="0F2C4D"/>
                </a:solidFill>
                <a:latin typeface="Calibri" pitchFamily="34" charset="0"/>
                <a:ea typeface="Calibri" pitchFamily="34" charset="-122"/>
                <a:cs typeface="Calibri" pitchFamily="34" charset="-120"/>
              </a:rPr>
              <a:t>ConvNeXt-Tiny  ★</a:t>
            </a:r>
            <a:endParaRPr lang="en-US" sz="1100" dirty="0"/>
          </a:p>
        </p:txBody>
      </p:sp>
      <p:sp>
        <p:nvSpPr>
          <p:cNvPr id="22" name="Shape 20"/>
          <p:cNvSpPr/>
          <p:nvPr/>
        </p:nvSpPr>
        <p:spPr>
          <a:xfrm>
            <a:off x="2743200" y="4690872"/>
            <a:ext cx="3200400" cy="274320"/>
          </a:xfrm>
          <a:prstGeom prst="rect">
            <a:avLst/>
          </a:prstGeom>
          <a:solidFill>
            <a:srgbClr val="E2E8F0"/>
          </a:solidFill>
          <a:ln w="12700">
            <a:solidFill>
              <a:srgbClr val="E2E8F0"/>
            </a:solidFill>
            <a:prstDash val="solid"/>
          </a:ln>
        </p:spPr>
      </p:sp>
      <p:sp>
        <p:nvSpPr>
          <p:cNvPr id="23" name="Shape 21"/>
          <p:cNvSpPr/>
          <p:nvPr/>
        </p:nvSpPr>
        <p:spPr>
          <a:xfrm>
            <a:off x="2743200" y="4690872"/>
            <a:ext cx="3087746" cy="274320"/>
          </a:xfrm>
          <a:prstGeom prst="rect">
            <a:avLst/>
          </a:prstGeom>
          <a:solidFill>
            <a:srgbClr val="F59E0B"/>
          </a:solidFill>
          <a:ln w="12700">
            <a:solidFill>
              <a:srgbClr val="F59E0B"/>
            </a:solidFill>
            <a:prstDash val="solid"/>
          </a:ln>
        </p:spPr>
      </p:sp>
      <p:sp>
        <p:nvSpPr>
          <p:cNvPr id="24" name="Text 22"/>
          <p:cNvSpPr/>
          <p:nvPr/>
        </p:nvSpPr>
        <p:spPr>
          <a:xfrm>
            <a:off x="5989320" y="4617720"/>
            <a:ext cx="777240" cy="411480"/>
          </a:xfrm>
          <a:prstGeom prst="rect">
            <a:avLst/>
          </a:prstGeom>
          <a:noFill/>
          <a:ln/>
        </p:spPr>
        <p:txBody>
          <a:bodyPr wrap="square" lIns="0" tIns="0" rIns="0" bIns="0" rtlCol="0" anchor="ctr"/>
          <a:lstStyle/>
          <a:p>
            <a:pPr indent="0" marL="0">
              <a:buNone/>
            </a:pPr>
            <a:r>
              <a:rPr lang="en-US" sz="1100" b="1" dirty="0">
                <a:solidFill>
                  <a:srgbClr val="0F2C4D"/>
                </a:solidFill>
                <a:latin typeface="Calibri" pitchFamily="34" charset="0"/>
                <a:ea typeface="Calibri" pitchFamily="34" charset="-122"/>
                <a:cs typeface="Calibri" pitchFamily="34" charset="-120"/>
              </a:rPr>
              <a:t>96.48 %</a:t>
            </a:r>
            <a:endParaRPr lang="en-US" sz="1100" dirty="0"/>
          </a:p>
        </p:txBody>
      </p:sp>
      <p:sp>
        <p:nvSpPr>
          <p:cNvPr id="25" name="Text 23"/>
          <p:cNvSpPr/>
          <p:nvPr/>
        </p:nvSpPr>
        <p:spPr>
          <a:xfrm>
            <a:off x="548640" y="5349240"/>
            <a:ext cx="6263640" cy="77724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ConvNeXt-Tiny est la première évaluation publiée de cette architecture pour la détection d'inondations en Afrique subsaharienne.</a:t>
            </a:r>
            <a:endParaRPr lang="en-US" sz="1100" dirty="0"/>
          </a:p>
        </p:txBody>
      </p:sp>
      <p:sp>
        <p:nvSpPr>
          <p:cNvPr id="26" name="Shape 24"/>
          <p:cNvSpPr/>
          <p:nvPr/>
        </p:nvSpPr>
        <p:spPr>
          <a:xfrm>
            <a:off x="7040880" y="2606040"/>
            <a:ext cx="4572000" cy="3520440"/>
          </a:xfrm>
          <a:prstGeom prst="rect">
            <a:avLst/>
          </a:prstGeom>
          <a:solidFill>
            <a:srgbClr val="0F2C4D"/>
          </a:solidFill>
          <a:ln w="12700">
            <a:solidFill>
              <a:srgbClr val="0F2C4D"/>
            </a:solidFill>
            <a:prstDash val="solid"/>
          </a:ln>
          <a:effectLst>
            <a:outerShdw sx="100000" sy="100000" kx="0" ky="0" algn="bl" rotWithShape="0" blurRad="101600" dist="25400" dir="5400000">
              <a:srgbClr val="000000">
                <a:alpha val="10000"/>
              </a:srgbClr>
            </a:outerShdw>
          </a:effectLst>
        </p:spPr>
      </p:sp>
      <p:sp>
        <p:nvSpPr>
          <p:cNvPr id="27" name="Shape 25"/>
          <p:cNvSpPr/>
          <p:nvPr/>
        </p:nvSpPr>
        <p:spPr>
          <a:xfrm>
            <a:off x="7040880" y="2606040"/>
            <a:ext cx="4572000" cy="457200"/>
          </a:xfrm>
          <a:prstGeom prst="rect">
            <a:avLst/>
          </a:prstGeom>
          <a:solidFill>
            <a:srgbClr val="F59E0B"/>
          </a:solidFill>
          <a:ln w="12700">
            <a:solidFill>
              <a:srgbClr val="F59E0B"/>
            </a:solidFill>
            <a:prstDash val="solid"/>
          </a:ln>
        </p:spPr>
      </p:sp>
      <p:sp>
        <p:nvSpPr>
          <p:cNvPr id="28" name="Text 26"/>
          <p:cNvSpPr/>
          <p:nvPr/>
        </p:nvSpPr>
        <p:spPr>
          <a:xfrm>
            <a:off x="7040880" y="2606040"/>
            <a:ext cx="4572000" cy="457200"/>
          </a:xfrm>
          <a:prstGeom prst="rect">
            <a:avLst/>
          </a:prstGeom>
          <a:noFill/>
          <a:ln/>
        </p:spPr>
        <p:txBody>
          <a:bodyPr wrap="square" lIns="0" tIns="0" rIns="0" bIns="0" rtlCol="0" anchor="ctr"/>
          <a:lstStyle/>
          <a:p>
            <a:pPr algn="ctr" indent="0" marL="0">
              <a:buNone/>
            </a:pPr>
            <a:r>
              <a:rPr lang="en-US" sz="1100" b="1" spc="200" kern="0" dirty="0">
                <a:solidFill>
                  <a:srgbClr val="0F2C4D"/>
                </a:solidFill>
                <a:latin typeface="Calibri" pitchFamily="34" charset="0"/>
                <a:ea typeface="Calibri" pitchFamily="34" charset="-122"/>
                <a:cs typeface="Calibri" pitchFamily="34" charset="-120"/>
              </a:rPr>
              <a:t>CONVNEXT-TINY — MODÈLE RETENU</a:t>
            </a:r>
            <a:endParaRPr lang="en-US" sz="1100" dirty="0"/>
          </a:p>
        </p:txBody>
      </p:sp>
      <p:sp>
        <p:nvSpPr>
          <p:cNvPr id="29" name="Text 27"/>
          <p:cNvSpPr/>
          <p:nvPr/>
        </p:nvSpPr>
        <p:spPr>
          <a:xfrm>
            <a:off x="7223760" y="3246120"/>
            <a:ext cx="1645920" cy="502920"/>
          </a:xfrm>
          <a:prstGeom prst="rect">
            <a:avLst/>
          </a:prstGeom>
          <a:noFill/>
          <a:ln/>
        </p:spPr>
        <p:txBody>
          <a:bodyPr wrap="square" lIns="0" tIns="0" rIns="0" bIns="0"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96,48 %</a:t>
            </a:r>
            <a:endParaRPr lang="en-US" sz="2200" dirty="0"/>
          </a:p>
        </p:txBody>
      </p:sp>
      <p:sp>
        <p:nvSpPr>
          <p:cNvPr id="30" name="Text 28"/>
          <p:cNvSpPr/>
          <p:nvPr/>
        </p:nvSpPr>
        <p:spPr>
          <a:xfrm>
            <a:off x="8869680" y="3246120"/>
            <a:ext cx="269748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F1-Score sur 113 images de validation</a:t>
            </a:r>
            <a:endParaRPr lang="en-US" sz="1100" dirty="0"/>
          </a:p>
        </p:txBody>
      </p:sp>
      <p:sp>
        <p:nvSpPr>
          <p:cNvPr id="31" name="Text 29"/>
          <p:cNvSpPr/>
          <p:nvPr/>
        </p:nvSpPr>
        <p:spPr>
          <a:xfrm>
            <a:off x="7223760" y="3959352"/>
            <a:ext cx="1645920" cy="502920"/>
          </a:xfrm>
          <a:prstGeom prst="rect">
            <a:avLst/>
          </a:prstGeom>
          <a:noFill/>
          <a:ln/>
        </p:spPr>
        <p:txBody>
          <a:bodyPr wrap="square" lIns="0" tIns="0" rIns="0" bIns="0"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100 %</a:t>
            </a:r>
            <a:endParaRPr lang="en-US" sz="2200" dirty="0"/>
          </a:p>
        </p:txBody>
      </p:sp>
      <p:sp>
        <p:nvSpPr>
          <p:cNvPr id="32" name="Text 30"/>
          <p:cNvSpPr/>
          <p:nvPr/>
        </p:nvSpPr>
        <p:spPr>
          <a:xfrm>
            <a:off x="8869680" y="3959352"/>
            <a:ext cx="269748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Précision inondation (FP = 0)</a:t>
            </a:r>
            <a:endParaRPr lang="en-US" sz="1100" dirty="0"/>
          </a:p>
        </p:txBody>
      </p:sp>
      <p:sp>
        <p:nvSpPr>
          <p:cNvPr id="33" name="Text 31"/>
          <p:cNvSpPr/>
          <p:nvPr/>
        </p:nvSpPr>
        <p:spPr>
          <a:xfrm>
            <a:off x="7223760" y="4672584"/>
            <a:ext cx="1645920" cy="502920"/>
          </a:xfrm>
          <a:prstGeom prst="rect">
            <a:avLst/>
          </a:prstGeom>
          <a:noFill/>
          <a:ln/>
        </p:spPr>
        <p:txBody>
          <a:bodyPr wrap="square" lIns="0" tIns="0" rIns="0" bIns="0"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0,988</a:t>
            </a:r>
            <a:endParaRPr lang="en-US" sz="2200" dirty="0"/>
          </a:p>
        </p:txBody>
      </p:sp>
      <p:sp>
        <p:nvSpPr>
          <p:cNvPr id="34" name="Text 32"/>
          <p:cNvSpPr/>
          <p:nvPr/>
        </p:nvSpPr>
        <p:spPr>
          <a:xfrm>
            <a:off x="8869680" y="4672584"/>
            <a:ext cx="269748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AUC-ROC</a:t>
            </a:r>
            <a:endParaRPr lang="en-US" sz="1100" dirty="0"/>
          </a:p>
        </p:txBody>
      </p:sp>
      <p:sp>
        <p:nvSpPr>
          <p:cNvPr id="35" name="Text 33"/>
          <p:cNvSpPr/>
          <p:nvPr/>
        </p:nvSpPr>
        <p:spPr>
          <a:xfrm>
            <a:off x="7223760" y="5385816"/>
            <a:ext cx="1645920" cy="502920"/>
          </a:xfrm>
          <a:prstGeom prst="rect">
            <a:avLst/>
          </a:prstGeom>
          <a:noFill/>
          <a:ln/>
        </p:spPr>
        <p:txBody>
          <a:bodyPr wrap="square" lIns="0" tIns="0" rIns="0" bIns="0" rtlCol="0" anchor="ctr"/>
          <a:lstStyle/>
          <a:p>
            <a:pPr indent="0" marL="0">
              <a:buNone/>
            </a:pPr>
            <a:r>
              <a:rPr lang="en-US" sz="2200" b="1" dirty="0">
                <a:solidFill>
                  <a:srgbClr val="F59E0B"/>
                </a:solidFill>
                <a:latin typeface="Georgia" pitchFamily="34" charset="0"/>
                <a:ea typeface="Georgia" pitchFamily="34" charset="-122"/>
                <a:cs typeface="Georgia" pitchFamily="34" charset="-120"/>
              </a:rPr>
              <a:t>27,8 M</a:t>
            </a:r>
            <a:endParaRPr lang="en-US" sz="2200" dirty="0"/>
          </a:p>
        </p:txBody>
      </p:sp>
      <p:sp>
        <p:nvSpPr>
          <p:cNvPr id="36" name="Text 34"/>
          <p:cNvSpPr/>
          <p:nvPr/>
        </p:nvSpPr>
        <p:spPr>
          <a:xfrm>
            <a:off x="8869680" y="5385816"/>
            <a:ext cx="2697480" cy="5029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paramètres entraînables</a:t>
            </a:r>
            <a:endParaRPr lang="en-US" sz="1100" dirty="0"/>
          </a:p>
        </p:txBody>
      </p:sp>
      <p:sp>
        <p:nvSpPr>
          <p:cNvPr id="37" name="Shape 35"/>
          <p:cNvSpPr/>
          <p:nvPr/>
        </p:nvSpPr>
        <p:spPr>
          <a:xfrm>
            <a:off x="0" y="6537960"/>
            <a:ext cx="12161520" cy="320040"/>
          </a:xfrm>
          <a:prstGeom prst="rect">
            <a:avLst/>
          </a:prstGeom>
          <a:solidFill>
            <a:srgbClr val="0F2C4D"/>
          </a:solidFill>
          <a:ln w="12700">
            <a:solidFill>
              <a:srgbClr val="0F2C4D"/>
            </a:solidFill>
            <a:prstDash val="solid"/>
          </a:ln>
        </p:spPr>
      </p:sp>
      <p:sp>
        <p:nvSpPr>
          <p:cNvPr id="38" name="Text 36"/>
          <p:cNvSpPr/>
          <p:nvPr/>
        </p:nvSpPr>
        <p:spPr>
          <a:xfrm>
            <a:off x="457200" y="6537960"/>
            <a:ext cx="9144000" cy="320040"/>
          </a:xfrm>
          <a:prstGeom prst="rect">
            <a:avLst/>
          </a:prstGeom>
          <a:noFill/>
          <a:ln/>
        </p:spPr>
        <p:txBody>
          <a:bodyPr wrap="square" lIns="0" tIns="0" rIns="0" bIns="0" rtlCol="0" anchor="ctr"/>
          <a:lstStyle/>
          <a:p>
            <a:pPr algn="l" indent="0" marL="0">
              <a:buNone/>
            </a:pPr>
            <a:r>
              <a:rPr lang="en-US" sz="900" dirty="0">
                <a:solidFill>
                  <a:srgbClr val="F8FAFC"/>
                </a:solidFill>
                <a:latin typeface="Calibri" pitchFamily="34" charset="0"/>
                <a:ea typeface="Calibri" pitchFamily="34" charset="-122"/>
                <a:cs typeface="Calibri" pitchFamily="34" charset="-120"/>
              </a:rPr>
              <a:t>Saytu Mbeund  ·  Détection &amp; Prédiction des Inondations par IA  ·  UIDT / UTT</a:t>
            </a:r>
            <a:endParaRPr lang="en-US" sz="900" dirty="0"/>
          </a:p>
        </p:txBody>
      </p:sp>
      <p:sp>
        <p:nvSpPr>
          <p:cNvPr id="39" name="Text 37"/>
          <p:cNvSpPr/>
          <p:nvPr/>
        </p:nvSpPr>
        <p:spPr>
          <a:xfrm>
            <a:off x="11064240" y="6537960"/>
            <a:ext cx="640080" cy="320040"/>
          </a:xfrm>
          <a:prstGeom prst="rect">
            <a:avLst/>
          </a:prstGeom>
          <a:noFill/>
          <a:ln/>
        </p:spPr>
        <p:txBody>
          <a:bodyPr wrap="square" lIns="0" tIns="0" rIns="0" bIns="0" rtlCol="0" anchor="ctr"/>
          <a:lstStyle/>
          <a:p>
            <a:pPr algn="r" indent="0" marL="0">
              <a:buNone/>
            </a:pPr>
            <a:r>
              <a:rPr lang="en-US" sz="900" dirty="0">
                <a:solidFill>
                  <a:srgbClr val="F8FAFC"/>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100" b="1" spc="400" kern="0" dirty="0">
                <a:solidFill>
                  <a:srgbClr val="1A6FAB"/>
                </a:solidFill>
                <a:latin typeface="Calibri" pitchFamily="34" charset="0"/>
                <a:ea typeface="Calibri" pitchFamily="34" charset="-122"/>
                <a:cs typeface="Calibri" pitchFamily="34" charset="-120"/>
              </a:rPr>
              <a:t>COMPOSANTE 3 — PRODUCTION</a:t>
            </a:r>
            <a:endParaRPr lang="en-US" sz="1100" dirty="0"/>
          </a:p>
        </p:txBody>
      </p:sp>
      <p:sp>
        <p:nvSpPr>
          <p:cNvPr id="3" name="Text 1"/>
          <p:cNvSpPr/>
          <p:nvPr/>
        </p:nvSpPr>
        <p:spPr>
          <a:xfrm>
            <a:off x="548640" y="713232"/>
            <a:ext cx="11064240" cy="777240"/>
          </a:xfrm>
          <a:prstGeom prst="rect">
            <a:avLst/>
          </a:prstGeom>
          <a:noFill/>
          <a:ln/>
        </p:spPr>
        <p:txBody>
          <a:bodyPr wrap="square" lIns="0" tIns="0" rIns="0" bIns="0" rtlCol="0" anchor="ctr"/>
          <a:lstStyle/>
          <a:p>
            <a:pPr indent="0" marL="0">
              <a:buNone/>
            </a:pPr>
            <a:r>
              <a:rPr lang="en-US" sz="3000" b="1" dirty="0">
                <a:solidFill>
                  <a:srgbClr val="0F2C4D"/>
                </a:solidFill>
                <a:latin typeface="Georgia" pitchFamily="34" charset="0"/>
                <a:ea typeface="Georgia" pitchFamily="34" charset="-122"/>
                <a:cs typeface="Georgia" pitchFamily="34" charset="-120"/>
              </a:rPr>
              <a:t>Une plateforme collaborative déjà déployée</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A6FAB"/>
          </a:solidFill>
          <a:ln w="12700">
            <a:solidFill>
              <a:srgbClr val="1A6FAB"/>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548640" y="1874520"/>
            <a:ext cx="11064240" cy="548640"/>
          </a:xfrm>
          <a:prstGeom prst="rect">
            <a:avLst/>
          </a:prstGeom>
          <a:solidFill>
            <a:srgbClr val="10B981"/>
          </a:solidFill>
          <a:ln w="12700">
            <a:solidFill>
              <a:srgbClr val="10B981"/>
            </a:solidFill>
            <a:prstDash val="solid"/>
          </a:ln>
        </p:spPr>
      </p:sp>
      <p:pic>
        <p:nvPicPr>
          <p:cNvPr id="8" name="Image 0" descr="preencoded.png">    </p:cNvPr>
          <p:cNvPicPr>
            <a:picLocks noChangeAspect="1"/>
          </p:cNvPicPr>
          <p:nvPr/>
        </p:nvPicPr>
        <p:blipFill>
          <a:blip r:embed="rId1"/>
          <a:stretch>
            <a:fillRect/>
          </a:stretch>
        </p:blipFill>
        <p:spPr>
          <a:xfrm>
            <a:off x="731520" y="1993392"/>
            <a:ext cx="320040" cy="320040"/>
          </a:xfrm>
          <a:prstGeom prst="rect">
            <a:avLst/>
          </a:prstGeom>
        </p:spPr>
      </p:pic>
      <p:sp>
        <p:nvSpPr>
          <p:cNvPr id="9" name="Text 6"/>
          <p:cNvSpPr/>
          <p:nvPr/>
        </p:nvSpPr>
        <p:spPr>
          <a:xfrm>
            <a:off x="1143000" y="1874520"/>
            <a:ext cx="10424160" cy="548640"/>
          </a:xfrm>
          <a:prstGeom prst="rect">
            <a:avLst/>
          </a:prstGeom>
          <a:noFill/>
          <a:ln/>
        </p:spPr>
        <p:txBody>
          <a:bodyPr wrap="square" lIns="0" tIns="0" rIns="0" bIns="0"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EN LIGNE  </a:t>
            </a:r>
            <a:pPr indent="0" marL="0">
              <a:buNone/>
            </a:pPr>
            <a:r>
              <a:rPr lang="en-US" sz="1100" dirty="0">
                <a:solidFill>
                  <a:srgbClr val="ECFDF5"/>
                </a:solidFill>
                <a:latin typeface="Calibri" pitchFamily="34" charset="0"/>
                <a:ea typeface="Calibri" pitchFamily="34" charset="-122"/>
                <a:cs typeface="Calibri" pitchFamily="34" charset="-120"/>
              </a:rPr>
              <a:t>·  https://flood.yaataldigital.com/   ·   Démo vidéo : youtu.be/ml16aAvDvzs</a:t>
            </a:r>
            <a:endParaRPr lang="en-US" sz="1100" dirty="0"/>
          </a:p>
        </p:txBody>
      </p:sp>
      <p:sp>
        <p:nvSpPr>
          <p:cNvPr id="10" name="Text 7"/>
          <p:cNvSpPr/>
          <p:nvPr/>
        </p:nvSpPr>
        <p:spPr>
          <a:xfrm>
            <a:off x="548640" y="2606040"/>
            <a:ext cx="5943600" cy="365760"/>
          </a:xfrm>
          <a:prstGeom prst="rect">
            <a:avLst/>
          </a:prstGeom>
          <a:noFill/>
          <a:ln/>
        </p:spPr>
        <p:txBody>
          <a:bodyPr wrap="square" lIns="0" tIns="0" rIns="0" bIns="0" rtlCol="0" anchor="ctr"/>
          <a:lstStyle/>
          <a:p>
            <a:pPr indent="0" marL="0">
              <a:buNone/>
            </a:pPr>
            <a:r>
              <a:rPr lang="en-US" sz="1300" b="1" dirty="0">
                <a:solidFill>
                  <a:srgbClr val="0F2C4D"/>
                </a:solidFill>
                <a:latin typeface="Georgia" pitchFamily="34" charset="0"/>
                <a:ea typeface="Georgia" pitchFamily="34" charset="-122"/>
                <a:cs typeface="Georgia" pitchFamily="34" charset="-120"/>
              </a:rPr>
              <a:t>Flux de traitement d'un signalement</a:t>
            </a:r>
            <a:endParaRPr lang="en-US" sz="1300" dirty="0"/>
          </a:p>
        </p:txBody>
      </p:sp>
      <p:sp>
        <p:nvSpPr>
          <p:cNvPr id="11" name="Shape 8"/>
          <p:cNvSpPr/>
          <p:nvPr/>
        </p:nvSpPr>
        <p:spPr>
          <a:xfrm>
            <a:off x="548640" y="3063240"/>
            <a:ext cx="411480" cy="411480"/>
          </a:xfrm>
          <a:prstGeom prst="ellipse">
            <a:avLst/>
          </a:prstGeom>
          <a:solidFill>
            <a:srgbClr val="1A6FAB"/>
          </a:solidFill>
          <a:ln w="12700">
            <a:solidFill>
              <a:srgbClr val="1A6FAB"/>
            </a:solidFill>
            <a:prstDash val="solid"/>
          </a:ln>
        </p:spPr>
      </p:sp>
      <p:sp>
        <p:nvSpPr>
          <p:cNvPr id="12" name="Text 9"/>
          <p:cNvSpPr/>
          <p:nvPr/>
        </p:nvSpPr>
        <p:spPr>
          <a:xfrm>
            <a:off x="548640" y="30632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3" name="Text 10"/>
          <p:cNvSpPr/>
          <p:nvPr/>
        </p:nvSpPr>
        <p:spPr>
          <a:xfrm>
            <a:off x="1051560" y="3063240"/>
            <a:ext cx="534924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Citoyen soumet une photo géolocalisée</a:t>
            </a:r>
            <a:endParaRPr lang="en-US" sz="1100" dirty="0"/>
          </a:p>
        </p:txBody>
      </p:sp>
      <p:sp>
        <p:nvSpPr>
          <p:cNvPr id="14" name="Shape 11"/>
          <p:cNvSpPr/>
          <p:nvPr/>
        </p:nvSpPr>
        <p:spPr>
          <a:xfrm>
            <a:off x="548640" y="3566160"/>
            <a:ext cx="411480" cy="411480"/>
          </a:xfrm>
          <a:prstGeom prst="ellipse">
            <a:avLst/>
          </a:prstGeom>
          <a:solidFill>
            <a:srgbClr val="1A6FAB"/>
          </a:solidFill>
          <a:ln w="12700">
            <a:solidFill>
              <a:srgbClr val="1A6FAB"/>
            </a:solidFill>
            <a:prstDash val="solid"/>
          </a:ln>
        </p:spPr>
      </p:sp>
      <p:sp>
        <p:nvSpPr>
          <p:cNvPr id="15" name="Text 12"/>
          <p:cNvSpPr/>
          <p:nvPr/>
        </p:nvSpPr>
        <p:spPr>
          <a:xfrm>
            <a:off x="548640" y="35661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Text 13"/>
          <p:cNvSpPr/>
          <p:nvPr/>
        </p:nvSpPr>
        <p:spPr>
          <a:xfrm>
            <a:off x="1051560" y="3566160"/>
            <a:ext cx="534924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ConvNeXt-Tiny classe l'image (inondé / normal)</a:t>
            </a:r>
            <a:endParaRPr lang="en-US" sz="1100" dirty="0"/>
          </a:p>
        </p:txBody>
      </p:sp>
      <p:sp>
        <p:nvSpPr>
          <p:cNvPr id="17" name="Shape 14"/>
          <p:cNvSpPr/>
          <p:nvPr/>
        </p:nvSpPr>
        <p:spPr>
          <a:xfrm>
            <a:off x="548640" y="4069080"/>
            <a:ext cx="411480" cy="411480"/>
          </a:xfrm>
          <a:prstGeom prst="ellipse">
            <a:avLst/>
          </a:prstGeom>
          <a:solidFill>
            <a:srgbClr val="1A6FAB"/>
          </a:solidFill>
          <a:ln w="12700">
            <a:solidFill>
              <a:srgbClr val="1A6FAB"/>
            </a:solidFill>
            <a:prstDash val="solid"/>
          </a:ln>
        </p:spPr>
      </p:sp>
      <p:sp>
        <p:nvSpPr>
          <p:cNvPr id="18" name="Text 15"/>
          <p:cNvSpPr/>
          <p:nvPr/>
        </p:nvSpPr>
        <p:spPr>
          <a:xfrm>
            <a:off x="548640" y="40690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9" name="Text 16"/>
          <p:cNvSpPr/>
          <p:nvPr/>
        </p:nvSpPr>
        <p:spPr>
          <a:xfrm>
            <a:off x="1051560" y="4069080"/>
            <a:ext cx="534924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Random Forest évalue le risque météo de la zone</a:t>
            </a:r>
            <a:endParaRPr lang="en-US" sz="1100" dirty="0"/>
          </a:p>
        </p:txBody>
      </p:sp>
      <p:sp>
        <p:nvSpPr>
          <p:cNvPr id="20" name="Shape 17"/>
          <p:cNvSpPr/>
          <p:nvPr/>
        </p:nvSpPr>
        <p:spPr>
          <a:xfrm>
            <a:off x="548640" y="4572000"/>
            <a:ext cx="411480" cy="411480"/>
          </a:xfrm>
          <a:prstGeom prst="ellipse">
            <a:avLst/>
          </a:prstGeom>
          <a:solidFill>
            <a:srgbClr val="1A6FAB"/>
          </a:solidFill>
          <a:ln w="12700">
            <a:solidFill>
              <a:srgbClr val="1A6FAB"/>
            </a:solidFill>
            <a:prstDash val="solid"/>
          </a:ln>
        </p:spPr>
      </p:sp>
      <p:sp>
        <p:nvSpPr>
          <p:cNvPr id="21" name="Text 18"/>
          <p:cNvSpPr/>
          <p:nvPr/>
        </p:nvSpPr>
        <p:spPr>
          <a:xfrm>
            <a:off x="548640" y="45720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2" name="Text 19"/>
          <p:cNvSpPr/>
          <p:nvPr/>
        </p:nvSpPr>
        <p:spPr>
          <a:xfrm>
            <a:off x="1051560" y="4572000"/>
            <a:ext cx="534924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Moteur de règles fusionne les scores → priorité</a:t>
            </a:r>
            <a:endParaRPr lang="en-US" sz="1100" dirty="0"/>
          </a:p>
        </p:txBody>
      </p:sp>
      <p:sp>
        <p:nvSpPr>
          <p:cNvPr id="23" name="Shape 20"/>
          <p:cNvSpPr/>
          <p:nvPr/>
        </p:nvSpPr>
        <p:spPr>
          <a:xfrm>
            <a:off x="548640" y="5074920"/>
            <a:ext cx="411480" cy="411480"/>
          </a:xfrm>
          <a:prstGeom prst="ellipse">
            <a:avLst/>
          </a:prstGeom>
          <a:solidFill>
            <a:srgbClr val="1A6FAB"/>
          </a:solidFill>
          <a:ln w="12700">
            <a:solidFill>
              <a:srgbClr val="1A6FAB"/>
            </a:solidFill>
            <a:prstDash val="solid"/>
          </a:ln>
        </p:spPr>
      </p:sp>
      <p:sp>
        <p:nvSpPr>
          <p:cNvPr id="24" name="Text 21"/>
          <p:cNvSpPr/>
          <p:nvPr/>
        </p:nvSpPr>
        <p:spPr>
          <a:xfrm>
            <a:off x="548640" y="50749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25" name="Text 22"/>
          <p:cNvSpPr/>
          <p:nvPr/>
        </p:nvSpPr>
        <p:spPr>
          <a:xfrm>
            <a:off x="1051560" y="5074920"/>
            <a:ext cx="534924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Alerte qualifiée envoyée aux autorités locales</a:t>
            </a:r>
            <a:endParaRPr lang="en-US" sz="1100" dirty="0"/>
          </a:p>
        </p:txBody>
      </p:sp>
      <p:sp>
        <p:nvSpPr>
          <p:cNvPr id="26" name="Shape 23"/>
          <p:cNvSpPr/>
          <p:nvPr/>
        </p:nvSpPr>
        <p:spPr>
          <a:xfrm>
            <a:off x="548640" y="5577840"/>
            <a:ext cx="411480" cy="411480"/>
          </a:xfrm>
          <a:prstGeom prst="ellipse">
            <a:avLst/>
          </a:prstGeom>
          <a:solidFill>
            <a:srgbClr val="1A6FAB"/>
          </a:solidFill>
          <a:ln w="12700">
            <a:solidFill>
              <a:srgbClr val="1A6FAB"/>
            </a:solidFill>
            <a:prstDash val="solid"/>
          </a:ln>
        </p:spPr>
      </p:sp>
      <p:sp>
        <p:nvSpPr>
          <p:cNvPr id="27" name="Text 24"/>
          <p:cNvSpPr/>
          <p:nvPr/>
        </p:nvSpPr>
        <p:spPr>
          <a:xfrm>
            <a:off x="548640" y="55778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6</a:t>
            </a:r>
            <a:endParaRPr lang="en-US" sz="1400" dirty="0"/>
          </a:p>
        </p:txBody>
      </p:sp>
      <p:sp>
        <p:nvSpPr>
          <p:cNvPr id="28" name="Text 25"/>
          <p:cNvSpPr/>
          <p:nvPr/>
        </p:nvSpPr>
        <p:spPr>
          <a:xfrm>
            <a:off x="1051560" y="5577840"/>
            <a:ext cx="5349240" cy="4114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Validation, notification, traçabilité Firestore</a:t>
            </a:r>
            <a:endParaRPr lang="en-US" sz="1100" dirty="0"/>
          </a:p>
        </p:txBody>
      </p:sp>
      <p:sp>
        <p:nvSpPr>
          <p:cNvPr id="29" name="Shape 26"/>
          <p:cNvSpPr/>
          <p:nvPr/>
        </p:nvSpPr>
        <p:spPr>
          <a:xfrm>
            <a:off x="6766560" y="2606040"/>
            <a:ext cx="4846320" cy="16916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30" name="Shape 27"/>
          <p:cNvSpPr/>
          <p:nvPr/>
        </p:nvSpPr>
        <p:spPr>
          <a:xfrm>
            <a:off x="6766560" y="2606040"/>
            <a:ext cx="91440" cy="1691640"/>
          </a:xfrm>
          <a:prstGeom prst="rect">
            <a:avLst/>
          </a:prstGeom>
          <a:solidFill>
            <a:srgbClr val="1A6FAB"/>
          </a:solidFill>
          <a:ln w="12700">
            <a:solidFill>
              <a:srgbClr val="1A6FAB"/>
            </a:solidFill>
            <a:prstDash val="solid"/>
          </a:ln>
        </p:spPr>
      </p:sp>
      <p:sp>
        <p:nvSpPr>
          <p:cNvPr id="31" name="Text 28"/>
          <p:cNvSpPr/>
          <p:nvPr/>
        </p:nvSpPr>
        <p:spPr>
          <a:xfrm>
            <a:off x="6995160" y="2697480"/>
            <a:ext cx="4572000" cy="365760"/>
          </a:xfrm>
          <a:prstGeom prst="rect">
            <a:avLst/>
          </a:prstGeom>
          <a:noFill/>
          <a:ln/>
        </p:spPr>
        <p:txBody>
          <a:bodyPr wrap="square" lIns="0" tIns="0" rIns="0" bIns="0" rtlCol="0" anchor="ctr"/>
          <a:lstStyle/>
          <a:p>
            <a:pPr indent="0" marL="0">
              <a:buNone/>
            </a:pPr>
            <a:r>
              <a:rPr lang="en-US" sz="1300" b="1" dirty="0">
                <a:solidFill>
                  <a:srgbClr val="0F2C4D"/>
                </a:solidFill>
                <a:latin typeface="Georgia" pitchFamily="34" charset="0"/>
                <a:ea typeface="Georgia" pitchFamily="34" charset="-122"/>
                <a:cs typeface="Georgia" pitchFamily="34" charset="-120"/>
              </a:rPr>
              <a:t>Architecture technique</a:t>
            </a:r>
            <a:endParaRPr lang="en-US" sz="1300" dirty="0"/>
          </a:p>
        </p:txBody>
      </p:sp>
      <p:sp>
        <p:nvSpPr>
          <p:cNvPr id="32" name="Text 29"/>
          <p:cNvSpPr/>
          <p:nvPr/>
        </p:nvSpPr>
        <p:spPr>
          <a:xfrm>
            <a:off x="6995160" y="3063240"/>
            <a:ext cx="4572000" cy="1280160"/>
          </a:xfrm>
          <a:prstGeom prst="rect">
            <a:avLst/>
          </a:prstGeom>
          <a:noFill/>
          <a:ln/>
        </p:spPr>
        <p:txBody>
          <a:bodyPr wrap="square" lIns="0" tIns="0" rIns="0" bIns="0" rtlCol="0" anchor="ctr"/>
          <a:lstStyle/>
          <a:p>
            <a:pPr indent="0" marL="0">
              <a:spcAft>
                <a:spcPts val="400"/>
              </a:spcAft>
              <a:buNone/>
            </a:pPr>
            <a:r>
              <a:rPr lang="en-US" sz="1000" b="1" dirty="0">
                <a:solidFill>
                  <a:srgbClr val="0F2C4D"/>
                </a:solidFill>
                <a:latin typeface="Calibri" pitchFamily="34" charset="0"/>
                <a:ea typeface="Calibri" pitchFamily="34" charset="-122"/>
                <a:cs typeface="Calibri" pitchFamily="34" charset="-120"/>
              </a:rPr>
              <a:t>Frontend </a:t>
            </a:r>
            <a:pPr indent="0" marL="0">
              <a:spcAft>
                <a:spcPts val="400"/>
              </a:spcAft>
              <a:buNone/>
            </a:pPr>
            <a:r>
              <a:rPr lang="en-US" sz="1000" dirty="0">
                <a:solidFill>
                  <a:srgbClr val="475569"/>
                </a:solidFill>
                <a:latin typeface="Calibri" pitchFamily="34" charset="0"/>
                <a:ea typeface="Calibri" pitchFamily="34" charset="-122"/>
                <a:cs typeface="Calibri" pitchFamily="34" charset="-120"/>
              </a:rPr>
              <a:t>Vue.js (mobile-first) + Flutter (mobile)</a:t>
            </a:r>
            <a:endParaRPr lang="en-US" sz="1000" dirty="0"/>
          </a:p>
          <a:p>
            <a:pPr indent="0" marL="0">
              <a:spcAft>
                <a:spcPts val="400"/>
              </a:spcAft>
              <a:buNone/>
            </a:pPr>
            <a:r>
              <a:rPr lang="en-US" sz="1000" b="1" dirty="0">
                <a:solidFill>
                  <a:srgbClr val="0F2C4D"/>
                </a:solidFill>
                <a:latin typeface="Calibri" pitchFamily="34" charset="0"/>
                <a:ea typeface="Calibri" pitchFamily="34" charset="-122"/>
                <a:cs typeface="Calibri" pitchFamily="34" charset="-120"/>
              </a:rPr>
              <a:t>Backend </a:t>
            </a:r>
            <a:pPr indent="0" marL="0">
              <a:spcAft>
                <a:spcPts val="400"/>
              </a:spcAft>
              <a:buNone/>
            </a:pPr>
            <a:r>
              <a:rPr lang="en-US" sz="1000" dirty="0">
                <a:solidFill>
                  <a:srgbClr val="475569"/>
                </a:solidFill>
                <a:latin typeface="Calibri" pitchFamily="34" charset="0"/>
                <a:ea typeface="Calibri" pitchFamily="34" charset="-122"/>
                <a:cs typeface="Calibri" pitchFamily="34" charset="-120"/>
              </a:rPr>
              <a:t>Microservices Flask (Gateway · RF · ConvNeXt)</a:t>
            </a:r>
            <a:endParaRPr lang="en-US" sz="1000" dirty="0"/>
          </a:p>
          <a:p>
            <a:pPr indent="0" marL="0">
              <a:spcAft>
                <a:spcPts val="400"/>
              </a:spcAft>
              <a:buNone/>
            </a:pPr>
            <a:r>
              <a:rPr lang="en-US" sz="1000" b="1" dirty="0">
                <a:solidFill>
                  <a:srgbClr val="0F2C4D"/>
                </a:solidFill>
                <a:latin typeface="Calibri" pitchFamily="34" charset="0"/>
                <a:ea typeface="Calibri" pitchFamily="34" charset="-122"/>
                <a:cs typeface="Calibri" pitchFamily="34" charset="-120"/>
              </a:rPr>
              <a:t>Données </a:t>
            </a:r>
            <a:pPr indent="0" marL="0">
              <a:spcAft>
                <a:spcPts val="400"/>
              </a:spcAft>
              <a:buNone/>
            </a:pPr>
            <a:r>
              <a:rPr lang="en-US" sz="1000" dirty="0">
                <a:solidFill>
                  <a:srgbClr val="475569"/>
                </a:solidFill>
                <a:latin typeface="Calibri" pitchFamily="34" charset="0"/>
                <a:ea typeface="Calibri" pitchFamily="34" charset="-122"/>
                <a:cs typeface="Calibri" pitchFamily="34" charset="-120"/>
              </a:rPr>
              <a:t>Firebase Firestore temps réel + Supabase</a:t>
            </a:r>
            <a:endParaRPr lang="en-US" sz="1000" dirty="0"/>
          </a:p>
          <a:p>
            <a:pPr indent="0" marL="0">
              <a:spcAft>
                <a:spcPts val="400"/>
              </a:spcAft>
              <a:buNone/>
            </a:pPr>
            <a:r>
              <a:rPr lang="en-US" sz="1000" b="1" dirty="0">
                <a:solidFill>
                  <a:srgbClr val="0F2C4D"/>
                </a:solidFill>
                <a:latin typeface="Calibri" pitchFamily="34" charset="0"/>
                <a:ea typeface="Calibri" pitchFamily="34" charset="-122"/>
                <a:cs typeface="Calibri" pitchFamily="34" charset="-120"/>
              </a:rPr>
              <a:t>Carto </a:t>
            </a:r>
            <a:pPr indent="0" marL="0">
              <a:spcAft>
                <a:spcPts val="400"/>
              </a:spcAft>
              <a:buNone/>
            </a:pPr>
            <a:r>
              <a:rPr lang="en-US" sz="1000" dirty="0">
                <a:solidFill>
                  <a:srgbClr val="475569"/>
                </a:solidFill>
                <a:latin typeface="Calibri" pitchFamily="34" charset="0"/>
                <a:ea typeface="Calibri" pitchFamily="34" charset="-122"/>
                <a:cs typeface="Calibri" pitchFamily="34" charset="-120"/>
              </a:rPr>
              <a:t>GéoSénégal — couches zones inondables</a:t>
            </a:r>
            <a:endParaRPr lang="en-US" sz="1000" dirty="0"/>
          </a:p>
        </p:txBody>
      </p:sp>
      <p:sp>
        <p:nvSpPr>
          <p:cNvPr id="33" name="Shape 30"/>
          <p:cNvSpPr/>
          <p:nvPr/>
        </p:nvSpPr>
        <p:spPr>
          <a:xfrm>
            <a:off x="6766560" y="4434840"/>
            <a:ext cx="4846320" cy="16916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34" name="Shape 31"/>
          <p:cNvSpPr/>
          <p:nvPr/>
        </p:nvSpPr>
        <p:spPr>
          <a:xfrm>
            <a:off x="6766560" y="4434840"/>
            <a:ext cx="91440" cy="1691640"/>
          </a:xfrm>
          <a:prstGeom prst="rect">
            <a:avLst/>
          </a:prstGeom>
          <a:solidFill>
            <a:srgbClr val="F59E0B"/>
          </a:solidFill>
          <a:ln w="12700">
            <a:solidFill>
              <a:srgbClr val="F59E0B"/>
            </a:solidFill>
            <a:prstDash val="solid"/>
          </a:ln>
        </p:spPr>
      </p:sp>
      <p:sp>
        <p:nvSpPr>
          <p:cNvPr id="35" name="Text 32"/>
          <p:cNvSpPr/>
          <p:nvPr/>
        </p:nvSpPr>
        <p:spPr>
          <a:xfrm>
            <a:off x="6995160" y="4526280"/>
            <a:ext cx="4572000" cy="365760"/>
          </a:xfrm>
          <a:prstGeom prst="rect">
            <a:avLst/>
          </a:prstGeom>
          <a:noFill/>
          <a:ln/>
        </p:spPr>
        <p:txBody>
          <a:bodyPr wrap="square" lIns="0" tIns="0" rIns="0" bIns="0" rtlCol="0" anchor="ctr"/>
          <a:lstStyle/>
          <a:p>
            <a:pPr indent="0" marL="0">
              <a:buNone/>
            </a:pPr>
            <a:r>
              <a:rPr lang="en-US" sz="1300" b="1" dirty="0">
                <a:solidFill>
                  <a:srgbClr val="0F2C4D"/>
                </a:solidFill>
                <a:latin typeface="Georgia" pitchFamily="34" charset="0"/>
                <a:ea typeface="Georgia" pitchFamily="34" charset="-122"/>
                <a:cs typeface="Georgia" pitchFamily="34" charset="-120"/>
              </a:rPr>
              <a:t>Console d'administration complète</a:t>
            </a:r>
            <a:endParaRPr lang="en-US" sz="1300" dirty="0"/>
          </a:p>
        </p:txBody>
      </p:sp>
      <p:sp>
        <p:nvSpPr>
          <p:cNvPr id="36" name="Text 33"/>
          <p:cNvSpPr/>
          <p:nvPr/>
        </p:nvSpPr>
        <p:spPr>
          <a:xfrm>
            <a:off x="6995160" y="4892040"/>
            <a:ext cx="4572000" cy="1280160"/>
          </a:xfrm>
          <a:prstGeom prst="rect">
            <a:avLst/>
          </a:prstGeom>
          <a:noFill/>
          <a:ln/>
        </p:spPr>
        <p:txBody>
          <a:bodyPr wrap="square" lIns="0" tIns="0" rIns="0" bIns="0" rtlCol="0" anchor="ctr"/>
          <a:lstStyle/>
          <a:p>
            <a:pPr indent="0" marL="0">
              <a:spcAft>
                <a:spcPts val="400"/>
              </a:spcAft>
              <a:buNone/>
            </a:pPr>
            <a:r>
              <a:rPr lang="en-US" sz="1000" b="1" dirty="0">
                <a:solidFill>
                  <a:srgbClr val="0F2C4D"/>
                </a:solidFill>
                <a:latin typeface="Calibri" pitchFamily="34" charset="0"/>
                <a:ea typeface="Calibri" pitchFamily="34" charset="-122"/>
                <a:cs typeface="Calibri" pitchFamily="34" charset="-120"/>
              </a:rPr>
              <a:t>Gestion utilisateurs </a:t>
            </a:r>
            <a:pPr indent="0" marL="0">
              <a:spcAft>
                <a:spcPts val="400"/>
              </a:spcAft>
              <a:buNone/>
            </a:pPr>
            <a:r>
              <a:rPr lang="en-US" sz="1000" dirty="0">
                <a:solidFill>
                  <a:srgbClr val="475569"/>
                </a:solidFill>
                <a:latin typeface="Calibri" pitchFamily="34" charset="0"/>
                <a:ea typeface="Calibri" pitchFamily="34" charset="-122"/>
                <a:cs typeface="Calibri" pitchFamily="34" charset="-120"/>
              </a:rPr>
              <a:t>— rôles Guest · Citoyen · Autorité · Admin</a:t>
            </a:r>
            <a:endParaRPr lang="en-US" sz="1000" dirty="0"/>
          </a:p>
          <a:p>
            <a:pPr indent="0" marL="0">
              <a:spcAft>
                <a:spcPts val="400"/>
              </a:spcAft>
              <a:buNone/>
            </a:pPr>
            <a:r>
              <a:rPr lang="en-US" sz="1000" b="1" dirty="0">
                <a:solidFill>
                  <a:srgbClr val="0F2C4D"/>
                </a:solidFill>
                <a:latin typeface="Calibri" pitchFamily="34" charset="0"/>
                <a:ea typeface="Calibri" pitchFamily="34" charset="-122"/>
                <a:cs typeface="Calibri" pitchFamily="34" charset="-120"/>
              </a:rPr>
              <a:t>Prédictions </a:t>
            </a:r>
            <a:pPr indent="0" marL="0">
              <a:spcAft>
                <a:spcPts val="400"/>
              </a:spcAft>
              <a:buNone/>
            </a:pPr>
            <a:r>
              <a:rPr lang="en-US" sz="1000" dirty="0">
                <a:solidFill>
                  <a:srgbClr val="475569"/>
                </a:solidFill>
                <a:latin typeface="Calibri" pitchFamily="34" charset="0"/>
                <a:ea typeface="Calibri" pitchFamily="34" charset="-122"/>
                <a:cs typeface="Calibri" pitchFamily="34" charset="-120"/>
              </a:rPr>
              <a:t>— scoring temps réel par zone géographique</a:t>
            </a:r>
            <a:endParaRPr lang="en-US" sz="1000" dirty="0"/>
          </a:p>
          <a:p>
            <a:pPr indent="0" marL="0">
              <a:spcAft>
                <a:spcPts val="400"/>
              </a:spcAft>
              <a:buNone/>
            </a:pPr>
            <a:r>
              <a:rPr lang="en-US" sz="1000" b="1" dirty="0">
                <a:solidFill>
                  <a:srgbClr val="0F2C4D"/>
                </a:solidFill>
                <a:latin typeface="Calibri" pitchFamily="34" charset="0"/>
                <a:ea typeface="Calibri" pitchFamily="34" charset="-122"/>
                <a:cs typeface="Calibri" pitchFamily="34" charset="-120"/>
              </a:rPr>
              <a:t>Simulations </a:t>
            </a:r>
            <a:pPr indent="0" marL="0">
              <a:spcAft>
                <a:spcPts val="400"/>
              </a:spcAft>
              <a:buNone/>
            </a:pPr>
            <a:r>
              <a:rPr lang="en-US" sz="1000" dirty="0">
                <a:solidFill>
                  <a:srgbClr val="475569"/>
                </a:solidFill>
                <a:latin typeface="Calibri" pitchFamily="34" charset="0"/>
                <a:ea typeface="Calibri" pitchFamily="34" charset="-122"/>
                <a:cs typeface="Calibri" pitchFamily="34" charset="-120"/>
              </a:rPr>
              <a:t>— scénarios pluvio pour planification crise</a:t>
            </a:r>
            <a:endParaRPr lang="en-US" sz="1000" dirty="0"/>
          </a:p>
          <a:p>
            <a:pPr indent="0" marL="0">
              <a:spcAft>
                <a:spcPts val="400"/>
              </a:spcAft>
              <a:buNone/>
            </a:pPr>
            <a:r>
              <a:rPr lang="en-US" sz="1000" b="1" dirty="0">
                <a:solidFill>
                  <a:srgbClr val="0F2C4D"/>
                </a:solidFill>
                <a:latin typeface="Calibri" pitchFamily="34" charset="0"/>
                <a:ea typeface="Calibri" pitchFamily="34" charset="-122"/>
                <a:cs typeface="Calibri" pitchFamily="34" charset="-120"/>
              </a:rPr>
              <a:t>Dashboards </a:t>
            </a:r>
            <a:pPr indent="0" marL="0">
              <a:spcAft>
                <a:spcPts val="400"/>
              </a:spcAft>
              <a:buNone/>
            </a:pPr>
            <a:r>
              <a:rPr lang="en-US" sz="1000" dirty="0">
                <a:solidFill>
                  <a:srgbClr val="475569"/>
                </a:solidFill>
                <a:latin typeface="Calibri" pitchFamily="34" charset="0"/>
                <a:ea typeface="Calibri" pitchFamily="34" charset="-122"/>
                <a:cs typeface="Calibri" pitchFamily="34" charset="-120"/>
              </a:rPr>
              <a:t>— alertes actives · signalements · KPIs nationaux</a:t>
            </a:r>
            <a:endParaRPr lang="en-US" sz="1000" dirty="0"/>
          </a:p>
        </p:txBody>
      </p:sp>
      <p:sp>
        <p:nvSpPr>
          <p:cNvPr id="37" name="Shape 34"/>
          <p:cNvSpPr/>
          <p:nvPr/>
        </p:nvSpPr>
        <p:spPr>
          <a:xfrm>
            <a:off x="0" y="6537960"/>
            <a:ext cx="12161520" cy="320040"/>
          </a:xfrm>
          <a:prstGeom prst="rect">
            <a:avLst/>
          </a:prstGeom>
          <a:solidFill>
            <a:srgbClr val="0F2C4D"/>
          </a:solidFill>
          <a:ln w="12700">
            <a:solidFill>
              <a:srgbClr val="0F2C4D"/>
            </a:solidFill>
            <a:prstDash val="solid"/>
          </a:ln>
        </p:spPr>
      </p:sp>
      <p:sp>
        <p:nvSpPr>
          <p:cNvPr id="38" name="Text 35"/>
          <p:cNvSpPr/>
          <p:nvPr/>
        </p:nvSpPr>
        <p:spPr>
          <a:xfrm>
            <a:off x="457200" y="6537960"/>
            <a:ext cx="9144000" cy="320040"/>
          </a:xfrm>
          <a:prstGeom prst="rect">
            <a:avLst/>
          </a:prstGeom>
          <a:noFill/>
          <a:ln/>
        </p:spPr>
        <p:txBody>
          <a:bodyPr wrap="square" lIns="0" tIns="0" rIns="0" bIns="0" rtlCol="0" anchor="ctr"/>
          <a:lstStyle/>
          <a:p>
            <a:pPr algn="l" indent="0" marL="0">
              <a:buNone/>
            </a:pPr>
            <a:r>
              <a:rPr lang="en-US" sz="900" dirty="0">
                <a:solidFill>
                  <a:srgbClr val="F8FAFC"/>
                </a:solidFill>
                <a:latin typeface="Calibri" pitchFamily="34" charset="0"/>
                <a:ea typeface="Calibri" pitchFamily="34" charset="-122"/>
                <a:cs typeface="Calibri" pitchFamily="34" charset="-120"/>
              </a:rPr>
              <a:t>Saytu Mbeund  ·  Détection &amp; Prédiction des Inondations par IA  ·  UIDT / UTT</a:t>
            </a:r>
            <a:endParaRPr lang="en-US" sz="900" dirty="0"/>
          </a:p>
        </p:txBody>
      </p:sp>
      <p:sp>
        <p:nvSpPr>
          <p:cNvPr id="39" name="Text 36"/>
          <p:cNvSpPr/>
          <p:nvPr/>
        </p:nvSpPr>
        <p:spPr>
          <a:xfrm>
            <a:off x="11064240" y="6537960"/>
            <a:ext cx="640080" cy="320040"/>
          </a:xfrm>
          <a:prstGeom prst="rect">
            <a:avLst/>
          </a:prstGeom>
          <a:noFill/>
          <a:ln/>
        </p:spPr>
        <p:txBody>
          <a:bodyPr wrap="square" lIns="0" tIns="0" rIns="0" bIns="0" rtlCol="0" anchor="ctr"/>
          <a:lstStyle/>
          <a:p>
            <a:pPr algn="r" indent="0" marL="0">
              <a:buNone/>
            </a:pPr>
            <a:r>
              <a:rPr lang="en-US" sz="900" dirty="0">
                <a:solidFill>
                  <a:srgbClr val="F8FAFC"/>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100" b="1" spc="400" kern="0" dirty="0">
                <a:solidFill>
                  <a:srgbClr val="1A6FAB"/>
                </a:solidFill>
                <a:latin typeface="Calibri" pitchFamily="34" charset="0"/>
                <a:ea typeface="Calibri" pitchFamily="34" charset="-122"/>
                <a:cs typeface="Calibri" pitchFamily="34" charset="-120"/>
              </a:rPr>
              <a:t>DU PROTOTYPE AU SYSTÈME NATIONAL</a:t>
            </a:r>
            <a:endParaRPr lang="en-US" sz="1100" dirty="0"/>
          </a:p>
        </p:txBody>
      </p:sp>
      <p:sp>
        <p:nvSpPr>
          <p:cNvPr id="3" name="Text 1"/>
          <p:cNvSpPr/>
          <p:nvPr/>
        </p:nvSpPr>
        <p:spPr>
          <a:xfrm>
            <a:off x="548640" y="713232"/>
            <a:ext cx="11064240" cy="777240"/>
          </a:xfrm>
          <a:prstGeom prst="rect">
            <a:avLst/>
          </a:prstGeom>
          <a:noFill/>
          <a:ln/>
        </p:spPr>
        <p:txBody>
          <a:bodyPr wrap="square" lIns="0" tIns="0" rIns="0" bIns="0" rtlCol="0" anchor="ctr"/>
          <a:lstStyle/>
          <a:p>
            <a:pPr indent="0" marL="0">
              <a:buNone/>
            </a:pPr>
            <a:r>
              <a:rPr lang="en-US" sz="3000" b="1" dirty="0">
                <a:solidFill>
                  <a:srgbClr val="0F2C4D"/>
                </a:solidFill>
                <a:latin typeface="Georgia" pitchFamily="34" charset="0"/>
                <a:ea typeface="Georgia" pitchFamily="34" charset="-122"/>
                <a:cs typeface="Georgia" pitchFamily="34" charset="-120"/>
              </a:rPr>
              <a:t>L'ANACIM, partenaire stratégique pour passer à l'échelle</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A6FAB"/>
          </a:solidFill>
          <a:ln w="12700">
            <a:solidFill>
              <a:srgbClr val="1A6FAB"/>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Text 5"/>
          <p:cNvSpPr/>
          <p:nvPr/>
        </p:nvSpPr>
        <p:spPr>
          <a:xfrm>
            <a:off x="548640" y="1965960"/>
            <a:ext cx="5486400" cy="365760"/>
          </a:xfrm>
          <a:prstGeom prst="rect">
            <a:avLst/>
          </a:prstGeom>
          <a:noFill/>
          <a:ln/>
        </p:spPr>
        <p:txBody>
          <a:bodyPr wrap="square" lIns="0" tIns="0" rIns="0" bIns="0" rtlCol="0" anchor="ctr"/>
          <a:lstStyle/>
          <a:p>
            <a:pPr indent="0" marL="0">
              <a:buNone/>
            </a:pPr>
            <a:r>
              <a:rPr lang="en-US" sz="1200" b="1" spc="200" kern="0" dirty="0">
                <a:solidFill>
                  <a:srgbClr val="94A3B8"/>
                </a:solidFill>
                <a:latin typeface="Calibri" pitchFamily="34" charset="0"/>
                <a:ea typeface="Calibri" pitchFamily="34" charset="-122"/>
                <a:cs typeface="Calibri" pitchFamily="34" charset="-120"/>
              </a:rPr>
              <a:t>État actuel — prototype validé</a:t>
            </a:r>
            <a:endParaRPr lang="en-US" sz="1200" dirty="0"/>
          </a:p>
        </p:txBody>
      </p:sp>
      <p:sp>
        <p:nvSpPr>
          <p:cNvPr id="8" name="Shape 6"/>
          <p:cNvSpPr/>
          <p:nvPr/>
        </p:nvSpPr>
        <p:spPr>
          <a:xfrm>
            <a:off x="548640" y="2331720"/>
            <a:ext cx="5486400" cy="1691640"/>
          </a:xfrm>
          <a:prstGeom prst="rect">
            <a:avLst/>
          </a:prstGeom>
          <a:solidFill>
            <a:srgbClr val="FFFFFF"/>
          </a:solidFill>
          <a:ln w="12700">
            <a:solidFill>
              <a:srgbClr val="E2E8F0"/>
            </a:solidFill>
            <a:prstDash val="solid"/>
          </a:ln>
        </p:spPr>
      </p:sp>
      <p:pic>
        <p:nvPicPr>
          <p:cNvPr id="9" name="Image 0" descr="preencoded.png">    </p:cNvPr>
          <p:cNvPicPr>
            <a:picLocks noChangeAspect="1"/>
          </p:cNvPicPr>
          <p:nvPr/>
        </p:nvPicPr>
        <p:blipFill>
          <a:blip r:embed="rId1"/>
          <a:stretch>
            <a:fillRect/>
          </a:stretch>
        </p:blipFill>
        <p:spPr>
          <a:xfrm>
            <a:off x="777240" y="2560320"/>
            <a:ext cx="457200" cy="457200"/>
          </a:xfrm>
          <a:prstGeom prst="rect">
            <a:avLst/>
          </a:prstGeom>
        </p:spPr>
      </p:pic>
      <p:sp>
        <p:nvSpPr>
          <p:cNvPr id="10" name="Text 7"/>
          <p:cNvSpPr/>
          <p:nvPr/>
        </p:nvSpPr>
        <p:spPr>
          <a:xfrm>
            <a:off x="1371600" y="2468880"/>
            <a:ext cx="4572000" cy="365760"/>
          </a:xfrm>
          <a:prstGeom prst="rect">
            <a:avLst/>
          </a:prstGeom>
          <a:noFill/>
          <a:ln/>
        </p:spPr>
        <p:txBody>
          <a:bodyPr wrap="square" lIns="0" tIns="0" rIns="0" bIns="0" rtlCol="0" anchor="ctr"/>
          <a:lstStyle/>
          <a:p>
            <a:pPr indent="0" marL="0">
              <a:buNone/>
            </a:pPr>
            <a:r>
              <a:rPr lang="en-US" sz="1300" b="1" dirty="0">
                <a:solidFill>
                  <a:srgbClr val="0F2C4D"/>
                </a:solidFill>
                <a:latin typeface="Georgia" pitchFamily="34" charset="0"/>
                <a:ea typeface="Georgia" pitchFamily="34" charset="-122"/>
                <a:cs typeface="Georgia" pitchFamily="34" charset="-120"/>
              </a:rPr>
              <a:t>Source : Open-Meteo</a:t>
            </a:r>
            <a:endParaRPr lang="en-US" sz="1300" dirty="0"/>
          </a:p>
        </p:txBody>
      </p:sp>
      <p:sp>
        <p:nvSpPr>
          <p:cNvPr id="11" name="Text 8"/>
          <p:cNvSpPr/>
          <p:nvPr/>
        </p:nvSpPr>
        <p:spPr>
          <a:xfrm>
            <a:off x="777240" y="3108960"/>
            <a:ext cx="5029200" cy="86868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Réanalyses horaires internationales, données ouvertes 2005-2025, 6 zones sénégalaises. Validation scientifique : AUC = 1,000 sur 2 202 observations.</a:t>
            </a:r>
            <a:endParaRPr lang="en-US" sz="1100" dirty="0"/>
          </a:p>
        </p:txBody>
      </p:sp>
      <p:sp>
        <p:nvSpPr>
          <p:cNvPr id="12" name="Shape 9"/>
          <p:cNvSpPr/>
          <p:nvPr/>
        </p:nvSpPr>
        <p:spPr>
          <a:xfrm>
            <a:off x="5852160" y="2926080"/>
            <a:ext cx="640080" cy="640080"/>
          </a:xfrm>
          <a:prstGeom prst="ellipse">
            <a:avLst/>
          </a:prstGeom>
          <a:solidFill>
            <a:srgbClr val="F59E0B"/>
          </a:solidFill>
          <a:ln w="12700">
            <a:solidFill>
              <a:srgbClr val="F59E0B"/>
            </a:solidFill>
            <a:prstDash val="solid"/>
          </a:ln>
        </p:spPr>
      </p:sp>
      <p:pic>
        <p:nvPicPr>
          <p:cNvPr id="13" name="Image 1" descr="preencoded.png">    </p:cNvPr>
          <p:cNvPicPr>
            <a:picLocks noChangeAspect="1"/>
          </p:cNvPicPr>
          <p:nvPr/>
        </p:nvPicPr>
        <p:blipFill>
          <a:blip r:embed="rId2"/>
          <a:stretch>
            <a:fillRect/>
          </a:stretch>
        </p:blipFill>
        <p:spPr>
          <a:xfrm>
            <a:off x="5989320" y="3063240"/>
            <a:ext cx="365760" cy="365760"/>
          </a:xfrm>
          <a:prstGeom prst="rect">
            <a:avLst/>
          </a:prstGeom>
        </p:spPr>
      </p:pic>
      <p:sp>
        <p:nvSpPr>
          <p:cNvPr id="14" name="Text 10"/>
          <p:cNvSpPr/>
          <p:nvPr/>
        </p:nvSpPr>
        <p:spPr>
          <a:xfrm>
            <a:off x="6492240" y="1965960"/>
            <a:ext cx="5120640" cy="365760"/>
          </a:xfrm>
          <a:prstGeom prst="rect">
            <a:avLst/>
          </a:prstGeom>
          <a:noFill/>
          <a:ln/>
        </p:spPr>
        <p:txBody>
          <a:bodyPr wrap="square" lIns="0" tIns="0" rIns="0" bIns="0" rtlCol="0" anchor="ctr"/>
          <a:lstStyle/>
          <a:p>
            <a:pPr indent="0" marL="0">
              <a:buNone/>
            </a:pPr>
            <a:r>
              <a:rPr lang="en-US" sz="1200" b="1" spc="200" kern="0" dirty="0">
                <a:solidFill>
                  <a:srgbClr val="B45309"/>
                </a:solidFill>
                <a:latin typeface="Calibri" pitchFamily="34" charset="0"/>
                <a:ea typeface="Calibri" pitchFamily="34" charset="-122"/>
                <a:cs typeface="Calibri" pitchFamily="34" charset="-120"/>
              </a:rPr>
              <a:t>Cible — partenariat ANACIM</a:t>
            </a:r>
            <a:endParaRPr lang="en-US" sz="1200" dirty="0"/>
          </a:p>
        </p:txBody>
      </p:sp>
      <p:sp>
        <p:nvSpPr>
          <p:cNvPr id="15" name="Shape 11"/>
          <p:cNvSpPr/>
          <p:nvPr/>
        </p:nvSpPr>
        <p:spPr>
          <a:xfrm>
            <a:off x="6492240" y="2331720"/>
            <a:ext cx="5120640" cy="1691640"/>
          </a:xfrm>
          <a:prstGeom prst="rect">
            <a:avLst/>
          </a:prstGeom>
          <a:solidFill>
            <a:srgbClr val="0F2C4D"/>
          </a:solidFill>
          <a:ln w="12700">
            <a:solidFill>
              <a:srgbClr val="0F2C4D"/>
            </a:solidFill>
            <a:prstDash val="solid"/>
          </a:ln>
          <a:effectLst>
            <a:outerShdw sx="100000" sy="100000" kx="0" ky="0" algn="bl" rotWithShape="0" blurRad="101600" dist="25400" dir="5400000">
              <a:srgbClr val="000000">
                <a:alpha val="10000"/>
              </a:srgbClr>
            </a:outerShdw>
          </a:effectLst>
        </p:spPr>
      </p:sp>
      <p:sp>
        <p:nvSpPr>
          <p:cNvPr id="16" name="Shape 12"/>
          <p:cNvSpPr/>
          <p:nvPr/>
        </p:nvSpPr>
        <p:spPr>
          <a:xfrm>
            <a:off x="6492240" y="2331720"/>
            <a:ext cx="5120640" cy="91440"/>
          </a:xfrm>
          <a:prstGeom prst="rect">
            <a:avLst/>
          </a:prstGeom>
          <a:solidFill>
            <a:srgbClr val="F59E0B"/>
          </a:solidFill>
          <a:ln w="12700">
            <a:solidFill>
              <a:srgbClr val="F59E0B"/>
            </a:solidFill>
            <a:prstDash val="solid"/>
          </a:ln>
        </p:spPr>
      </p:sp>
      <p:pic>
        <p:nvPicPr>
          <p:cNvPr id="17" name="Image 2" descr="preencoded.png">    </p:cNvPr>
          <p:cNvPicPr>
            <a:picLocks noChangeAspect="1"/>
          </p:cNvPicPr>
          <p:nvPr/>
        </p:nvPicPr>
        <p:blipFill>
          <a:blip r:embed="rId3"/>
          <a:stretch>
            <a:fillRect/>
          </a:stretch>
        </p:blipFill>
        <p:spPr>
          <a:xfrm>
            <a:off x="6720840" y="2606040"/>
            <a:ext cx="457200" cy="457200"/>
          </a:xfrm>
          <a:prstGeom prst="rect">
            <a:avLst/>
          </a:prstGeom>
        </p:spPr>
      </p:pic>
      <p:sp>
        <p:nvSpPr>
          <p:cNvPr id="18" name="Text 13"/>
          <p:cNvSpPr/>
          <p:nvPr/>
        </p:nvSpPr>
        <p:spPr>
          <a:xfrm>
            <a:off x="7315200" y="2514600"/>
            <a:ext cx="4206240" cy="36576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Données ANACIM en temps réel</a:t>
            </a:r>
            <a:endParaRPr lang="en-US" sz="1300" dirty="0"/>
          </a:p>
        </p:txBody>
      </p:sp>
      <p:sp>
        <p:nvSpPr>
          <p:cNvPr id="19" name="Text 14"/>
          <p:cNvSpPr/>
          <p:nvPr/>
        </p:nvSpPr>
        <p:spPr>
          <a:xfrm>
            <a:off x="6720840" y="3108960"/>
            <a:ext cx="4617720" cy="868680"/>
          </a:xfrm>
          <a:prstGeom prst="rect">
            <a:avLst/>
          </a:prstGeom>
          <a:noFill/>
          <a:ln/>
        </p:spPr>
        <p:txBody>
          <a:bodyPr wrap="square" lIns="0" tIns="0" rIns="0" bIns="0" rtlCol="0" anchor="ctr"/>
          <a:lstStyle/>
          <a:p>
            <a:pPr indent="0" marL="0">
              <a:buNone/>
            </a:pPr>
            <a:r>
              <a:rPr lang="en-US" sz="1100" dirty="0">
                <a:solidFill>
                  <a:srgbClr val="60A5FA"/>
                </a:solidFill>
                <a:latin typeface="Calibri" pitchFamily="34" charset="0"/>
                <a:ea typeface="Calibri" pitchFamily="34" charset="-122"/>
                <a:cs typeface="Calibri" pitchFamily="34" charset="-120"/>
              </a:rPr>
              <a:t>Réseau pluviométrique national, prévisions opérationnelles, observations historiques géolocalisées. Précision locale fortement accrue.</a:t>
            </a:r>
            <a:endParaRPr lang="en-US" sz="1100" dirty="0"/>
          </a:p>
        </p:txBody>
      </p:sp>
      <p:sp>
        <p:nvSpPr>
          <p:cNvPr id="20" name="Text 15"/>
          <p:cNvSpPr/>
          <p:nvPr/>
        </p:nvSpPr>
        <p:spPr>
          <a:xfrm>
            <a:off x="548640" y="4251960"/>
            <a:ext cx="11064240" cy="365760"/>
          </a:xfrm>
          <a:prstGeom prst="rect">
            <a:avLst/>
          </a:prstGeom>
          <a:noFill/>
          <a:ln/>
        </p:spPr>
        <p:txBody>
          <a:bodyPr wrap="square" lIns="0" tIns="0" rIns="0" bIns="0" rtlCol="0" anchor="ctr"/>
          <a:lstStyle/>
          <a:p>
            <a:pPr algn="ctr" indent="0" marL="0">
              <a:buNone/>
            </a:pPr>
            <a:r>
              <a:rPr lang="en-US" sz="1100" b="1" spc="300" kern="0" dirty="0">
                <a:solidFill>
                  <a:srgbClr val="1A6FAB"/>
                </a:solidFill>
                <a:latin typeface="Calibri" pitchFamily="34" charset="0"/>
                <a:ea typeface="Calibri" pitchFamily="34" charset="-122"/>
                <a:cs typeface="Calibri" pitchFamily="34" charset="-120"/>
              </a:rPr>
              <a:t>CE QUE LE PARTENARIAT ANACIM APPORTE</a:t>
            </a:r>
            <a:endParaRPr lang="en-US" sz="1100" dirty="0"/>
          </a:p>
        </p:txBody>
      </p:sp>
      <p:sp>
        <p:nvSpPr>
          <p:cNvPr id="21" name="Shape 16"/>
          <p:cNvSpPr/>
          <p:nvPr/>
        </p:nvSpPr>
        <p:spPr>
          <a:xfrm>
            <a:off x="548640" y="4709160"/>
            <a:ext cx="3611880" cy="16916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22" name="Shape 17"/>
          <p:cNvSpPr/>
          <p:nvPr/>
        </p:nvSpPr>
        <p:spPr>
          <a:xfrm>
            <a:off x="548640" y="4709160"/>
            <a:ext cx="3611880" cy="73152"/>
          </a:xfrm>
          <a:prstGeom prst="rect">
            <a:avLst/>
          </a:prstGeom>
          <a:solidFill>
            <a:srgbClr val="F59E0B"/>
          </a:solidFill>
          <a:ln w="12700">
            <a:solidFill>
              <a:srgbClr val="F59E0B"/>
            </a:solidFill>
            <a:prstDash val="solid"/>
          </a:ln>
        </p:spPr>
      </p:sp>
      <p:sp>
        <p:nvSpPr>
          <p:cNvPr id="23" name="Shape 18"/>
          <p:cNvSpPr/>
          <p:nvPr/>
        </p:nvSpPr>
        <p:spPr>
          <a:xfrm>
            <a:off x="2061972" y="4937760"/>
            <a:ext cx="594360" cy="594360"/>
          </a:xfrm>
          <a:prstGeom prst="ellipse">
            <a:avLst/>
          </a:prstGeom>
          <a:solidFill>
            <a:srgbClr val="FEF3C7"/>
          </a:solidFill>
          <a:ln w="12700">
            <a:solidFill>
              <a:srgbClr val="FEF3C7"/>
            </a:solidFill>
            <a:prstDash val="solid"/>
          </a:ln>
        </p:spPr>
      </p:sp>
      <p:pic>
        <p:nvPicPr>
          <p:cNvPr id="24" name="Image 3" descr="preencoded.png">    </p:cNvPr>
          <p:cNvPicPr>
            <a:picLocks noChangeAspect="1"/>
          </p:cNvPicPr>
          <p:nvPr/>
        </p:nvPicPr>
        <p:blipFill>
          <a:blip r:embed="rId4"/>
          <a:stretch>
            <a:fillRect/>
          </a:stretch>
        </p:blipFill>
        <p:spPr>
          <a:xfrm>
            <a:off x="2153412" y="5029200"/>
            <a:ext cx="411480" cy="411480"/>
          </a:xfrm>
          <a:prstGeom prst="rect">
            <a:avLst/>
          </a:prstGeom>
        </p:spPr>
      </p:pic>
      <p:sp>
        <p:nvSpPr>
          <p:cNvPr id="25" name="Text 19"/>
          <p:cNvSpPr/>
          <p:nvPr/>
        </p:nvSpPr>
        <p:spPr>
          <a:xfrm>
            <a:off x="731520" y="5623560"/>
            <a:ext cx="3246120" cy="320040"/>
          </a:xfrm>
          <a:prstGeom prst="rect">
            <a:avLst/>
          </a:prstGeom>
          <a:noFill/>
          <a:ln/>
        </p:spPr>
        <p:txBody>
          <a:bodyPr wrap="square" lIns="0" tIns="0" rIns="0" bIns="0" rtlCol="0" anchor="ctr"/>
          <a:lstStyle/>
          <a:p>
            <a:pPr algn="ctr" indent="0" marL="0">
              <a:buNone/>
            </a:pPr>
            <a:r>
              <a:rPr lang="en-US" sz="1300" b="1" dirty="0">
                <a:solidFill>
                  <a:srgbClr val="0F2C4D"/>
                </a:solidFill>
                <a:latin typeface="Georgia" pitchFamily="34" charset="0"/>
                <a:ea typeface="Georgia" pitchFamily="34" charset="-122"/>
                <a:cs typeface="Georgia" pitchFamily="34" charset="-120"/>
              </a:rPr>
              <a:t>Calibration nationale</a:t>
            </a:r>
            <a:endParaRPr lang="en-US" sz="1300" dirty="0"/>
          </a:p>
        </p:txBody>
      </p:sp>
      <p:sp>
        <p:nvSpPr>
          <p:cNvPr id="26" name="Text 20"/>
          <p:cNvSpPr/>
          <p:nvPr/>
        </p:nvSpPr>
        <p:spPr>
          <a:xfrm>
            <a:off x="777240" y="5943600"/>
            <a:ext cx="3154680" cy="45720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Recalibrer les seuils-proxy pluvio sur observations réelles ANACIM (vs proxy P95/P97 actuel)</a:t>
            </a:r>
            <a:endParaRPr lang="en-US" sz="1000" dirty="0"/>
          </a:p>
        </p:txBody>
      </p:sp>
      <p:sp>
        <p:nvSpPr>
          <p:cNvPr id="27" name="Shape 21"/>
          <p:cNvSpPr/>
          <p:nvPr/>
        </p:nvSpPr>
        <p:spPr>
          <a:xfrm>
            <a:off x="4297680" y="4709160"/>
            <a:ext cx="3611880" cy="16916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28" name="Shape 22"/>
          <p:cNvSpPr/>
          <p:nvPr/>
        </p:nvSpPr>
        <p:spPr>
          <a:xfrm>
            <a:off x="4297680" y="4709160"/>
            <a:ext cx="3611880" cy="73152"/>
          </a:xfrm>
          <a:prstGeom prst="rect">
            <a:avLst/>
          </a:prstGeom>
          <a:solidFill>
            <a:srgbClr val="F59E0B"/>
          </a:solidFill>
          <a:ln w="12700">
            <a:solidFill>
              <a:srgbClr val="F59E0B"/>
            </a:solidFill>
            <a:prstDash val="solid"/>
          </a:ln>
        </p:spPr>
      </p:sp>
      <p:sp>
        <p:nvSpPr>
          <p:cNvPr id="29" name="Shape 23"/>
          <p:cNvSpPr/>
          <p:nvPr/>
        </p:nvSpPr>
        <p:spPr>
          <a:xfrm>
            <a:off x="5811012" y="4937760"/>
            <a:ext cx="594360" cy="594360"/>
          </a:xfrm>
          <a:prstGeom prst="ellipse">
            <a:avLst/>
          </a:prstGeom>
          <a:solidFill>
            <a:srgbClr val="FEF3C7"/>
          </a:solidFill>
          <a:ln w="12700">
            <a:solidFill>
              <a:srgbClr val="FEF3C7"/>
            </a:solidFill>
            <a:prstDash val="solid"/>
          </a:ln>
        </p:spPr>
      </p:sp>
      <p:pic>
        <p:nvPicPr>
          <p:cNvPr id="30" name="Image 4" descr="preencoded.png">    </p:cNvPr>
          <p:cNvPicPr>
            <a:picLocks noChangeAspect="1"/>
          </p:cNvPicPr>
          <p:nvPr/>
        </p:nvPicPr>
        <p:blipFill>
          <a:blip r:embed="rId5"/>
          <a:stretch>
            <a:fillRect/>
          </a:stretch>
        </p:blipFill>
        <p:spPr>
          <a:xfrm>
            <a:off x="5902452" y="5029200"/>
            <a:ext cx="411480" cy="411480"/>
          </a:xfrm>
          <a:prstGeom prst="rect">
            <a:avLst/>
          </a:prstGeom>
        </p:spPr>
      </p:pic>
      <p:sp>
        <p:nvSpPr>
          <p:cNvPr id="31" name="Text 24"/>
          <p:cNvSpPr/>
          <p:nvPr/>
        </p:nvSpPr>
        <p:spPr>
          <a:xfrm>
            <a:off x="4480560" y="5623560"/>
            <a:ext cx="3246120" cy="320040"/>
          </a:xfrm>
          <a:prstGeom prst="rect">
            <a:avLst/>
          </a:prstGeom>
          <a:noFill/>
          <a:ln/>
        </p:spPr>
        <p:txBody>
          <a:bodyPr wrap="square" lIns="0" tIns="0" rIns="0" bIns="0" rtlCol="0" anchor="ctr"/>
          <a:lstStyle/>
          <a:p>
            <a:pPr algn="ctr" indent="0" marL="0">
              <a:buNone/>
            </a:pPr>
            <a:r>
              <a:rPr lang="en-US" sz="1300" b="1" dirty="0">
                <a:solidFill>
                  <a:srgbClr val="0F2C4D"/>
                </a:solidFill>
                <a:latin typeface="Georgia" pitchFamily="34" charset="0"/>
                <a:ea typeface="Georgia" pitchFamily="34" charset="-122"/>
                <a:cs typeface="Georgia" pitchFamily="34" charset="-120"/>
              </a:rPr>
              <a:t>Alerte 24-48h</a:t>
            </a:r>
            <a:endParaRPr lang="en-US" sz="1300" dirty="0"/>
          </a:p>
        </p:txBody>
      </p:sp>
      <p:sp>
        <p:nvSpPr>
          <p:cNvPr id="32" name="Text 25"/>
          <p:cNvSpPr/>
          <p:nvPr/>
        </p:nvSpPr>
        <p:spPr>
          <a:xfrm>
            <a:off x="4526280" y="5943600"/>
            <a:ext cx="3154680" cy="45720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Coupler les prévisions opérationnelles ANACIM au modèle RF pour des alertes préventives</a:t>
            </a:r>
            <a:endParaRPr lang="en-US" sz="1000" dirty="0"/>
          </a:p>
        </p:txBody>
      </p:sp>
      <p:sp>
        <p:nvSpPr>
          <p:cNvPr id="33" name="Shape 26"/>
          <p:cNvSpPr/>
          <p:nvPr/>
        </p:nvSpPr>
        <p:spPr>
          <a:xfrm>
            <a:off x="8046720" y="4709160"/>
            <a:ext cx="3611880" cy="169164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34" name="Shape 27"/>
          <p:cNvSpPr/>
          <p:nvPr/>
        </p:nvSpPr>
        <p:spPr>
          <a:xfrm>
            <a:off x="8046720" y="4709160"/>
            <a:ext cx="3611880" cy="73152"/>
          </a:xfrm>
          <a:prstGeom prst="rect">
            <a:avLst/>
          </a:prstGeom>
          <a:solidFill>
            <a:srgbClr val="F59E0B"/>
          </a:solidFill>
          <a:ln w="12700">
            <a:solidFill>
              <a:srgbClr val="F59E0B"/>
            </a:solidFill>
            <a:prstDash val="solid"/>
          </a:ln>
        </p:spPr>
      </p:sp>
      <p:sp>
        <p:nvSpPr>
          <p:cNvPr id="35" name="Shape 28"/>
          <p:cNvSpPr/>
          <p:nvPr/>
        </p:nvSpPr>
        <p:spPr>
          <a:xfrm>
            <a:off x="9560052" y="4937760"/>
            <a:ext cx="594360" cy="594360"/>
          </a:xfrm>
          <a:prstGeom prst="ellipse">
            <a:avLst/>
          </a:prstGeom>
          <a:solidFill>
            <a:srgbClr val="FEF3C7"/>
          </a:solidFill>
          <a:ln w="12700">
            <a:solidFill>
              <a:srgbClr val="FEF3C7"/>
            </a:solidFill>
            <a:prstDash val="solid"/>
          </a:ln>
        </p:spPr>
      </p:sp>
      <p:pic>
        <p:nvPicPr>
          <p:cNvPr id="36" name="Image 5" descr="preencoded.png">    </p:cNvPr>
          <p:cNvPicPr>
            <a:picLocks noChangeAspect="1"/>
          </p:cNvPicPr>
          <p:nvPr/>
        </p:nvPicPr>
        <p:blipFill>
          <a:blip r:embed="rId6"/>
          <a:stretch>
            <a:fillRect/>
          </a:stretch>
        </p:blipFill>
        <p:spPr>
          <a:xfrm>
            <a:off x="9651492" y="5029200"/>
            <a:ext cx="411480" cy="411480"/>
          </a:xfrm>
          <a:prstGeom prst="rect">
            <a:avLst/>
          </a:prstGeom>
        </p:spPr>
      </p:pic>
      <p:sp>
        <p:nvSpPr>
          <p:cNvPr id="37" name="Text 29"/>
          <p:cNvSpPr/>
          <p:nvPr/>
        </p:nvSpPr>
        <p:spPr>
          <a:xfrm>
            <a:off x="8229600" y="5623560"/>
            <a:ext cx="3246120" cy="320040"/>
          </a:xfrm>
          <a:prstGeom prst="rect">
            <a:avLst/>
          </a:prstGeom>
          <a:noFill/>
          <a:ln/>
        </p:spPr>
        <p:txBody>
          <a:bodyPr wrap="square" lIns="0" tIns="0" rIns="0" bIns="0" rtlCol="0" anchor="ctr"/>
          <a:lstStyle/>
          <a:p>
            <a:pPr algn="ctr" indent="0" marL="0">
              <a:buNone/>
            </a:pPr>
            <a:r>
              <a:rPr lang="en-US" sz="1300" b="1" dirty="0">
                <a:solidFill>
                  <a:srgbClr val="0F2C4D"/>
                </a:solidFill>
                <a:latin typeface="Georgia" pitchFamily="34" charset="0"/>
                <a:ea typeface="Georgia" pitchFamily="34" charset="-122"/>
                <a:cs typeface="Georgia" pitchFamily="34" charset="-120"/>
              </a:rPr>
              <a:t>Validation institutionnelle</a:t>
            </a:r>
            <a:endParaRPr lang="en-US" sz="1300" dirty="0"/>
          </a:p>
        </p:txBody>
      </p:sp>
      <p:sp>
        <p:nvSpPr>
          <p:cNvPr id="38" name="Text 30"/>
          <p:cNvSpPr/>
          <p:nvPr/>
        </p:nvSpPr>
        <p:spPr>
          <a:xfrm>
            <a:off x="8275320" y="5943600"/>
            <a:ext cx="3154680" cy="457200"/>
          </a:xfrm>
          <a:prstGeom prst="rect">
            <a:avLst/>
          </a:prstGeom>
          <a:noFill/>
          <a:ln/>
        </p:spPr>
        <p:txBody>
          <a:bodyPr wrap="square" lIns="0" tIns="0" rIns="0" bIns="0" rtlCol="0" anchor="ctr"/>
          <a:lstStyle/>
          <a:p>
            <a:pPr algn="ctr" indent="0" marL="0">
              <a:buNone/>
            </a:pPr>
            <a:r>
              <a:rPr lang="en-US" sz="1000" dirty="0">
                <a:solidFill>
                  <a:srgbClr val="475569"/>
                </a:solidFill>
                <a:latin typeface="Calibri" pitchFamily="34" charset="0"/>
                <a:ea typeface="Calibri" pitchFamily="34" charset="-122"/>
                <a:cs typeface="Calibri" pitchFamily="34" charset="-120"/>
              </a:rPr>
              <a:t>Légitimer le système auprès des autorités et garantir la qualité des données diffusées</a:t>
            </a:r>
            <a:endParaRPr lang="en-US" sz="1000" dirty="0"/>
          </a:p>
        </p:txBody>
      </p:sp>
      <p:sp>
        <p:nvSpPr>
          <p:cNvPr id="39" name="Shape 31"/>
          <p:cNvSpPr/>
          <p:nvPr/>
        </p:nvSpPr>
        <p:spPr>
          <a:xfrm>
            <a:off x="0" y="6537960"/>
            <a:ext cx="12161520" cy="320040"/>
          </a:xfrm>
          <a:prstGeom prst="rect">
            <a:avLst/>
          </a:prstGeom>
          <a:solidFill>
            <a:srgbClr val="0F2C4D"/>
          </a:solidFill>
          <a:ln w="12700">
            <a:solidFill>
              <a:srgbClr val="0F2C4D"/>
            </a:solidFill>
            <a:prstDash val="solid"/>
          </a:ln>
        </p:spPr>
      </p:sp>
      <p:sp>
        <p:nvSpPr>
          <p:cNvPr id="40" name="Text 32"/>
          <p:cNvSpPr/>
          <p:nvPr/>
        </p:nvSpPr>
        <p:spPr>
          <a:xfrm>
            <a:off x="457200" y="6537960"/>
            <a:ext cx="9144000" cy="320040"/>
          </a:xfrm>
          <a:prstGeom prst="rect">
            <a:avLst/>
          </a:prstGeom>
          <a:noFill/>
          <a:ln/>
        </p:spPr>
        <p:txBody>
          <a:bodyPr wrap="square" lIns="0" tIns="0" rIns="0" bIns="0" rtlCol="0" anchor="ctr"/>
          <a:lstStyle/>
          <a:p>
            <a:pPr algn="l" indent="0" marL="0">
              <a:buNone/>
            </a:pPr>
            <a:r>
              <a:rPr lang="en-US" sz="900" dirty="0">
                <a:solidFill>
                  <a:srgbClr val="F8FAFC"/>
                </a:solidFill>
                <a:latin typeface="Calibri" pitchFamily="34" charset="0"/>
                <a:ea typeface="Calibri" pitchFamily="34" charset="-122"/>
                <a:cs typeface="Calibri" pitchFamily="34" charset="-120"/>
              </a:rPr>
              <a:t>Saytu Mbeund  ·  Détection &amp; Prédiction des Inondations par IA  ·  UIDT / UTT</a:t>
            </a:r>
            <a:endParaRPr lang="en-US" sz="900" dirty="0"/>
          </a:p>
        </p:txBody>
      </p:sp>
      <p:sp>
        <p:nvSpPr>
          <p:cNvPr id="41" name="Text 33"/>
          <p:cNvSpPr/>
          <p:nvPr/>
        </p:nvSpPr>
        <p:spPr>
          <a:xfrm>
            <a:off x="11064240" y="6537960"/>
            <a:ext cx="640080" cy="320040"/>
          </a:xfrm>
          <a:prstGeom prst="rect">
            <a:avLst/>
          </a:prstGeom>
          <a:noFill/>
          <a:ln/>
        </p:spPr>
        <p:txBody>
          <a:bodyPr wrap="square" lIns="0" tIns="0" rIns="0" bIns="0" rtlCol="0" anchor="ctr"/>
          <a:lstStyle/>
          <a:p>
            <a:pPr algn="r" indent="0" marL="0">
              <a:buNone/>
            </a:pPr>
            <a:r>
              <a:rPr lang="en-US" sz="900" dirty="0">
                <a:solidFill>
                  <a:srgbClr val="F8FAFC"/>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100" b="1" spc="400" kern="0" dirty="0">
                <a:solidFill>
                  <a:srgbClr val="1A6FAB"/>
                </a:solidFill>
                <a:latin typeface="Calibri" pitchFamily="34" charset="0"/>
                <a:ea typeface="Calibri" pitchFamily="34" charset="-122"/>
                <a:cs typeface="Calibri" pitchFamily="34" charset="-120"/>
              </a:rPr>
              <a:t>CRÉDIBILITÉ DU PROJET</a:t>
            </a:r>
            <a:endParaRPr lang="en-US" sz="1100" dirty="0"/>
          </a:p>
        </p:txBody>
      </p:sp>
      <p:sp>
        <p:nvSpPr>
          <p:cNvPr id="3" name="Text 1"/>
          <p:cNvSpPr/>
          <p:nvPr/>
        </p:nvSpPr>
        <p:spPr>
          <a:xfrm>
            <a:off x="548640" y="713232"/>
            <a:ext cx="11064240" cy="777240"/>
          </a:xfrm>
          <a:prstGeom prst="rect">
            <a:avLst/>
          </a:prstGeom>
          <a:noFill/>
          <a:ln/>
        </p:spPr>
        <p:txBody>
          <a:bodyPr wrap="square" lIns="0" tIns="0" rIns="0" bIns="0" rtlCol="0" anchor="ctr"/>
          <a:lstStyle/>
          <a:p>
            <a:pPr indent="0" marL="0">
              <a:buNone/>
            </a:pPr>
            <a:r>
              <a:rPr lang="en-US" sz="3000" b="1" dirty="0">
                <a:solidFill>
                  <a:srgbClr val="0F2C4D"/>
                </a:solidFill>
                <a:latin typeface="Georgia" pitchFamily="34" charset="0"/>
                <a:ea typeface="Georgia" pitchFamily="34" charset="-122"/>
                <a:cs typeface="Georgia" pitchFamily="34" charset="-120"/>
              </a:rPr>
              <a:t>Un travail validé scientifiquement et porté à l'international</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A6FAB"/>
          </a:solidFill>
          <a:ln w="12700">
            <a:solidFill>
              <a:srgbClr val="1A6FAB"/>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548640" y="1965960"/>
            <a:ext cx="3611880" cy="18288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8" name="Shape 6"/>
          <p:cNvSpPr/>
          <p:nvPr/>
        </p:nvSpPr>
        <p:spPr>
          <a:xfrm>
            <a:off x="548640" y="1965960"/>
            <a:ext cx="3611880" cy="73152"/>
          </a:xfrm>
          <a:prstGeom prst="rect">
            <a:avLst/>
          </a:prstGeom>
          <a:solidFill>
            <a:srgbClr val="F59E0B"/>
          </a:solidFill>
          <a:ln w="12700">
            <a:solidFill>
              <a:srgbClr val="F59E0B"/>
            </a:solidFill>
            <a:prstDash val="solid"/>
          </a:ln>
        </p:spPr>
      </p:sp>
      <p:sp>
        <p:nvSpPr>
          <p:cNvPr id="9" name="Shape 7"/>
          <p:cNvSpPr/>
          <p:nvPr/>
        </p:nvSpPr>
        <p:spPr>
          <a:xfrm>
            <a:off x="822960" y="2331720"/>
            <a:ext cx="777240" cy="777240"/>
          </a:xfrm>
          <a:prstGeom prst="ellipse">
            <a:avLst/>
          </a:prstGeom>
          <a:solidFill>
            <a:srgbClr val="FEF3C7"/>
          </a:solidFill>
          <a:ln w="12700">
            <a:solidFill>
              <a:srgbClr val="FEF3C7"/>
            </a:solidFill>
            <a:prstDash val="solid"/>
          </a:ln>
        </p:spPr>
      </p:sp>
      <p:pic>
        <p:nvPicPr>
          <p:cNvPr id="10" name="Image 0" descr="preencoded.png">    </p:cNvPr>
          <p:cNvPicPr>
            <a:picLocks noChangeAspect="1"/>
          </p:cNvPicPr>
          <p:nvPr/>
        </p:nvPicPr>
        <p:blipFill>
          <a:blip r:embed="rId1"/>
          <a:stretch>
            <a:fillRect/>
          </a:stretch>
        </p:blipFill>
        <p:spPr>
          <a:xfrm>
            <a:off x="960120" y="2468880"/>
            <a:ext cx="502920" cy="502920"/>
          </a:xfrm>
          <a:prstGeom prst="rect">
            <a:avLst/>
          </a:prstGeom>
        </p:spPr>
      </p:pic>
      <p:sp>
        <p:nvSpPr>
          <p:cNvPr id="11" name="Text 8"/>
          <p:cNvSpPr/>
          <p:nvPr/>
        </p:nvSpPr>
        <p:spPr>
          <a:xfrm>
            <a:off x="1737360" y="2331720"/>
            <a:ext cx="2286000" cy="457200"/>
          </a:xfrm>
          <a:prstGeom prst="rect">
            <a:avLst/>
          </a:prstGeom>
          <a:noFill/>
          <a:ln/>
        </p:spPr>
        <p:txBody>
          <a:bodyPr wrap="square" lIns="0" tIns="0" rIns="0" bIns="0" rtlCol="0" anchor="ctr"/>
          <a:lstStyle/>
          <a:p>
            <a:pPr indent="0" marL="0">
              <a:buNone/>
            </a:pPr>
            <a:r>
              <a:rPr lang="en-US" sz="1300" b="1" dirty="0">
                <a:solidFill>
                  <a:srgbClr val="0F2C4D"/>
                </a:solidFill>
                <a:latin typeface="Georgia" pitchFamily="34" charset="0"/>
                <a:ea typeface="Georgia" pitchFamily="34" charset="-122"/>
                <a:cs typeface="Georgia" pitchFamily="34" charset="-120"/>
              </a:rPr>
              <a:t>Mémoire de Master défendu</a:t>
            </a:r>
            <a:endParaRPr lang="en-US" sz="1300" dirty="0"/>
          </a:p>
        </p:txBody>
      </p:sp>
      <p:sp>
        <p:nvSpPr>
          <p:cNvPr id="12" name="Text 9"/>
          <p:cNvSpPr/>
          <p:nvPr/>
        </p:nvSpPr>
        <p:spPr>
          <a:xfrm>
            <a:off x="1737360" y="2834640"/>
            <a:ext cx="2286000" cy="86868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16 février 2026 — UIDT (Thiès) &amp; UTT (Troyes) — option IA &amp; Smart-Tech</a:t>
            </a:r>
            <a:endParaRPr lang="en-US" sz="1000" dirty="0"/>
          </a:p>
        </p:txBody>
      </p:sp>
      <p:sp>
        <p:nvSpPr>
          <p:cNvPr id="13" name="Shape 10"/>
          <p:cNvSpPr/>
          <p:nvPr/>
        </p:nvSpPr>
        <p:spPr>
          <a:xfrm>
            <a:off x="4297680" y="1965960"/>
            <a:ext cx="3611880" cy="18288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14" name="Shape 11"/>
          <p:cNvSpPr/>
          <p:nvPr/>
        </p:nvSpPr>
        <p:spPr>
          <a:xfrm>
            <a:off x="4297680" y="1965960"/>
            <a:ext cx="3611880" cy="73152"/>
          </a:xfrm>
          <a:prstGeom prst="rect">
            <a:avLst/>
          </a:prstGeom>
          <a:solidFill>
            <a:srgbClr val="F59E0B"/>
          </a:solidFill>
          <a:ln w="12700">
            <a:solidFill>
              <a:srgbClr val="F59E0B"/>
            </a:solidFill>
            <a:prstDash val="solid"/>
          </a:ln>
        </p:spPr>
      </p:sp>
      <p:sp>
        <p:nvSpPr>
          <p:cNvPr id="15" name="Shape 12"/>
          <p:cNvSpPr/>
          <p:nvPr/>
        </p:nvSpPr>
        <p:spPr>
          <a:xfrm>
            <a:off x="4572000" y="2331720"/>
            <a:ext cx="777240" cy="777240"/>
          </a:xfrm>
          <a:prstGeom prst="ellipse">
            <a:avLst/>
          </a:prstGeom>
          <a:solidFill>
            <a:srgbClr val="FEF3C7"/>
          </a:solidFill>
          <a:ln w="12700">
            <a:solidFill>
              <a:srgbClr val="FEF3C7"/>
            </a:solidFill>
            <a:prstDash val="solid"/>
          </a:ln>
        </p:spPr>
      </p:sp>
      <p:pic>
        <p:nvPicPr>
          <p:cNvPr id="16" name="Image 1" descr="preencoded.png">    </p:cNvPr>
          <p:cNvPicPr>
            <a:picLocks noChangeAspect="1"/>
          </p:cNvPicPr>
          <p:nvPr/>
        </p:nvPicPr>
        <p:blipFill>
          <a:blip r:embed="rId2"/>
          <a:stretch>
            <a:fillRect/>
          </a:stretch>
        </p:blipFill>
        <p:spPr>
          <a:xfrm>
            <a:off x="4709160" y="2468880"/>
            <a:ext cx="502920" cy="502920"/>
          </a:xfrm>
          <a:prstGeom prst="rect">
            <a:avLst/>
          </a:prstGeom>
        </p:spPr>
      </p:pic>
      <p:sp>
        <p:nvSpPr>
          <p:cNvPr id="17" name="Text 13"/>
          <p:cNvSpPr/>
          <p:nvPr/>
        </p:nvSpPr>
        <p:spPr>
          <a:xfrm>
            <a:off x="5486400" y="2331720"/>
            <a:ext cx="2286000" cy="457200"/>
          </a:xfrm>
          <a:prstGeom prst="rect">
            <a:avLst/>
          </a:prstGeom>
          <a:noFill/>
          <a:ln/>
        </p:spPr>
        <p:txBody>
          <a:bodyPr wrap="square" lIns="0" tIns="0" rIns="0" bIns="0" rtlCol="0" anchor="ctr"/>
          <a:lstStyle/>
          <a:p>
            <a:pPr indent="0" marL="0">
              <a:buNone/>
            </a:pPr>
            <a:r>
              <a:rPr lang="en-US" sz="1300" b="1" dirty="0">
                <a:solidFill>
                  <a:srgbClr val="0F2C4D"/>
                </a:solidFill>
                <a:latin typeface="Georgia" pitchFamily="34" charset="0"/>
                <a:ea typeface="Georgia" pitchFamily="34" charset="-122"/>
                <a:cs typeface="Georgia" pitchFamily="34" charset="-120"/>
              </a:rPr>
              <a:t>Plateforme déjà en production</a:t>
            </a:r>
            <a:endParaRPr lang="en-US" sz="1300" dirty="0"/>
          </a:p>
        </p:txBody>
      </p:sp>
      <p:sp>
        <p:nvSpPr>
          <p:cNvPr id="18" name="Text 14"/>
          <p:cNvSpPr/>
          <p:nvPr/>
        </p:nvSpPr>
        <p:spPr>
          <a:xfrm>
            <a:off x="5486400" y="2834640"/>
            <a:ext cx="2286000" cy="86868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Système accessible en ligne, code source structuré en microservices, démo vidéo publique</a:t>
            </a:r>
            <a:endParaRPr lang="en-US" sz="1000" dirty="0"/>
          </a:p>
        </p:txBody>
      </p:sp>
      <p:sp>
        <p:nvSpPr>
          <p:cNvPr id="19" name="Shape 15"/>
          <p:cNvSpPr/>
          <p:nvPr/>
        </p:nvSpPr>
        <p:spPr>
          <a:xfrm>
            <a:off x="8046720" y="1965960"/>
            <a:ext cx="3611880" cy="18288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20" name="Shape 16"/>
          <p:cNvSpPr/>
          <p:nvPr/>
        </p:nvSpPr>
        <p:spPr>
          <a:xfrm>
            <a:off x="8046720" y="1965960"/>
            <a:ext cx="3611880" cy="73152"/>
          </a:xfrm>
          <a:prstGeom prst="rect">
            <a:avLst/>
          </a:prstGeom>
          <a:solidFill>
            <a:srgbClr val="F59E0B"/>
          </a:solidFill>
          <a:ln w="12700">
            <a:solidFill>
              <a:srgbClr val="F59E0B"/>
            </a:solidFill>
            <a:prstDash val="solid"/>
          </a:ln>
        </p:spPr>
      </p:sp>
      <p:sp>
        <p:nvSpPr>
          <p:cNvPr id="21" name="Shape 17"/>
          <p:cNvSpPr/>
          <p:nvPr/>
        </p:nvSpPr>
        <p:spPr>
          <a:xfrm>
            <a:off x="8321040" y="2331720"/>
            <a:ext cx="777240" cy="777240"/>
          </a:xfrm>
          <a:prstGeom prst="ellipse">
            <a:avLst/>
          </a:prstGeom>
          <a:solidFill>
            <a:srgbClr val="FEF3C7"/>
          </a:solidFill>
          <a:ln w="12700">
            <a:solidFill>
              <a:srgbClr val="FEF3C7"/>
            </a:solidFill>
            <a:prstDash val="solid"/>
          </a:ln>
        </p:spPr>
      </p:sp>
      <p:pic>
        <p:nvPicPr>
          <p:cNvPr id="22" name="Image 2" descr="preencoded.png">    </p:cNvPr>
          <p:cNvPicPr>
            <a:picLocks noChangeAspect="1"/>
          </p:cNvPicPr>
          <p:nvPr/>
        </p:nvPicPr>
        <p:blipFill>
          <a:blip r:embed="rId3"/>
          <a:stretch>
            <a:fillRect/>
          </a:stretch>
        </p:blipFill>
        <p:spPr>
          <a:xfrm>
            <a:off x="8458200" y="2468880"/>
            <a:ext cx="502920" cy="502920"/>
          </a:xfrm>
          <a:prstGeom prst="rect">
            <a:avLst/>
          </a:prstGeom>
        </p:spPr>
      </p:pic>
      <p:sp>
        <p:nvSpPr>
          <p:cNvPr id="23" name="Text 18"/>
          <p:cNvSpPr/>
          <p:nvPr/>
        </p:nvSpPr>
        <p:spPr>
          <a:xfrm>
            <a:off x="9235440" y="2331720"/>
            <a:ext cx="2286000" cy="457200"/>
          </a:xfrm>
          <a:prstGeom prst="rect">
            <a:avLst/>
          </a:prstGeom>
          <a:noFill/>
          <a:ln/>
        </p:spPr>
        <p:txBody>
          <a:bodyPr wrap="square" lIns="0" tIns="0" rIns="0" bIns="0" rtlCol="0" anchor="ctr"/>
          <a:lstStyle/>
          <a:p>
            <a:pPr indent="0" marL="0">
              <a:buNone/>
            </a:pPr>
            <a:r>
              <a:rPr lang="en-US" sz="1300" b="1" dirty="0">
                <a:solidFill>
                  <a:srgbClr val="0F2C4D"/>
                </a:solidFill>
                <a:latin typeface="Georgia" pitchFamily="34" charset="0"/>
                <a:ea typeface="Georgia" pitchFamily="34" charset="-122"/>
                <a:cs typeface="Georgia" pitchFamily="34" charset="-120"/>
              </a:rPr>
              <a:t>Candidatures internationales</a:t>
            </a:r>
            <a:endParaRPr lang="en-US" sz="1300" dirty="0"/>
          </a:p>
        </p:txBody>
      </p:sp>
      <p:sp>
        <p:nvSpPr>
          <p:cNvPr id="24" name="Text 19"/>
          <p:cNvSpPr/>
          <p:nvPr/>
        </p:nvSpPr>
        <p:spPr>
          <a:xfrm>
            <a:off x="9235440" y="2834640"/>
            <a:ext cx="2286000" cy="86868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WSIS Prizes 2026 (E-environment) et AI for Good 2026 (AI for Planet) — candidatures déposées</a:t>
            </a:r>
            <a:endParaRPr lang="en-US" sz="1000" dirty="0"/>
          </a:p>
        </p:txBody>
      </p:sp>
      <p:sp>
        <p:nvSpPr>
          <p:cNvPr id="25" name="Shape 20"/>
          <p:cNvSpPr/>
          <p:nvPr/>
        </p:nvSpPr>
        <p:spPr>
          <a:xfrm>
            <a:off x="548640" y="4023360"/>
            <a:ext cx="11064240" cy="2194560"/>
          </a:xfrm>
          <a:prstGeom prst="rect">
            <a:avLst/>
          </a:prstGeom>
          <a:solidFill>
            <a:srgbClr val="0F2C4D"/>
          </a:solidFill>
          <a:ln w="12700">
            <a:solidFill>
              <a:srgbClr val="0F2C4D"/>
            </a:solidFill>
            <a:prstDash val="solid"/>
          </a:ln>
          <a:effectLst>
            <a:outerShdw sx="100000" sy="100000" kx="0" ky="0" algn="bl" rotWithShape="0" blurRad="101600" dist="25400" dir="5400000">
              <a:srgbClr val="000000">
                <a:alpha val="10000"/>
              </a:srgbClr>
            </a:outerShdw>
          </a:effectLst>
        </p:spPr>
      </p:sp>
      <p:sp>
        <p:nvSpPr>
          <p:cNvPr id="26" name="Shape 21"/>
          <p:cNvSpPr/>
          <p:nvPr/>
        </p:nvSpPr>
        <p:spPr>
          <a:xfrm>
            <a:off x="548640" y="4023360"/>
            <a:ext cx="11064240" cy="457200"/>
          </a:xfrm>
          <a:prstGeom prst="rect">
            <a:avLst/>
          </a:prstGeom>
          <a:solidFill>
            <a:srgbClr val="F59E0B"/>
          </a:solidFill>
          <a:ln w="12700">
            <a:solidFill>
              <a:srgbClr val="F59E0B"/>
            </a:solidFill>
            <a:prstDash val="solid"/>
          </a:ln>
        </p:spPr>
      </p:sp>
      <p:sp>
        <p:nvSpPr>
          <p:cNvPr id="27" name="Text 22"/>
          <p:cNvSpPr/>
          <p:nvPr/>
        </p:nvSpPr>
        <p:spPr>
          <a:xfrm>
            <a:off x="548640" y="4023360"/>
            <a:ext cx="11064240" cy="457200"/>
          </a:xfrm>
          <a:prstGeom prst="rect">
            <a:avLst/>
          </a:prstGeom>
          <a:noFill/>
          <a:ln/>
        </p:spPr>
        <p:txBody>
          <a:bodyPr wrap="square" lIns="0" tIns="0" rIns="0" bIns="0" rtlCol="0" anchor="ctr"/>
          <a:lstStyle/>
          <a:p>
            <a:pPr algn="ctr" indent="0" marL="0">
              <a:buNone/>
            </a:pPr>
            <a:r>
              <a:rPr lang="en-US" sz="1100" b="1" spc="300" kern="0" dirty="0">
                <a:solidFill>
                  <a:srgbClr val="0F2C4D"/>
                </a:solidFill>
                <a:latin typeface="Calibri" pitchFamily="34" charset="0"/>
                <a:ea typeface="Calibri" pitchFamily="34" charset="-122"/>
                <a:cs typeface="Calibri" pitchFamily="34" charset="-120"/>
              </a:rPr>
              <a:t>IMPACT VISÉ EN PARTENARIAT AVEC L'ANACIM ET LA DIRECTION</a:t>
            </a:r>
            <a:endParaRPr lang="en-US" sz="1100" dirty="0"/>
          </a:p>
        </p:txBody>
      </p:sp>
      <p:sp>
        <p:nvSpPr>
          <p:cNvPr id="28" name="Text 23"/>
          <p:cNvSpPr/>
          <p:nvPr/>
        </p:nvSpPr>
        <p:spPr>
          <a:xfrm>
            <a:off x="662940" y="4709160"/>
            <a:ext cx="2606040" cy="777240"/>
          </a:xfrm>
          <a:prstGeom prst="rect">
            <a:avLst/>
          </a:prstGeom>
          <a:noFill/>
          <a:ln/>
        </p:spPr>
        <p:txBody>
          <a:bodyPr wrap="square" lIns="0" tIns="0" rIns="0" bIns="0" rtlCol="0" anchor="ctr"/>
          <a:lstStyle/>
          <a:p>
            <a:pPr algn="ctr" indent="0" marL="0">
              <a:buNone/>
            </a:pPr>
            <a:r>
              <a:rPr lang="en-US" sz="3600" b="1" dirty="0">
                <a:solidFill>
                  <a:srgbClr val="F59E0B"/>
                </a:solidFill>
                <a:latin typeface="Georgia" pitchFamily="34" charset="0"/>
                <a:ea typeface="Georgia" pitchFamily="34" charset="-122"/>
                <a:cs typeface="Georgia" pitchFamily="34" charset="-120"/>
              </a:rPr>
              <a:t>24-48 h</a:t>
            </a:r>
            <a:endParaRPr lang="en-US" sz="3600" dirty="0"/>
          </a:p>
        </p:txBody>
      </p:sp>
      <p:sp>
        <p:nvSpPr>
          <p:cNvPr id="29" name="Text 24"/>
          <p:cNvSpPr/>
          <p:nvPr/>
        </p:nvSpPr>
        <p:spPr>
          <a:xfrm>
            <a:off x="662940" y="5577840"/>
            <a:ext cx="260604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d'anticipation préventive</a:t>
            </a:r>
            <a:endParaRPr lang="en-US" sz="1100" dirty="0"/>
          </a:p>
        </p:txBody>
      </p:sp>
      <p:sp>
        <p:nvSpPr>
          <p:cNvPr id="30" name="Text 25"/>
          <p:cNvSpPr/>
          <p:nvPr/>
        </p:nvSpPr>
        <p:spPr>
          <a:xfrm>
            <a:off x="3406140" y="4709160"/>
            <a:ext cx="2606040" cy="777240"/>
          </a:xfrm>
          <a:prstGeom prst="rect">
            <a:avLst/>
          </a:prstGeom>
          <a:noFill/>
          <a:ln/>
        </p:spPr>
        <p:txBody>
          <a:bodyPr wrap="square" lIns="0" tIns="0" rIns="0" bIns="0" rtlCol="0" anchor="ctr"/>
          <a:lstStyle/>
          <a:p>
            <a:pPr algn="ctr" indent="0" marL="0">
              <a:buNone/>
            </a:pPr>
            <a:r>
              <a:rPr lang="en-US" sz="3600" b="1" dirty="0">
                <a:solidFill>
                  <a:srgbClr val="F59E0B"/>
                </a:solidFill>
                <a:latin typeface="Georgia" pitchFamily="34" charset="0"/>
                <a:ea typeface="Georgia" pitchFamily="34" charset="-122"/>
                <a:cs typeface="Georgia" pitchFamily="34" charset="-120"/>
              </a:rPr>
              <a:t>&lt; 2 min</a:t>
            </a:r>
            <a:endParaRPr lang="en-US" sz="3600" dirty="0"/>
          </a:p>
        </p:txBody>
      </p:sp>
      <p:sp>
        <p:nvSpPr>
          <p:cNvPr id="31" name="Text 26"/>
          <p:cNvSpPr/>
          <p:nvPr/>
        </p:nvSpPr>
        <p:spPr>
          <a:xfrm>
            <a:off x="3406140" y="5577840"/>
            <a:ext cx="260604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signalement → alerte qualifiée</a:t>
            </a:r>
            <a:endParaRPr lang="en-US" sz="1100" dirty="0"/>
          </a:p>
        </p:txBody>
      </p:sp>
      <p:sp>
        <p:nvSpPr>
          <p:cNvPr id="32" name="Text 27"/>
          <p:cNvSpPr/>
          <p:nvPr/>
        </p:nvSpPr>
        <p:spPr>
          <a:xfrm>
            <a:off x="6149340" y="4709160"/>
            <a:ext cx="2606040" cy="777240"/>
          </a:xfrm>
          <a:prstGeom prst="rect">
            <a:avLst/>
          </a:prstGeom>
          <a:noFill/>
          <a:ln/>
        </p:spPr>
        <p:txBody>
          <a:bodyPr wrap="square" lIns="0" tIns="0" rIns="0" bIns="0" rtlCol="0" anchor="ctr"/>
          <a:lstStyle/>
          <a:p>
            <a:pPr algn="ctr" indent="0" marL="0">
              <a:buNone/>
            </a:pPr>
            <a:r>
              <a:rPr lang="en-US" sz="3600" b="1" dirty="0">
                <a:solidFill>
                  <a:srgbClr val="F59E0B"/>
                </a:solidFill>
                <a:latin typeface="Georgia" pitchFamily="34" charset="0"/>
                <a:ea typeface="Georgia" pitchFamily="34" charset="-122"/>
                <a:cs typeface="Georgia" pitchFamily="34" charset="-120"/>
              </a:rPr>
              <a:t>0</a:t>
            </a:r>
            <a:endParaRPr lang="en-US" sz="3600" dirty="0"/>
          </a:p>
        </p:txBody>
      </p:sp>
      <p:sp>
        <p:nvSpPr>
          <p:cNvPr id="33" name="Text 28"/>
          <p:cNvSpPr/>
          <p:nvPr/>
        </p:nvSpPr>
        <p:spPr>
          <a:xfrm>
            <a:off x="6149340" y="5577840"/>
            <a:ext cx="260604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fausse alerte (FP) en validation</a:t>
            </a:r>
            <a:endParaRPr lang="en-US" sz="1100" dirty="0"/>
          </a:p>
        </p:txBody>
      </p:sp>
      <p:sp>
        <p:nvSpPr>
          <p:cNvPr id="34" name="Text 29"/>
          <p:cNvSpPr/>
          <p:nvPr/>
        </p:nvSpPr>
        <p:spPr>
          <a:xfrm>
            <a:off x="8892540" y="4709160"/>
            <a:ext cx="2606040" cy="777240"/>
          </a:xfrm>
          <a:prstGeom prst="rect">
            <a:avLst/>
          </a:prstGeom>
          <a:noFill/>
          <a:ln/>
        </p:spPr>
        <p:txBody>
          <a:bodyPr wrap="square" lIns="0" tIns="0" rIns="0" bIns="0" rtlCol="0" anchor="ctr"/>
          <a:lstStyle/>
          <a:p>
            <a:pPr algn="ctr" indent="0" marL="0">
              <a:buNone/>
            </a:pPr>
            <a:r>
              <a:rPr lang="en-US" sz="3600" b="1" dirty="0">
                <a:solidFill>
                  <a:srgbClr val="F59E0B"/>
                </a:solidFill>
                <a:latin typeface="Georgia" pitchFamily="34" charset="0"/>
                <a:ea typeface="Georgia" pitchFamily="34" charset="-122"/>
                <a:cs typeface="Georgia" pitchFamily="34" charset="-120"/>
              </a:rPr>
              <a:t>100 %</a:t>
            </a:r>
            <a:endParaRPr lang="en-US" sz="3600" dirty="0"/>
          </a:p>
        </p:txBody>
      </p:sp>
      <p:sp>
        <p:nvSpPr>
          <p:cNvPr id="35" name="Text 30"/>
          <p:cNvSpPr/>
          <p:nvPr/>
        </p:nvSpPr>
        <p:spPr>
          <a:xfrm>
            <a:off x="8892540" y="5577840"/>
            <a:ext cx="260604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des inondations détectées (rappel RF)</a:t>
            </a:r>
            <a:endParaRPr lang="en-US" sz="1100" dirty="0"/>
          </a:p>
        </p:txBody>
      </p:sp>
      <p:sp>
        <p:nvSpPr>
          <p:cNvPr id="36" name="Shape 31"/>
          <p:cNvSpPr/>
          <p:nvPr/>
        </p:nvSpPr>
        <p:spPr>
          <a:xfrm>
            <a:off x="0" y="6537960"/>
            <a:ext cx="12161520" cy="320040"/>
          </a:xfrm>
          <a:prstGeom prst="rect">
            <a:avLst/>
          </a:prstGeom>
          <a:solidFill>
            <a:srgbClr val="0F2C4D"/>
          </a:solidFill>
          <a:ln w="12700">
            <a:solidFill>
              <a:srgbClr val="0F2C4D"/>
            </a:solidFill>
            <a:prstDash val="solid"/>
          </a:ln>
        </p:spPr>
      </p:sp>
      <p:sp>
        <p:nvSpPr>
          <p:cNvPr id="37" name="Text 32"/>
          <p:cNvSpPr/>
          <p:nvPr/>
        </p:nvSpPr>
        <p:spPr>
          <a:xfrm>
            <a:off x="457200" y="6537960"/>
            <a:ext cx="9144000" cy="320040"/>
          </a:xfrm>
          <a:prstGeom prst="rect">
            <a:avLst/>
          </a:prstGeom>
          <a:noFill/>
          <a:ln/>
        </p:spPr>
        <p:txBody>
          <a:bodyPr wrap="square" lIns="0" tIns="0" rIns="0" bIns="0" rtlCol="0" anchor="ctr"/>
          <a:lstStyle/>
          <a:p>
            <a:pPr algn="l" indent="0" marL="0">
              <a:buNone/>
            </a:pPr>
            <a:r>
              <a:rPr lang="en-US" sz="900" dirty="0">
                <a:solidFill>
                  <a:srgbClr val="F8FAFC"/>
                </a:solidFill>
                <a:latin typeface="Calibri" pitchFamily="34" charset="0"/>
                <a:ea typeface="Calibri" pitchFamily="34" charset="-122"/>
                <a:cs typeface="Calibri" pitchFamily="34" charset="-120"/>
              </a:rPr>
              <a:t>Saytu Mbeund  ·  Détection &amp; Prédiction des Inondations par IA  ·  UIDT / UTT</a:t>
            </a:r>
            <a:endParaRPr lang="en-US" sz="900" dirty="0"/>
          </a:p>
        </p:txBody>
      </p:sp>
      <p:sp>
        <p:nvSpPr>
          <p:cNvPr id="38" name="Text 33"/>
          <p:cNvSpPr/>
          <p:nvPr/>
        </p:nvSpPr>
        <p:spPr>
          <a:xfrm>
            <a:off x="11064240" y="6537960"/>
            <a:ext cx="640080" cy="320040"/>
          </a:xfrm>
          <a:prstGeom prst="rect">
            <a:avLst/>
          </a:prstGeom>
          <a:noFill/>
          <a:ln/>
        </p:spPr>
        <p:txBody>
          <a:bodyPr wrap="square" lIns="0" tIns="0" rIns="0" bIns="0" rtlCol="0" anchor="ctr"/>
          <a:lstStyle/>
          <a:p>
            <a:pPr algn="r" indent="0" marL="0">
              <a:buNone/>
            </a:pPr>
            <a:r>
              <a:rPr lang="en-US" sz="900" dirty="0">
                <a:solidFill>
                  <a:srgbClr val="F8FAFC"/>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100" b="1" spc="400" kern="0" dirty="0">
                <a:solidFill>
                  <a:srgbClr val="1A6FAB"/>
                </a:solidFill>
                <a:latin typeface="Calibri" pitchFamily="34" charset="0"/>
                <a:ea typeface="Calibri" pitchFamily="34" charset="-122"/>
                <a:cs typeface="Calibri" pitchFamily="34" charset="-120"/>
              </a:rPr>
              <a:t>FEUILLE DE ROUTE</a:t>
            </a:r>
            <a:endParaRPr lang="en-US" sz="1100" dirty="0"/>
          </a:p>
        </p:txBody>
      </p:sp>
      <p:sp>
        <p:nvSpPr>
          <p:cNvPr id="3" name="Text 1"/>
          <p:cNvSpPr/>
          <p:nvPr/>
        </p:nvSpPr>
        <p:spPr>
          <a:xfrm>
            <a:off x="548640" y="713232"/>
            <a:ext cx="11064240" cy="777240"/>
          </a:xfrm>
          <a:prstGeom prst="rect">
            <a:avLst/>
          </a:prstGeom>
          <a:noFill/>
          <a:ln/>
        </p:spPr>
        <p:txBody>
          <a:bodyPr wrap="square" lIns="0" tIns="0" rIns="0" bIns="0" rtlCol="0" anchor="ctr"/>
          <a:lstStyle/>
          <a:p>
            <a:pPr indent="0" marL="0">
              <a:buNone/>
            </a:pPr>
            <a:r>
              <a:rPr lang="en-US" sz="3000" b="1" dirty="0">
                <a:solidFill>
                  <a:srgbClr val="0F2C4D"/>
                </a:solidFill>
                <a:latin typeface="Georgia" pitchFamily="34" charset="0"/>
                <a:ea typeface="Georgia" pitchFamily="34" charset="-122"/>
                <a:cs typeface="Georgia" pitchFamily="34" charset="-120"/>
              </a:rPr>
              <a:t>Du prototype validé au déploiement national</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A6FAB"/>
          </a:solidFill>
          <a:ln w="12700">
            <a:solidFill>
              <a:srgbClr val="1A6FAB"/>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Text 5"/>
          <p:cNvSpPr/>
          <p:nvPr/>
        </p:nvSpPr>
        <p:spPr>
          <a:xfrm>
            <a:off x="548640" y="1920240"/>
            <a:ext cx="11064240" cy="45720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Une trajectoire en quatre phases, pilotée conjointement avec la Direction et l'ANACIM.</a:t>
            </a:r>
            <a:endParaRPr lang="en-US" sz="1300" dirty="0"/>
          </a:p>
        </p:txBody>
      </p:sp>
      <p:sp>
        <p:nvSpPr>
          <p:cNvPr id="8" name="Shape 6"/>
          <p:cNvSpPr/>
          <p:nvPr/>
        </p:nvSpPr>
        <p:spPr>
          <a:xfrm>
            <a:off x="822960" y="2926080"/>
            <a:ext cx="10515600" cy="54864"/>
          </a:xfrm>
          <a:prstGeom prst="rect">
            <a:avLst/>
          </a:prstGeom>
          <a:solidFill>
            <a:srgbClr val="E2E8F0"/>
          </a:solidFill>
          <a:ln w="12700">
            <a:solidFill>
              <a:srgbClr val="E2E8F0"/>
            </a:solidFill>
            <a:prstDash val="solid"/>
          </a:ln>
        </p:spPr>
      </p:sp>
      <p:sp>
        <p:nvSpPr>
          <p:cNvPr id="9" name="Shape 7"/>
          <p:cNvSpPr/>
          <p:nvPr/>
        </p:nvSpPr>
        <p:spPr>
          <a:xfrm>
            <a:off x="1938528" y="2816352"/>
            <a:ext cx="274320" cy="274320"/>
          </a:xfrm>
          <a:prstGeom prst="ellipse">
            <a:avLst/>
          </a:prstGeom>
          <a:solidFill>
            <a:srgbClr val="F59E0B"/>
          </a:solidFill>
          <a:ln w="25400">
            <a:solidFill>
              <a:srgbClr val="FFFFFF"/>
            </a:solidFill>
            <a:prstDash val="solid"/>
          </a:ln>
        </p:spPr>
      </p:sp>
      <p:sp>
        <p:nvSpPr>
          <p:cNvPr id="10" name="Shape 8"/>
          <p:cNvSpPr/>
          <p:nvPr/>
        </p:nvSpPr>
        <p:spPr>
          <a:xfrm>
            <a:off x="822960" y="3246120"/>
            <a:ext cx="2560320" cy="18288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11" name="Shape 9"/>
          <p:cNvSpPr/>
          <p:nvPr/>
        </p:nvSpPr>
        <p:spPr>
          <a:xfrm>
            <a:off x="822960" y="3246120"/>
            <a:ext cx="2560320" cy="54864"/>
          </a:xfrm>
          <a:prstGeom prst="rect">
            <a:avLst/>
          </a:prstGeom>
          <a:solidFill>
            <a:srgbClr val="F59E0B"/>
          </a:solidFill>
          <a:ln w="12700">
            <a:solidFill>
              <a:srgbClr val="F59E0B"/>
            </a:solidFill>
            <a:prstDash val="solid"/>
          </a:ln>
        </p:spPr>
      </p:sp>
      <p:sp>
        <p:nvSpPr>
          <p:cNvPr id="12" name="Text 10"/>
          <p:cNvSpPr/>
          <p:nvPr/>
        </p:nvSpPr>
        <p:spPr>
          <a:xfrm>
            <a:off x="960120" y="3383280"/>
            <a:ext cx="2286000" cy="274320"/>
          </a:xfrm>
          <a:prstGeom prst="rect">
            <a:avLst/>
          </a:prstGeom>
          <a:noFill/>
          <a:ln/>
        </p:spPr>
        <p:txBody>
          <a:bodyPr wrap="square" lIns="0" tIns="0" rIns="0" bIns="0" rtlCol="0" anchor="ctr"/>
          <a:lstStyle/>
          <a:p>
            <a:pPr indent="0" marL="0">
              <a:buNone/>
            </a:pPr>
            <a:r>
              <a:rPr lang="en-US" sz="900" b="1" spc="300" kern="0" dirty="0">
                <a:solidFill>
                  <a:srgbClr val="F59E0B"/>
                </a:solidFill>
                <a:latin typeface="Calibri" pitchFamily="34" charset="0"/>
                <a:ea typeface="Calibri" pitchFamily="34" charset="-122"/>
                <a:cs typeface="Calibri" pitchFamily="34" charset="-120"/>
              </a:rPr>
              <a:t>PHASE 1</a:t>
            </a:r>
            <a:endParaRPr lang="en-US" sz="900" dirty="0"/>
          </a:p>
        </p:txBody>
      </p:sp>
      <p:sp>
        <p:nvSpPr>
          <p:cNvPr id="13" name="Text 11"/>
          <p:cNvSpPr/>
          <p:nvPr/>
        </p:nvSpPr>
        <p:spPr>
          <a:xfrm>
            <a:off x="960120" y="3657600"/>
            <a:ext cx="2286000" cy="365760"/>
          </a:xfrm>
          <a:prstGeom prst="rect">
            <a:avLst/>
          </a:prstGeom>
          <a:noFill/>
          <a:ln/>
        </p:spPr>
        <p:txBody>
          <a:bodyPr wrap="square" lIns="0" tIns="0" rIns="0" bIns="0" rtlCol="0" anchor="ctr"/>
          <a:lstStyle/>
          <a:p>
            <a:pPr indent="0" marL="0">
              <a:buNone/>
            </a:pPr>
            <a:r>
              <a:rPr lang="en-US" sz="1600" b="1" dirty="0">
                <a:solidFill>
                  <a:srgbClr val="0F2C4D"/>
                </a:solidFill>
                <a:latin typeface="Georgia" pitchFamily="34" charset="0"/>
                <a:ea typeface="Georgia" pitchFamily="34" charset="-122"/>
                <a:cs typeface="Georgia" pitchFamily="34" charset="-120"/>
              </a:rPr>
              <a:t>Cadrage</a:t>
            </a:r>
            <a:endParaRPr lang="en-US" sz="1600" dirty="0"/>
          </a:p>
        </p:txBody>
      </p:sp>
      <p:sp>
        <p:nvSpPr>
          <p:cNvPr id="14" name="Text 12"/>
          <p:cNvSpPr/>
          <p:nvPr/>
        </p:nvSpPr>
        <p:spPr>
          <a:xfrm>
            <a:off x="960120" y="4023360"/>
            <a:ext cx="22860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0-3 mois</a:t>
            </a:r>
            <a:endParaRPr lang="en-US" sz="1000" dirty="0"/>
          </a:p>
        </p:txBody>
      </p:sp>
      <p:sp>
        <p:nvSpPr>
          <p:cNvPr id="15" name="Text 13"/>
          <p:cNvSpPr/>
          <p:nvPr/>
        </p:nvSpPr>
        <p:spPr>
          <a:xfrm>
            <a:off x="960120" y="4297680"/>
            <a:ext cx="2286000" cy="7772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Convention de partenariat ANACIM + Direction · accès aux données pluvio · choix d'un quartier pilote</a:t>
            </a:r>
            <a:endParaRPr lang="en-US" sz="1000" dirty="0"/>
          </a:p>
        </p:txBody>
      </p:sp>
      <p:sp>
        <p:nvSpPr>
          <p:cNvPr id="16" name="Shape 14"/>
          <p:cNvSpPr/>
          <p:nvPr/>
        </p:nvSpPr>
        <p:spPr>
          <a:xfrm>
            <a:off x="4590288" y="2816352"/>
            <a:ext cx="274320" cy="274320"/>
          </a:xfrm>
          <a:prstGeom prst="ellipse">
            <a:avLst/>
          </a:prstGeom>
          <a:solidFill>
            <a:srgbClr val="1A6FAB"/>
          </a:solidFill>
          <a:ln w="25400">
            <a:solidFill>
              <a:srgbClr val="FFFFFF"/>
            </a:solidFill>
            <a:prstDash val="solid"/>
          </a:ln>
        </p:spPr>
      </p:sp>
      <p:sp>
        <p:nvSpPr>
          <p:cNvPr id="17" name="Shape 15"/>
          <p:cNvSpPr/>
          <p:nvPr/>
        </p:nvSpPr>
        <p:spPr>
          <a:xfrm>
            <a:off x="3474720" y="3246120"/>
            <a:ext cx="2560320" cy="18288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18" name="Shape 16"/>
          <p:cNvSpPr/>
          <p:nvPr/>
        </p:nvSpPr>
        <p:spPr>
          <a:xfrm>
            <a:off x="3474720" y="3246120"/>
            <a:ext cx="2560320" cy="54864"/>
          </a:xfrm>
          <a:prstGeom prst="rect">
            <a:avLst/>
          </a:prstGeom>
          <a:solidFill>
            <a:srgbClr val="1A6FAB"/>
          </a:solidFill>
          <a:ln w="12700">
            <a:solidFill>
              <a:srgbClr val="1A6FAB"/>
            </a:solidFill>
            <a:prstDash val="solid"/>
          </a:ln>
        </p:spPr>
      </p:sp>
      <p:sp>
        <p:nvSpPr>
          <p:cNvPr id="19" name="Text 17"/>
          <p:cNvSpPr/>
          <p:nvPr/>
        </p:nvSpPr>
        <p:spPr>
          <a:xfrm>
            <a:off x="3611880" y="3383280"/>
            <a:ext cx="2286000" cy="274320"/>
          </a:xfrm>
          <a:prstGeom prst="rect">
            <a:avLst/>
          </a:prstGeom>
          <a:noFill/>
          <a:ln/>
        </p:spPr>
        <p:txBody>
          <a:bodyPr wrap="square" lIns="0" tIns="0" rIns="0" bIns="0" rtlCol="0" anchor="ctr"/>
          <a:lstStyle/>
          <a:p>
            <a:pPr indent="0" marL="0">
              <a:buNone/>
            </a:pPr>
            <a:r>
              <a:rPr lang="en-US" sz="900" b="1" spc="300" kern="0" dirty="0">
                <a:solidFill>
                  <a:srgbClr val="1A6FAB"/>
                </a:solidFill>
                <a:latin typeface="Calibri" pitchFamily="34" charset="0"/>
                <a:ea typeface="Calibri" pitchFamily="34" charset="-122"/>
                <a:cs typeface="Calibri" pitchFamily="34" charset="-120"/>
              </a:rPr>
              <a:t>PHASE 2</a:t>
            </a:r>
            <a:endParaRPr lang="en-US" sz="900" dirty="0"/>
          </a:p>
        </p:txBody>
      </p:sp>
      <p:sp>
        <p:nvSpPr>
          <p:cNvPr id="20" name="Text 18"/>
          <p:cNvSpPr/>
          <p:nvPr/>
        </p:nvSpPr>
        <p:spPr>
          <a:xfrm>
            <a:off x="3611880" y="3657600"/>
            <a:ext cx="2286000" cy="365760"/>
          </a:xfrm>
          <a:prstGeom prst="rect">
            <a:avLst/>
          </a:prstGeom>
          <a:noFill/>
          <a:ln/>
        </p:spPr>
        <p:txBody>
          <a:bodyPr wrap="square" lIns="0" tIns="0" rIns="0" bIns="0" rtlCol="0" anchor="ctr"/>
          <a:lstStyle/>
          <a:p>
            <a:pPr indent="0" marL="0">
              <a:buNone/>
            </a:pPr>
            <a:r>
              <a:rPr lang="en-US" sz="1600" b="1" dirty="0">
                <a:solidFill>
                  <a:srgbClr val="0F2C4D"/>
                </a:solidFill>
                <a:latin typeface="Georgia" pitchFamily="34" charset="0"/>
                <a:ea typeface="Georgia" pitchFamily="34" charset="-122"/>
                <a:cs typeface="Georgia" pitchFamily="34" charset="-120"/>
              </a:rPr>
              <a:t>Intégration</a:t>
            </a:r>
            <a:endParaRPr lang="en-US" sz="1600" dirty="0"/>
          </a:p>
        </p:txBody>
      </p:sp>
      <p:sp>
        <p:nvSpPr>
          <p:cNvPr id="21" name="Text 19"/>
          <p:cNvSpPr/>
          <p:nvPr/>
        </p:nvSpPr>
        <p:spPr>
          <a:xfrm>
            <a:off x="3611880" y="4023360"/>
            <a:ext cx="22860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3-9 mois</a:t>
            </a:r>
            <a:endParaRPr lang="en-US" sz="1000" dirty="0"/>
          </a:p>
        </p:txBody>
      </p:sp>
      <p:sp>
        <p:nvSpPr>
          <p:cNvPr id="22" name="Text 20"/>
          <p:cNvSpPr/>
          <p:nvPr/>
        </p:nvSpPr>
        <p:spPr>
          <a:xfrm>
            <a:off x="3611880" y="4297680"/>
            <a:ext cx="2286000" cy="7772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Connexion API ANACIM · recalibration RF · pilote opérationnel sur Keur Massar / Pikine</a:t>
            </a:r>
            <a:endParaRPr lang="en-US" sz="1000" dirty="0"/>
          </a:p>
        </p:txBody>
      </p:sp>
      <p:sp>
        <p:nvSpPr>
          <p:cNvPr id="23" name="Shape 21"/>
          <p:cNvSpPr/>
          <p:nvPr/>
        </p:nvSpPr>
        <p:spPr>
          <a:xfrm>
            <a:off x="7242048" y="2816352"/>
            <a:ext cx="274320" cy="274320"/>
          </a:xfrm>
          <a:prstGeom prst="ellipse">
            <a:avLst/>
          </a:prstGeom>
          <a:solidFill>
            <a:srgbClr val="1A6FAB"/>
          </a:solidFill>
          <a:ln w="25400">
            <a:solidFill>
              <a:srgbClr val="FFFFFF"/>
            </a:solidFill>
            <a:prstDash val="solid"/>
          </a:ln>
        </p:spPr>
      </p:sp>
      <p:sp>
        <p:nvSpPr>
          <p:cNvPr id="24" name="Shape 22"/>
          <p:cNvSpPr/>
          <p:nvPr/>
        </p:nvSpPr>
        <p:spPr>
          <a:xfrm>
            <a:off x="6126480" y="3246120"/>
            <a:ext cx="2560320" cy="18288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25" name="Shape 23"/>
          <p:cNvSpPr/>
          <p:nvPr/>
        </p:nvSpPr>
        <p:spPr>
          <a:xfrm>
            <a:off x="6126480" y="3246120"/>
            <a:ext cx="2560320" cy="54864"/>
          </a:xfrm>
          <a:prstGeom prst="rect">
            <a:avLst/>
          </a:prstGeom>
          <a:solidFill>
            <a:srgbClr val="1A6FAB"/>
          </a:solidFill>
          <a:ln w="12700">
            <a:solidFill>
              <a:srgbClr val="1A6FAB"/>
            </a:solidFill>
            <a:prstDash val="solid"/>
          </a:ln>
        </p:spPr>
      </p:sp>
      <p:sp>
        <p:nvSpPr>
          <p:cNvPr id="26" name="Text 24"/>
          <p:cNvSpPr/>
          <p:nvPr/>
        </p:nvSpPr>
        <p:spPr>
          <a:xfrm>
            <a:off x="6263640" y="3383280"/>
            <a:ext cx="2286000" cy="274320"/>
          </a:xfrm>
          <a:prstGeom prst="rect">
            <a:avLst/>
          </a:prstGeom>
          <a:noFill/>
          <a:ln/>
        </p:spPr>
        <p:txBody>
          <a:bodyPr wrap="square" lIns="0" tIns="0" rIns="0" bIns="0" rtlCol="0" anchor="ctr"/>
          <a:lstStyle/>
          <a:p>
            <a:pPr indent="0" marL="0">
              <a:buNone/>
            </a:pPr>
            <a:r>
              <a:rPr lang="en-US" sz="900" b="1" spc="300" kern="0" dirty="0">
                <a:solidFill>
                  <a:srgbClr val="1A6FAB"/>
                </a:solidFill>
                <a:latin typeface="Calibri" pitchFamily="34" charset="0"/>
                <a:ea typeface="Calibri" pitchFamily="34" charset="-122"/>
                <a:cs typeface="Calibri" pitchFamily="34" charset="-120"/>
              </a:rPr>
              <a:t>PHASE 3</a:t>
            </a:r>
            <a:endParaRPr lang="en-US" sz="900" dirty="0"/>
          </a:p>
        </p:txBody>
      </p:sp>
      <p:sp>
        <p:nvSpPr>
          <p:cNvPr id="27" name="Text 25"/>
          <p:cNvSpPr/>
          <p:nvPr/>
        </p:nvSpPr>
        <p:spPr>
          <a:xfrm>
            <a:off x="6263640" y="3657600"/>
            <a:ext cx="2286000" cy="365760"/>
          </a:xfrm>
          <a:prstGeom prst="rect">
            <a:avLst/>
          </a:prstGeom>
          <a:noFill/>
          <a:ln/>
        </p:spPr>
        <p:txBody>
          <a:bodyPr wrap="square" lIns="0" tIns="0" rIns="0" bIns="0" rtlCol="0" anchor="ctr"/>
          <a:lstStyle/>
          <a:p>
            <a:pPr indent="0" marL="0">
              <a:buNone/>
            </a:pPr>
            <a:r>
              <a:rPr lang="en-US" sz="1600" b="1" dirty="0">
                <a:solidFill>
                  <a:srgbClr val="0F2C4D"/>
                </a:solidFill>
                <a:latin typeface="Georgia" pitchFamily="34" charset="0"/>
                <a:ea typeface="Georgia" pitchFamily="34" charset="-122"/>
                <a:cs typeface="Georgia" pitchFamily="34" charset="-120"/>
              </a:rPr>
              <a:t>Déploiement</a:t>
            </a:r>
            <a:endParaRPr lang="en-US" sz="1600" dirty="0"/>
          </a:p>
        </p:txBody>
      </p:sp>
      <p:sp>
        <p:nvSpPr>
          <p:cNvPr id="28" name="Text 26"/>
          <p:cNvSpPr/>
          <p:nvPr/>
        </p:nvSpPr>
        <p:spPr>
          <a:xfrm>
            <a:off x="6263640" y="4023360"/>
            <a:ext cx="22860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9-18 mois</a:t>
            </a:r>
            <a:endParaRPr lang="en-US" sz="1000" dirty="0"/>
          </a:p>
        </p:txBody>
      </p:sp>
      <p:sp>
        <p:nvSpPr>
          <p:cNvPr id="29" name="Text 27"/>
          <p:cNvSpPr/>
          <p:nvPr/>
        </p:nvSpPr>
        <p:spPr>
          <a:xfrm>
            <a:off x="6263640" y="4297680"/>
            <a:ext cx="2286000" cy="7772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Couverture des 14 régions · interface autorités locales · campagne d'enrôlement citoyen national</a:t>
            </a:r>
            <a:endParaRPr lang="en-US" sz="1000" dirty="0"/>
          </a:p>
        </p:txBody>
      </p:sp>
      <p:sp>
        <p:nvSpPr>
          <p:cNvPr id="30" name="Shape 28"/>
          <p:cNvSpPr/>
          <p:nvPr/>
        </p:nvSpPr>
        <p:spPr>
          <a:xfrm>
            <a:off x="9893808" y="2816352"/>
            <a:ext cx="274320" cy="274320"/>
          </a:xfrm>
          <a:prstGeom prst="ellipse">
            <a:avLst/>
          </a:prstGeom>
          <a:solidFill>
            <a:srgbClr val="10B981"/>
          </a:solidFill>
          <a:ln w="25400">
            <a:solidFill>
              <a:srgbClr val="FFFFFF"/>
            </a:solidFill>
            <a:prstDash val="solid"/>
          </a:ln>
        </p:spPr>
      </p:sp>
      <p:sp>
        <p:nvSpPr>
          <p:cNvPr id="31" name="Shape 29"/>
          <p:cNvSpPr/>
          <p:nvPr/>
        </p:nvSpPr>
        <p:spPr>
          <a:xfrm>
            <a:off x="8778240" y="3246120"/>
            <a:ext cx="2560320" cy="1828800"/>
          </a:xfrm>
          <a:prstGeom prst="rect">
            <a:avLst/>
          </a:prstGeom>
          <a:solidFill>
            <a:srgbClr val="FFFFFF"/>
          </a:solidFill>
          <a:ln w="12700">
            <a:solidFill>
              <a:srgbClr val="E2E8F0"/>
            </a:solidFill>
            <a:prstDash val="solid"/>
          </a:ln>
          <a:effectLst>
            <a:outerShdw sx="100000" sy="100000" kx="0" ky="0" algn="bl" rotWithShape="0" blurRad="101600" dist="25400" dir="5400000">
              <a:srgbClr val="000000">
                <a:alpha val="10000"/>
              </a:srgbClr>
            </a:outerShdw>
          </a:effectLst>
        </p:spPr>
      </p:sp>
      <p:sp>
        <p:nvSpPr>
          <p:cNvPr id="32" name="Shape 30"/>
          <p:cNvSpPr/>
          <p:nvPr/>
        </p:nvSpPr>
        <p:spPr>
          <a:xfrm>
            <a:off x="8778240" y="3246120"/>
            <a:ext cx="2560320" cy="54864"/>
          </a:xfrm>
          <a:prstGeom prst="rect">
            <a:avLst/>
          </a:prstGeom>
          <a:solidFill>
            <a:srgbClr val="10B981"/>
          </a:solidFill>
          <a:ln w="12700">
            <a:solidFill>
              <a:srgbClr val="10B981"/>
            </a:solidFill>
            <a:prstDash val="solid"/>
          </a:ln>
        </p:spPr>
      </p:sp>
      <p:sp>
        <p:nvSpPr>
          <p:cNvPr id="33" name="Text 31"/>
          <p:cNvSpPr/>
          <p:nvPr/>
        </p:nvSpPr>
        <p:spPr>
          <a:xfrm>
            <a:off x="8915400" y="3383280"/>
            <a:ext cx="2286000" cy="274320"/>
          </a:xfrm>
          <a:prstGeom prst="rect">
            <a:avLst/>
          </a:prstGeom>
          <a:noFill/>
          <a:ln/>
        </p:spPr>
        <p:txBody>
          <a:bodyPr wrap="square" lIns="0" tIns="0" rIns="0" bIns="0" rtlCol="0" anchor="ctr"/>
          <a:lstStyle/>
          <a:p>
            <a:pPr indent="0" marL="0">
              <a:buNone/>
            </a:pPr>
            <a:r>
              <a:rPr lang="en-US" sz="900" b="1" spc="300" kern="0" dirty="0">
                <a:solidFill>
                  <a:srgbClr val="10B981"/>
                </a:solidFill>
                <a:latin typeface="Calibri" pitchFamily="34" charset="0"/>
                <a:ea typeface="Calibri" pitchFamily="34" charset="-122"/>
                <a:cs typeface="Calibri" pitchFamily="34" charset="-120"/>
              </a:rPr>
              <a:t>PHASE 4</a:t>
            </a:r>
            <a:endParaRPr lang="en-US" sz="900" dirty="0"/>
          </a:p>
        </p:txBody>
      </p:sp>
      <p:sp>
        <p:nvSpPr>
          <p:cNvPr id="34" name="Text 32"/>
          <p:cNvSpPr/>
          <p:nvPr/>
        </p:nvSpPr>
        <p:spPr>
          <a:xfrm>
            <a:off x="8915400" y="3657600"/>
            <a:ext cx="2286000" cy="365760"/>
          </a:xfrm>
          <a:prstGeom prst="rect">
            <a:avLst/>
          </a:prstGeom>
          <a:noFill/>
          <a:ln/>
        </p:spPr>
        <p:txBody>
          <a:bodyPr wrap="square" lIns="0" tIns="0" rIns="0" bIns="0" rtlCol="0" anchor="ctr"/>
          <a:lstStyle/>
          <a:p>
            <a:pPr indent="0" marL="0">
              <a:buNone/>
            </a:pPr>
            <a:r>
              <a:rPr lang="en-US" sz="1600" b="1" dirty="0">
                <a:solidFill>
                  <a:srgbClr val="0F2C4D"/>
                </a:solidFill>
                <a:latin typeface="Georgia" pitchFamily="34" charset="0"/>
                <a:ea typeface="Georgia" pitchFamily="34" charset="-122"/>
                <a:cs typeface="Georgia" pitchFamily="34" charset="-120"/>
              </a:rPr>
              <a:t>Pérennité</a:t>
            </a:r>
            <a:endParaRPr lang="en-US" sz="1600" dirty="0"/>
          </a:p>
        </p:txBody>
      </p:sp>
      <p:sp>
        <p:nvSpPr>
          <p:cNvPr id="35" name="Text 33"/>
          <p:cNvSpPr/>
          <p:nvPr/>
        </p:nvSpPr>
        <p:spPr>
          <a:xfrm>
            <a:off x="8915400" y="4023360"/>
            <a:ext cx="2286000" cy="27432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18+ mois</a:t>
            </a:r>
            <a:endParaRPr lang="en-US" sz="1000" dirty="0"/>
          </a:p>
        </p:txBody>
      </p:sp>
      <p:sp>
        <p:nvSpPr>
          <p:cNvPr id="36" name="Text 34"/>
          <p:cNvSpPr/>
          <p:nvPr/>
        </p:nvSpPr>
        <p:spPr>
          <a:xfrm>
            <a:off x="8915400" y="4297680"/>
            <a:ext cx="2286000" cy="7772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Intégration Sentinel-1 SAR · multi-classes (sévère/modérée) · ouverture des données au monde académique</a:t>
            </a:r>
            <a:endParaRPr lang="en-US" sz="1000" dirty="0"/>
          </a:p>
        </p:txBody>
      </p:sp>
      <p:sp>
        <p:nvSpPr>
          <p:cNvPr id="37" name="Shape 35"/>
          <p:cNvSpPr/>
          <p:nvPr/>
        </p:nvSpPr>
        <p:spPr>
          <a:xfrm>
            <a:off x="548640" y="5349240"/>
            <a:ext cx="11064240" cy="868680"/>
          </a:xfrm>
          <a:prstGeom prst="rect">
            <a:avLst/>
          </a:prstGeom>
          <a:solidFill>
            <a:srgbClr val="0F2C4D"/>
          </a:solidFill>
          <a:ln w="12700">
            <a:solidFill>
              <a:srgbClr val="0F2C4D"/>
            </a:solidFill>
            <a:prstDash val="solid"/>
          </a:ln>
        </p:spPr>
      </p:sp>
      <p:sp>
        <p:nvSpPr>
          <p:cNvPr id="38" name="Shape 36"/>
          <p:cNvSpPr/>
          <p:nvPr/>
        </p:nvSpPr>
        <p:spPr>
          <a:xfrm>
            <a:off x="548640" y="5349240"/>
            <a:ext cx="109728" cy="868680"/>
          </a:xfrm>
          <a:prstGeom prst="rect">
            <a:avLst/>
          </a:prstGeom>
          <a:solidFill>
            <a:srgbClr val="1A6FAB"/>
          </a:solidFill>
          <a:ln w="12700">
            <a:solidFill>
              <a:srgbClr val="1A6FAB"/>
            </a:solidFill>
            <a:prstDash val="solid"/>
          </a:ln>
        </p:spPr>
      </p:sp>
      <p:pic>
        <p:nvPicPr>
          <p:cNvPr id="39" name="Image 0" descr="preencoded.png">    </p:cNvPr>
          <p:cNvPicPr>
            <a:picLocks noChangeAspect="1"/>
          </p:cNvPicPr>
          <p:nvPr/>
        </p:nvPicPr>
        <p:blipFill>
          <a:blip r:embed="rId1"/>
          <a:stretch>
            <a:fillRect/>
          </a:stretch>
        </p:blipFill>
        <p:spPr>
          <a:xfrm>
            <a:off x="868680" y="5532120"/>
            <a:ext cx="502920" cy="502920"/>
          </a:xfrm>
          <a:prstGeom prst="rect">
            <a:avLst/>
          </a:prstGeom>
        </p:spPr>
      </p:pic>
      <p:sp>
        <p:nvSpPr>
          <p:cNvPr id="40" name="Text 37"/>
          <p:cNvSpPr/>
          <p:nvPr/>
        </p:nvSpPr>
        <p:spPr>
          <a:xfrm>
            <a:off x="1554480" y="5349240"/>
            <a:ext cx="9966960" cy="86868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Limites assumées : 933 images d'entraînement (corpus à enrichir), proxy pluvio à valider sur observations ANACIM, fusion RF + ConvNeXt non encore évaluée quantitativement.</a:t>
            </a:r>
            <a:endParaRPr lang="en-US" sz="1100" dirty="0"/>
          </a:p>
        </p:txBody>
      </p:sp>
      <p:sp>
        <p:nvSpPr>
          <p:cNvPr id="41" name="Shape 38"/>
          <p:cNvSpPr/>
          <p:nvPr/>
        </p:nvSpPr>
        <p:spPr>
          <a:xfrm>
            <a:off x="0" y="6537960"/>
            <a:ext cx="12161520" cy="320040"/>
          </a:xfrm>
          <a:prstGeom prst="rect">
            <a:avLst/>
          </a:prstGeom>
          <a:solidFill>
            <a:srgbClr val="0F2C4D"/>
          </a:solidFill>
          <a:ln w="12700">
            <a:solidFill>
              <a:srgbClr val="0F2C4D"/>
            </a:solidFill>
            <a:prstDash val="solid"/>
          </a:ln>
        </p:spPr>
      </p:sp>
      <p:sp>
        <p:nvSpPr>
          <p:cNvPr id="42" name="Text 39"/>
          <p:cNvSpPr/>
          <p:nvPr/>
        </p:nvSpPr>
        <p:spPr>
          <a:xfrm>
            <a:off x="457200" y="6537960"/>
            <a:ext cx="9144000" cy="320040"/>
          </a:xfrm>
          <a:prstGeom prst="rect">
            <a:avLst/>
          </a:prstGeom>
          <a:noFill/>
          <a:ln/>
        </p:spPr>
        <p:txBody>
          <a:bodyPr wrap="square" lIns="0" tIns="0" rIns="0" bIns="0" rtlCol="0" anchor="ctr"/>
          <a:lstStyle/>
          <a:p>
            <a:pPr algn="l" indent="0" marL="0">
              <a:buNone/>
            </a:pPr>
            <a:r>
              <a:rPr lang="en-US" sz="900" dirty="0">
                <a:solidFill>
                  <a:srgbClr val="F8FAFC"/>
                </a:solidFill>
                <a:latin typeface="Calibri" pitchFamily="34" charset="0"/>
                <a:ea typeface="Calibri" pitchFamily="34" charset="-122"/>
                <a:cs typeface="Calibri" pitchFamily="34" charset="-120"/>
              </a:rPr>
              <a:t>Saytu Mbeund  ·  Détection &amp; Prédiction des Inondations par IA  ·  UIDT / UTT</a:t>
            </a:r>
            <a:endParaRPr lang="en-US" sz="900" dirty="0"/>
          </a:p>
        </p:txBody>
      </p:sp>
      <p:sp>
        <p:nvSpPr>
          <p:cNvPr id="43" name="Text 40"/>
          <p:cNvSpPr/>
          <p:nvPr/>
        </p:nvSpPr>
        <p:spPr>
          <a:xfrm>
            <a:off x="11064240" y="6537960"/>
            <a:ext cx="640080" cy="320040"/>
          </a:xfrm>
          <a:prstGeom prst="rect">
            <a:avLst/>
          </a:prstGeom>
          <a:noFill/>
          <a:ln/>
        </p:spPr>
        <p:txBody>
          <a:bodyPr wrap="square" lIns="0" tIns="0" rIns="0" bIns="0" rtlCol="0" anchor="ctr"/>
          <a:lstStyle/>
          <a:p>
            <a:pPr algn="r" indent="0" marL="0">
              <a:buNone/>
            </a:pPr>
            <a:r>
              <a:rPr lang="en-US" sz="900" dirty="0">
                <a:solidFill>
                  <a:srgbClr val="F8FAFC"/>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C4D"/>
        </a:solidFill>
      </p:bgPr>
    </p:bg>
    <p:spTree>
      <p:nvGrpSpPr>
        <p:cNvPr id="1" name=""/>
        <p:cNvGrpSpPr/>
        <p:nvPr/>
      </p:nvGrpSpPr>
      <p:grpSpPr>
        <a:xfrm>
          <a:off x="0" y="0"/>
          <a:ext cx="0" cy="0"/>
          <a:chOff x="0" y="0"/>
          <a:chExt cx="0" cy="0"/>
        </a:xfrm>
      </p:grpSpPr>
      <p:sp>
        <p:nvSpPr>
          <p:cNvPr id="2" name="Shape 0"/>
          <p:cNvSpPr/>
          <p:nvPr/>
        </p:nvSpPr>
        <p:spPr>
          <a:xfrm>
            <a:off x="-1828800" y="3200400"/>
            <a:ext cx="6400800" cy="6400800"/>
          </a:xfrm>
          <a:prstGeom prst="ellipse">
            <a:avLst/>
          </a:prstGeom>
          <a:solidFill>
            <a:srgbClr val="1A6FAB">
              <a:alpha val="20000"/>
            </a:srgbClr>
          </a:solidFill>
          <a:ln w="12700">
            <a:solidFill>
              <a:srgbClr val="1A6FAB"/>
            </a:solidFill>
            <a:prstDash val="solid"/>
          </a:ln>
        </p:spPr>
      </p:sp>
      <p:sp>
        <p:nvSpPr>
          <p:cNvPr id="3" name="Shape 1"/>
          <p:cNvSpPr/>
          <p:nvPr/>
        </p:nvSpPr>
        <p:spPr>
          <a:xfrm>
            <a:off x="8046720" y="-2743200"/>
            <a:ext cx="6858000" cy="6858000"/>
          </a:xfrm>
          <a:prstGeom prst="ellipse">
            <a:avLst/>
          </a:prstGeom>
          <a:solidFill>
            <a:srgbClr val="1A6FAB">
              <a:alpha val="15000"/>
            </a:srgbClr>
          </a:solidFill>
          <a:ln w="12700">
            <a:solidFill>
              <a:srgbClr val="1A6FAB"/>
            </a:solidFill>
            <a:prstDash val="solid"/>
          </a:ln>
        </p:spPr>
      </p:sp>
      <p:sp>
        <p:nvSpPr>
          <p:cNvPr id="4" name="Text 2"/>
          <p:cNvSpPr/>
          <p:nvPr/>
        </p:nvSpPr>
        <p:spPr>
          <a:xfrm>
            <a:off x="731520" y="640080"/>
            <a:ext cx="10058400" cy="365760"/>
          </a:xfrm>
          <a:prstGeom prst="rect">
            <a:avLst/>
          </a:prstGeom>
          <a:noFill/>
          <a:ln/>
        </p:spPr>
        <p:txBody>
          <a:bodyPr wrap="square" lIns="0" tIns="0" rIns="0" bIns="0" rtlCol="0" anchor="ctr"/>
          <a:lstStyle/>
          <a:p>
            <a:pPr indent="0" marL="0">
              <a:buNone/>
            </a:pPr>
            <a:r>
              <a:rPr lang="en-US" sz="1100" b="1" spc="500" kern="0" dirty="0">
                <a:solidFill>
                  <a:srgbClr val="F59E0B"/>
                </a:solidFill>
                <a:latin typeface="Calibri" pitchFamily="34" charset="0"/>
                <a:ea typeface="Calibri" pitchFamily="34" charset="-122"/>
                <a:cs typeface="Calibri" pitchFamily="34" charset="-120"/>
              </a:rPr>
              <a:t>CONCLUSION</a:t>
            </a:r>
            <a:endParaRPr lang="en-US" sz="1100" dirty="0"/>
          </a:p>
        </p:txBody>
      </p:sp>
      <p:sp>
        <p:nvSpPr>
          <p:cNvPr id="5" name="Text 3"/>
          <p:cNvSpPr/>
          <p:nvPr/>
        </p:nvSpPr>
        <p:spPr>
          <a:xfrm>
            <a:off x="731520" y="1188720"/>
            <a:ext cx="10698480" cy="1463040"/>
          </a:xfrm>
          <a:prstGeom prst="rect">
            <a:avLst/>
          </a:prstGeom>
          <a:noFill/>
          <a:ln/>
        </p:spPr>
        <p:txBody>
          <a:bodyPr wrap="square" lIns="0" tIns="0" rIns="0" bIns="0" rtlCol="0" anchor="ctr"/>
          <a:lstStyle/>
          <a:p>
            <a:pPr indent="0" marL="0">
              <a:buNone/>
            </a:pPr>
            <a:r>
              <a:rPr lang="en-US" sz="2600" b="1" i="1" dirty="0">
                <a:solidFill>
                  <a:srgbClr val="FFFFFF"/>
                </a:solidFill>
                <a:latin typeface="Georgia" pitchFamily="34" charset="0"/>
                <a:ea typeface="Georgia" pitchFamily="34" charset="-122"/>
                <a:cs typeface="Georgia" pitchFamily="34" charset="-120"/>
              </a:rPr>
              <a:t>Faire du Sénégal le premier pays sahélien à anticiper ses inondations grâce à l'IA.</a:t>
            </a:r>
            <a:endParaRPr lang="en-US" sz="2600" dirty="0"/>
          </a:p>
        </p:txBody>
      </p:sp>
      <p:sp>
        <p:nvSpPr>
          <p:cNvPr id="6" name="Shape 4"/>
          <p:cNvSpPr/>
          <p:nvPr/>
        </p:nvSpPr>
        <p:spPr>
          <a:xfrm>
            <a:off x="731520" y="2743200"/>
            <a:ext cx="10698480" cy="457200"/>
          </a:xfrm>
          <a:prstGeom prst="rect">
            <a:avLst/>
          </a:prstGeom>
          <a:solidFill>
            <a:srgbClr val="F59E0B"/>
          </a:solidFill>
          <a:ln w="12700">
            <a:solidFill>
              <a:srgbClr val="F59E0B"/>
            </a:solidFill>
            <a:prstDash val="solid"/>
          </a:ln>
        </p:spPr>
      </p:sp>
      <p:sp>
        <p:nvSpPr>
          <p:cNvPr id="7" name="Text 5"/>
          <p:cNvSpPr/>
          <p:nvPr/>
        </p:nvSpPr>
        <p:spPr>
          <a:xfrm>
            <a:off x="731520" y="2743200"/>
            <a:ext cx="10698480" cy="457200"/>
          </a:xfrm>
          <a:prstGeom prst="rect">
            <a:avLst/>
          </a:prstGeom>
          <a:noFill/>
          <a:ln/>
        </p:spPr>
        <p:txBody>
          <a:bodyPr wrap="square" lIns="0" tIns="0" rIns="0" bIns="0" rtlCol="0" anchor="ctr"/>
          <a:lstStyle/>
          <a:p>
            <a:pPr algn="ctr" indent="0" marL="0">
              <a:buNone/>
            </a:pPr>
            <a:r>
              <a:rPr lang="en-US" sz="1200" b="1" spc="300" kern="0" dirty="0">
                <a:solidFill>
                  <a:srgbClr val="0F2C4D"/>
                </a:solidFill>
                <a:latin typeface="Calibri" pitchFamily="34" charset="0"/>
                <a:ea typeface="Calibri" pitchFamily="34" charset="-122"/>
                <a:cs typeface="Calibri" pitchFamily="34" charset="-120"/>
              </a:rPr>
              <a:t>CE QUE NOUS PROPOSONS À NOS DEUX PARTENAIRES</a:t>
            </a:r>
            <a:endParaRPr lang="en-US" sz="1200" dirty="0"/>
          </a:p>
        </p:txBody>
      </p:sp>
      <p:sp>
        <p:nvSpPr>
          <p:cNvPr id="8" name="Shape 6"/>
          <p:cNvSpPr/>
          <p:nvPr/>
        </p:nvSpPr>
        <p:spPr>
          <a:xfrm>
            <a:off x="731520" y="3383280"/>
            <a:ext cx="5257800" cy="2286000"/>
          </a:xfrm>
          <a:prstGeom prst="rect">
            <a:avLst/>
          </a:prstGeom>
          <a:solidFill>
            <a:srgbClr val="FFFFFF">
              <a:alpha val="10000"/>
            </a:srgbClr>
          </a:solidFill>
          <a:ln w="12700">
            <a:solidFill>
              <a:srgbClr val="F59E0B"/>
            </a:solidFill>
            <a:prstDash val="solid"/>
          </a:ln>
        </p:spPr>
      </p:sp>
      <p:sp>
        <p:nvSpPr>
          <p:cNvPr id="9" name="Shape 7"/>
          <p:cNvSpPr/>
          <p:nvPr/>
        </p:nvSpPr>
        <p:spPr>
          <a:xfrm>
            <a:off x="914400" y="3566160"/>
            <a:ext cx="548640" cy="548640"/>
          </a:xfrm>
          <a:prstGeom prst="ellipse">
            <a:avLst/>
          </a:prstGeom>
          <a:solidFill>
            <a:srgbClr val="F59E0B"/>
          </a:solidFill>
          <a:ln w="12700">
            <a:solidFill>
              <a:srgbClr val="F59E0B"/>
            </a:solidFill>
            <a:prstDash val="solid"/>
          </a:ln>
        </p:spPr>
      </p:sp>
      <p:pic>
        <p:nvPicPr>
          <p:cNvPr id="10" name="Image 0" descr="preencoded.png">    </p:cNvPr>
          <p:cNvPicPr>
            <a:picLocks noChangeAspect="1"/>
          </p:cNvPicPr>
          <p:nvPr/>
        </p:nvPicPr>
        <p:blipFill>
          <a:blip r:embed="rId1"/>
          <a:stretch>
            <a:fillRect/>
          </a:stretch>
        </p:blipFill>
        <p:spPr>
          <a:xfrm>
            <a:off x="1005840" y="3657600"/>
            <a:ext cx="365760" cy="365760"/>
          </a:xfrm>
          <a:prstGeom prst="rect">
            <a:avLst/>
          </a:prstGeom>
        </p:spPr>
      </p:pic>
      <p:sp>
        <p:nvSpPr>
          <p:cNvPr id="11" name="Text 8"/>
          <p:cNvSpPr/>
          <p:nvPr/>
        </p:nvSpPr>
        <p:spPr>
          <a:xfrm>
            <a:off x="1554480" y="3520440"/>
            <a:ext cx="4297680" cy="4572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À la Direction des Inondations</a:t>
            </a:r>
            <a:endParaRPr lang="en-US" sz="1400" dirty="0"/>
          </a:p>
        </p:txBody>
      </p:sp>
      <p:sp>
        <p:nvSpPr>
          <p:cNvPr id="12" name="Text 9"/>
          <p:cNvSpPr/>
          <p:nvPr/>
        </p:nvSpPr>
        <p:spPr>
          <a:xfrm>
            <a:off x="914400" y="4160520"/>
            <a:ext cx="4937760" cy="1463040"/>
          </a:xfrm>
          <a:prstGeom prst="rect">
            <a:avLst/>
          </a:prstGeom>
          <a:noFill/>
          <a:ln/>
        </p:spPr>
        <p:txBody>
          <a:bodyPr wrap="square" lIns="0" tIns="0" rIns="0" bIns="0" rtlCol="0" anchor="ctr"/>
          <a:lstStyle/>
          <a:p>
            <a:pPr indent="0" marL="0">
              <a:spcAft>
                <a:spcPts val="600"/>
              </a:spcAft>
              <a:buNone/>
            </a:pPr>
            <a:r>
              <a:rPr lang="en-US" sz="1200" b="1" dirty="0">
                <a:solidFill>
                  <a:srgbClr val="F59E0B"/>
                </a:solidFill>
                <a:latin typeface="Calibri" pitchFamily="34" charset="0"/>
                <a:ea typeface="Calibri" pitchFamily="34" charset="-122"/>
                <a:cs typeface="Calibri" pitchFamily="34" charset="-120"/>
              </a:rPr>
              <a:t>·  </a:t>
            </a:r>
            <a:pPr indent="0" marL="0">
              <a:spcAft>
                <a:spcPts val="600"/>
              </a:spcAft>
              <a:buNone/>
            </a:pPr>
            <a:r>
              <a:rPr lang="en-US" sz="1100" dirty="0">
                <a:solidFill>
                  <a:srgbClr val="60A5FA"/>
                </a:solidFill>
                <a:latin typeface="Calibri" pitchFamily="34" charset="0"/>
                <a:ea typeface="Calibri" pitchFamily="34" charset="-122"/>
                <a:cs typeface="Calibri" pitchFamily="34" charset="-120"/>
              </a:rPr>
              <a:t>Cadrage opérationnel &amp; accès aux historiques de sinistres</a:t>
            </a:r>
            <a:endParaRPr lang="en-US" sz="1200" dirty="0"/>
          </a:p>
          <a:p>
            <a:pPr indent="0" marL="0">
              <a:spcAft>
                <a:spcPts val="600"/>
              </a:spcAft>
              <a:buNone/>
            </a:pPr>
            <a:r>
              <a:rPr lang="en-US" sz="1200" b="1" dirty="0">
                <a:solidFill>
                  <a:srgbClr val="F59E0B"/>
                </a:solidFill>
                <a:latin typeface="Calibri" pitchFamily="34" charset="0"/>
                <a:ea typeface="Calibri" pitchFamily="34" charset="-122"/>
                <a:cs typeface="Calibri" pitchFamily="34" charset="-120"/>
              </a:rPr>
              <a:t>·  </a:t>
            </a:r>
            <a:pPr indent="0" marL="0">
              <a:spcAft>
                <a:spcPts val="600"/>
              </a:spcAft>
              <a:buNone/>
            </a:pPr>
            <a:r>
              <a:rPr lang="en-US" sz="1100" dirty="0">
                <a:solidFill>
                  <a:srgbClr val="60A5FA"/>
                </a:solidFill>
                <a:latin typeface="Calibri" pitchFamily="34" charset="0"/>
                <a:ea typeface="Calibri" pitchFamily="34" charset="-122"/>
                <a:cs typeface="Calibri" pitchFamily="34" charset="-120"/>
              </a:rPr>
              <a:t>Désignation d'un quartier pilote (Keur Massar / Pikine)</a:t>
            </a:r>
            <a:endParaRPr lang="en-US" sz="1200" dirty="0"/>
          </a:p>
          <a:p>
            <a:pPr indent="0" marL="0">
              <a:spcAft>
                <a:spcPts val="600"/>
              </a:spcAft>
              <a:buNone/>
            </a:pPr>
            <a:r>
              <a:rPr lang="en-US" sz="1200" b="1" dirty="0">
                <a:solidFill>
                  <a:srgbClr val="F59E0B"/>
                </a:solidFill>
                <a:latin typeface="Calibri" pitchFamily="34" charset="0"/>
                <a:ea typeface="Calibri" pitchFamily="34" charset="-122"/>
                <a:cs typeface="Calibri" pitchFamily="34" charset="-120"/>
              </a:rPr>
              <a:t>·  </a:t>
            </a:r>
            <a:pPr indent="0" marL="0">
              <a:spcAft>
                <a:spcPts val="600"/>
              </a:spcAft>
              <a:buNone/>
            </a:pPr>
            <a:r>
              <a:rPr lang="en-US" sz="1100" dirty="0">
                <a:solidFill>
                  <a:srgbClr val="60A5FA"/>
                </a:solidFill>
                <a:latin typeface="Calibri" pitchFamily="34" charset="0"/>
                <a:ea typeface="Calibri" pitchFamily="34" charset="-122"/>
                <a:cs typeface="Calibri" pitchFamily="34" charset="-120"/>
              </a:rPr>
              <a:t>Adossement institutionnel pour le déploiement national</a:t>
            </a:r>
            <a:endParaRPr lang="en-US" sz="1200" dirty="0"/>
          </a:p>
        </p:txBody>
      </p:sp>
      <p:sp>
        <p:nvSpPr>
          <p:cNvPr id="13" name="Shape 10"/>
          <p:cNvSpPr/>
          <p:nvPr/>
        </p:nvSpPr>
        <p:spPr>
          <a:xfrm>
            <a:off x="6172200" y="3383280"/>
            <a:ext cx="5257800" cy="2286000"/>
          </a:xfrm>
          <a:prstGeom prst="rect">
            <a:avLst/>
          </a:prstGeom>
          <a:solidFill>
            <a:srgbClr val="FFFFFF">
              <a:alpha val="10000"/>
            </a:srgbClr>
          </a:solidFill>
          <a:ln w="12700">
            <a:solidFill>
              <a:srgbClr val="F59E0B"/>
            </a:solidFill>
            <a:prstDash val="solid"/>
          </a:ln>
        </p:spPr>
      </p:sp>
      <p:sp>
        <p:nvSpPr>
          <p:cNvPr id="14" name="Shape 11"/>
          <p:cNvSpPr/>
          <p:nvPr/>
        </p:nvSpPr>
        <p:spPr>
          <a:xfrm>
            <a:off x="6355080" y="3566160"/>
            <a:ext cx="548640" cy="548640"/>
          </a:xfrm>
          <a:prstGeom prst="ellipse">
            <a:avLst/>
          </a:prstGeom>
          <a:solidFill>
            <a:srgbClr val="F59E0B"/>
          </a:solidFill>
          <a:ln w="12700">
            <a:solidFill>
              <a:srgbClr val="F59E0B"/>
            </a:solidFill>
            <a:prstDash val="solid"/>
          </a:ln>
        </p:spPr>
      </p:sp>
      <p:pic>
        <p:nvPicPr>
          <p:cNvPr id="15" name="Image 1" descr="preencoded.png">    </p:cNvPr>
          <p:cNvPicPr>
            <a:picLocks noChangeAspect="1"/>
          </p:cNvPicPr>
          <p:nvPr/>
        </p:nvPicPr>
        <p:blipFill>
          <a:blip r:embed="rId2"/>
          <a:stretch>
            <a:fillRect/>
          </a:stretch>
        </p:blipFill>
        <p:spPr>
          <a:xfrm>
            <a:off x="6446520" y="3657600"/>
            <a:ext cx="365760" cy="365760"/>
          </a:xfrm>
          <a:prstGeom prst="rect">
            <a:avLst/>
          </a:prstGeom>
        </p:spPr>
      </p:pic>
      <p:sp>
        <p:nvSpPr>
          <p:cNvPr id="16" name="Text 12"/>
          <p:cNvSpPr/>
          <p:nvPr/>
        </p:nvSpPr>
        <p:spPr>
          <a:xfrm>
            <a:off x="6995160" y="3520440"/>
            <a:ext cx="4297680" cy="4572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À l'ANACIM</a:t>
            </a:r>
            <a:endParaRPr lang="en-US" sz="1400" dirty="0"/>
          </a:p>
        </p:txBody>
      </p:sp>
      <p:sp>
        <p:nvSpPr>
          <p:cNvPr id="17" name="Text 13"/>
          <p:cNvSpPr/>
          <p:nvPr/>
        </p:nvSpPr>
        <p:spPr>
          <a:xfrm>
            <a:off x="6355080" y="4160520"/>
            <a:ext cx="4937760" cy="1463040"/>
          </a:xfrm>
          <a:prstGeom prst="rect">
            <a:avLst/>
          </a:prstGeom>
          <a:noFill/>
          <a:ln/>
        </p:spPr>
        <p:txBody>
          <a:bodyPr wrap="square" lIns="0" tIns="0" rIns="0" bIns="0" rtlCol="0" anchor="ctr"/>
          <a:lstStyle/>
          <a:p>
            <a:pPr indent="0" marL="0">
              <a:spcAft>
                <a:spcPts val="600"/>
              </a:spcAft>
              <a:buNone/>
            </a:pPr>
            <a:r>
              <a:rPr lang="en-US" sz="1200" b="1" dirty="0">
                <a:solidFill>
                  <a:srgbClr val="F59E0B"/>
                </a:solidFill>
                <a:latin typeface="Calibri" pitchFamily="34" charset="0"/>
                <a:ea typeface="Calibri" pitchFamily="34" charset="-122"/>
                <a:cs typeface="Calibri" pitchFamily="34" charset="-120"/>
              </a:rPr>
              <a:t>·  </a:t>
            </a:r>
            <a:pPr indent="0" marL="0">
              <a:spcAft>
                <a:spcPts val="600"/>
              </a:spcAft>
              <a:buNone/>
            </a:pPr>
            <a:r>
              <a:rPr lang="en-US" sz="1100" dirty="0">
                <a:solidFill>
                  <a:srgbClr val="60A5FA"/>
                </a:solidFill>
                <a:latin typeface="Calibri" pitchFamily="34" charset="0"/>
                <a:ea typeface="Calibri" pitchFamily="34" charset="-122"/>
                <a:cs typeface="Calibri" pitchFamily="34" charset="-120"/>
              </a:rPr>
              <a:t>Accès aux données pluviométriques et prévisions opérationnelles</a:t>
            </a:r>
            <a:endParaRPr lang="en-US" sz="1200" dirty="0"/>
          </a:p>
          <a:p>
            <a:pPr indent="0" marL="0">
              <a:spcAft>
                <a:spcPts val="600"/>
              </a:spcAft>
              <a:buNone/>
            </a:pPr>
            <a:r>
              <a:rPr lang="en-US" sz="1200" b="1" dirty="0">
                <a:solidFill>
                  <a:srgbClr val="F59E0B"/>
                </a:solidFill>
                <a:latin typeface="Calibri" pitchFamily="34" charset="0"/>
                <a:ea typeface="Calibri" pitchFamily="34" charset="-122"/>
                <a:cs typeface="Calibri" pitchFamily="34" charset="-120"/>
              </a:rPr>
              <a:t>·  </a:t>
            </a:r>
            <a:pPr indent="0" marL="0">
              <a:spcAft>
                <a:spcPts val="600"/>
              </a:spcAft>
              <a:buNone/>
            </a:pPr>
            <a:r>
              <a:rPr lang="en-US" sz="1100" dirty="0">
                <a:solidFill>
                  <a:srgbClr val="60A5FA"/>
                </a:solidFill>
                <a:latin typeface="Calibri" pitchFamily="34" charset="0"/>
                <a:ea typeface="Calibri" pitchFamily="34" charset="-122"/>
                <a:cs typeface="Calibri" pitchFamily="34" charset="-120"/>
              </a:rPr>
              <a:t>Co-validation scientifique du proxy d'inondation</a:t>
            </a:r>
            <a:endParaRPr lang="en-US" sz="1200" dirty="0"/>
          </a:p>
          <a:p>
            <a:pPr indent="0" marL="0">
              <a:spcAft>
                <a:spcPts val="600"/>
              </a:spcAft>
              <a:buNone/>
            </a:pPr>
            <a:r>
              <a:rPr lang="en-US" sz="1200" b="1" dirty="0">
                <a:solidFill>
                  <a:srgbClr val="F59E0B"/>
                </a:solidFill>
                <a:latin typeface="Calibri" pitchFamily="34" charset="0"/>
                <a:ea typeface="Calibri" pitchFamily="34" charset="-122"/>
                <a:cs typeface="Calibri" pitchFamily="34" charset="-120"/>
              </a:rPr>
              <a:t>·  </a:t>
            </a:r>
            <a:pPr indent="0" marL="0">
              <a:spcAft>
                <a:spcPts val="600"/>
              </a:spcAft>
              <a:buNone/>
            </a:pPr>
            <a:r>
              <a:rPr lang="en-US" sz="1100" dirty="0">
                <a:solidFill>
                  <a:srgbClr val="60A5FA"/>
                </a:solidFill>
                <a:latin typeface="Calibri" pitchFamily="34" charset="0"/>
                <a:ea typeface="Calibri" pitchFamily="34" charset="-122"/>
                <a:cs typeface="Calibri" pitchFamily="34" charset="-120"/>
              </a:rPr>
              <a:t>Co-publication des résultats à valeur internationale</a:t>
            </a:r>
            <a:endParaRPr lang="en-US" sz="1200" dirty="0"/>
          </a:p>
        </p:txBody>
      </p:sp>
      <p:sp>
        <p:nvSpPr>
          <p:cNvPr id="18" name="Shape 14"/>
          <p:cNvSpPr/>
          <p:nvPr/>
        </p:nvSpPr>
        <p:spPr>
          <a:xfrm>
            <a:off x="0" y="5943600"/>
            <a:ext cx="12161520" cy="914400"/>
          </a:xfrm>
          <a:prstGeom prst="rect">
            <a:avLst/>
          </a:prstGeom>
          <a:solidFill>
            <a:srgbClr val="000000">
              <a:alpha val="40000"/>
            </a:srgbClr>
          </a:solidFill>
          <a:ln w="12700">
            <a:solidFill>
              <a:srgbClr val="000000"/>
            </a:solidFill>
            <a:prstDash val="solid"/>
          </a:ln>
        </p:spPr>
      </p:sp>
      <p:sp>
        <p:nvSpPr>
          <p:cNvPr id="19" name="Text 15"/>
          <p:cNvSpPr/>
          <p:nvPr/>
        </p:nvSpPr>
        <p:spPr>
          <a:xfrm>
            <a:off x="731520" y="5989320"/>
            <a:ext cx="10698480" cy="365760"/>
          </a:xfrm>
          <a:prstGeom prst="rect">
            <a:avLst/>
          </a:prstGeom>
          <a:noFill/>
          <a:ln/>
        </p:spPr>
        <p:txBody>
          <a:bodyPr wrap="square" lIns="0" tIns="0" rIns="0" bIns="0" rtlCol="0" anchor="ctr"/>
          <a:lstStyle/>
          <a:p>
            <a:pPr indent="0" marL="0">
              <a:buNone/>
            </a:pPr>
            <a:r>
              <a:rPr lang="en-US" sz="1200" b="1" spc="400" kern="0" dirty="0">
                <a:solidFill>
                  <a:srgbClr val="F59E0B"/>
                </a:solidFill>
                <a:latin typeface="Calibri" pitchFamily="34" charset="0"/>
                <a:ea typeface="Calibri" pitchFamily="34" charset="-122"/>
                <a:cs typeface="Calibri" pitchFamily="34" charset="-120"/>
              </a:rPr>
              <a:t>MERCI POUR VOTRE ATTENTION  ·  ÉCHANGEONS</a:t>
            </a:r>
            <a:endParaRPr lang="en-US" sz="1200" dirty="0"/>
          </a:p>
        </p:txBody>
      </p:sp>
      <p:sp>
        <p:nvSpPr>
          <p:cNvPr id="20" name="Text 16"/>
          <p:cNvSpPr/>
          <p:nvPr/>
        </p:nvSpPr>
        <p:spPr>
          <a:xfrm>
            <a:off x="731520" y="6355080"/>
            <a:ext cx="106984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Papa Ahmadou Seydou SOW</a:t>
            </a:r>
            <a:pPr indent="0" marL="0">
              <a:buNone/>
            </a:pPr>
            <a:r>
              <a:rPr lang="en-US" sz="1200" b="1" dirty="0">
                <a:solidFill>
                  <a:srgbClr val="F59E0B"/>
                </a:solidFill>
                <a:latin typeface="Calibri" pitchFamily="34" charset="0"/>
                <a:ea typeface="Calibri" pitchFamily="34" charset="-122"/>
                <a:cs typeface="Calibri" pitchFamily="34" charset="-120"/>
              </a:rPr>
              <a:t>  ·  </a:t>
            </a:r>
            <a:pPr indent="0" marL="0">
              <a:buNone/>
            </a:pPr>
            <a:r>
              <a:rPr lang="en-US" sz="1200" b="1" dirty="0">
                <a:solidFill>
                  <a:srgbClr val="FFFFFF"/>
                </a:solidFill>
                <a:latin typeface="Calibri" pitchFamily="34" charset="0"/>
                <a:ea typeface="Calibri" pitchFamily="34" charset="-122"/>
                <a:cs typeface="Calibri" pitchFamily="34" charset="-120"/>
              </a:rPr>
              <a:t>Adama Sow KÉBÉ</a:t>
            </a:r>
            <a:endParaRPr lang="en-US" sz="1200" dirty="0"/>
          </a:p>
          <a:p>
            <a:pPr indent="0" marL="0">
              <a:buNone/>
            </a:pPr>
            <a:r>
              <a:rPr lang="en-US" sz="1100" dirty="0">
                <a:solidFill>
                  <a:srgbClr val="60A5FA"/>
                </a:solidFill>
                <a:latin typeface="Calibri" pitchFamily="34" charset="0"/>
                <a:ea typeface="Calibri" pitchFamily="34" charset="-122"/>
                <a:cs typeface="Calibri" pitchFamily="34" charset="-120"/>
              </a:rPr>
              <a:t>paseydou.sow@univ-thies.sn  ·  flood.yaataldigital.com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UIDT / UTT — Yaatal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Saytu Mbeund — Détection et prédiction des inondations au Sénégal par IA</dc:title>
  <dc:subject>PptxGenJS Presentation</dc:subject>
  <dc:creator>Papa Ahmadou Seydou Sow</dc:creator>
  <cp:lastModifiedBy>Papa Ahmadou Seydou Sow</cp:lastModifiedBy>
  <cp:revision>1</cp:revision>
  <dcterms:created xsi:type="dcterms:W3CDTF">2026-05-02T22:56:39Z</dcterms:created>
  <dcterms:modified xsi:type="dcterms:W3CDTF">2026-05-02T22:56:39Z</dcterms:modified>
</cp:coreProperties>
</file>