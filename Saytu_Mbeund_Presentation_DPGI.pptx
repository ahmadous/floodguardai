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 id="265" r:id="rId13"/>
    <p:sldId id="266" r:id="rId14"/>
    <p:sldId id="267" r:id="rId1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8" Type="http://schemas.openxmlformats.org/officeDocument/2006/relationships/tableStyles" Target="tableStyles.xml"/><Relationship Id="rId17" Type="http://schemas.openxmlformats.org/officeDocument/2006/relationships/viewProps" Target="viewProps.xml"/><Relationship Id="rId16" Type="http://schemas.openxmlformats.org/officeDocument/2006/relationships/presProps" Target="presProps.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7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7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7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7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7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7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7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7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7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7" Type="http://schemas.openxmlformats.org/officeDocument/2006/relationships/notesSlide" Target="../notesSlides/notesSlide2.xml"/><Relationship Id="rId6"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5.png"/><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image" Target="../media/image2.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8" Type="http://schemas.openxmlformats.org/officeDocument/2006/relationships/notesSlide" Target="../notesSlides/notesSlide4.xml"/><Relationship Id="rId7"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image" Target="../media/image7.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xml"/><Relationship Id="rId1" Type="http://schemas.openxmlformats.org/officeDocument/2006/relationships/image" Target="../media/image13.png"/></Relationships>
</file>

<file path=ppt/slides/_rels/slide8.xml.rels><?xml version="1.0" encoding="UTF-8" standalone="yes"?>
<Relationships xmlns="http://schemas.openxmlformats.org/package/2006/relationships"><Relationship Id="rId9" Type="http://schemas.openxmlformats.org/officeDocument/2006/relationships/slideLayout" Target="../slideLayouts/slideLayout1.xml"/><Relationship Id="rId8" Type="http://schemas.openxmlformats.org/officeDocument/2006/relationships/image" Target="../media/image21.png"/><Relationship Id="rId7" Type="http://schemas.openxmlformats.org/officeDocument/2006/relationships/image" Target="../media/image20.png"/><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 Id="rId3" Type="http://schemas.openxmlformats.org/officeDocument/2006/relationships/image" Target="../media/image16.png"/><Relationship Id="rId2" Type="http://schemas.openxmlformats.org/officeDocument/2006/relationships/image" Target="../media/image15.png"/><Relationship Id="rId10" Type="http://schemas.openxmlformats.org/officeDocument/2006/relationships/notesSlide" Target="../notesSlides/notesSlide8.xml"/><Relationship Id="rId1" Type="http://schemas.openxmlformats.org/officeDocument/2006/relationships/image" Target="../media/image14.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xml"/><Relationship Id="rId1" Type="http://schemas.openxmlformats.org/officeDocument/2006/relationships/image" Target="../media/image6.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xml"/><Relationship Id="rId1" Type="http://schemas.openxmlformats.org/officeDocument/2006/relationships/image" Target="../media/image22.png"/></Relationships>
</file>

<file path=ppt/slides/_rels/slide11.xml.rels><?xml version="1.0" encoding="UTF-8" standalone="yes"?>
<Relationships xmlns="http://schemas.openxmlformats.org/package/2006/relationships"><Relationship Id="rId6" Type="http://schemas.openxmlformats.org/officeDocument/2006/relationships/notesSlide" Target="../notesSlides/notesSlide11.xml"/><Relationship Id="rId5" Type="http://schemas.openxmlformats.org/officeDocument/2006/relationships/slideLayout" Target="../slideLayouts/slideLayout1.xml"/><Relationship Id="rId4" Type="http://schemas.openxmlformats.org/officeDocument/2006/relationships/image" Target="../media/image13.png"/><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image" Target="../media/image23.png"/></Relationships>
</file>

<file path=ppt/slides/_rels/slide12.xml.rels><?xml version="1.0" encoding="UTF-8" standalone="yes"?>
<Relationships xmlns="http://schemas.openxmlformats.org/package/2006/relationships"><Relationship Id="rId5" Type="http://schemas.openxmlformats.org/officeDocument/2006/relationships/notesSlide" Target="../notesSlides/notesSlide12.xml"/><Relationship Id="rId4" Type="http://schemas.openxmlformats.org/officeDocument/2006/relationships/slideLayout" Target="../slideLayouts/slideLayout1.xml"/><Relationship Id="rId3" Type="http://schemas.openxmlformats.org/officeDocument/2006/relationships/image" Target="../media/image10.png"/><Relationship Id="rId2" Type="http://schemas.openxmlformats.org/officeDocument/2006/relationships/image" Target="../media/image1.png"/><Relationship Id="rId1" Type="http://schemas.openxmlformats.org/officeDocument/2006/relationships/image" Target="../media/image23.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D47A1"/>
        </a:solidFill>
        <a:effectLst/>
      </p:bgPr>
    </p:bg>
    <p:spTree>
      <p:nvGrpSpPr>
        <p:cNvPr id="1" name=""/>
        <p:cNvGrpSpPr/>
        <p:nvPr/>
      </p:nvGrpSpPr>
      <p:grpSpPr>
        <a:xfrm>
          <a:off x="0" y="0"/>
          <a:ext cx="0" cy="0"/>
          <a:chOff x="0" y="0"/>
          <a:chExt cx="0" cy="0"/>
        </a:xfrm>
      </p:grpSpPr>
      <p:sp>
        <p:nvSpPr>
          <p:cNvPr id="2" name="Shape 0"/>
          <p:cNvSpPr/>
          <p:nvPr/>
        </p:nvSpPr>
        <p:spPr>
          <a:xfrm>
            <a:off x="-1828800" y="-2743200"/>
            <a:ext cx="7315200" cy="7315200"/>
          </a:xfrm>
          <a:prstGeom prst="ellipse">
            <a:avLst/>
          </a:prstGeom>
          <a:solidFill>
            <a:srgbClr val="1565C0">
              <a:alpha val="40000"/>
            </a:srgbClr>
          </a:solidFill>
          <a:ln w="12700">
            <a:solidFill>
              <a:srgbClr val="1565C0"/>
            </a:solidFill>
            <a:prstDash val="solid"/>
          </a:ln>
        </p:spPr>
      </p:sp>
      <p:sp>
        <p:nvSpPr>
          <p:cNvPr id="3" name="Shape 1"/>
          <p:cNvSpPr/>
          <p:nvPr/>
        </p:nvSpPr>
        <p:spPr>
          <a:xfrm>
            <a:off x="8503920" y="3200400"/>
            <a:ext cx="6400800" cy="6400800"/>
          </a:xfrm>
          <a:prstGeom prst="ellipse">
            <a:avLst/>
          </a:prstGeom>
          <a:solidFill>
            <a:srgbClr val="1565C0">
              <a:alpha val="30000"/>
            </a:srgbClr>
          </a:solidFill>
          <a:ln w="12700">
            <a:solidFill>
              <a:srgbClr val="1565C0"/>
            </a:solidFill>
            <a:prstDash val="solid"/>
          </a:ln>
        </p:spPr>
      </p:sp>
      <p:pic>
        <p:nvPicPr>
          <p:cNvPr id="4" name="Image 0" descr="preencoded.png"/>
          <p:cNvPicPr>
            <a:picLocks noChangeAspect="1"/>
          </p:cNvPicPr>
          <p:nvPr/>
        </p:nvPicPr>
        <p:blipFill>
          <a:blip r:embed="rId1">
            <a:alphaModFix amt="50000"/>
          </a:blip>
          <a:stretch>
            <a:fillRect/>
          </a:stretch>
        </p:blipFill>
        <p:spPr>
          <a:xfrm>
            <a:off x="9784080" y="457200"/>
            <a:ext cx="1645920" cy="1645920"/>
          </a:xfrm>
          <a:prstGeom prst="rect">
            <a:avLst/>
          </a:prstGeom>
        </p:spPr>
      </p:pic>
      <p:sp>
        <p:nvSpPr>
          <p:cNvPr id="5" name="Text 2"/>
          <p:cNvSpPr/>
          <p:nvPr/>
        </p:nvSpPr>
        <p:spPr>
          <a:xfrm>
            <a:off x="731520" y="1097280"/>
            <a:ext cx="10058400" cy="365760"/>
          </a:xfrm>
          <a:prstGeom prst="rect">
            <a:avLst/>
          </a:prstGeom>
          <a:noFill/>
        </p:spPr>
        <p:txBody>
          <a:bodyPr wrap="square" lIns="0" tIns="0" rIns="0" bIns="0" rtlCol="0" anchor="ctr"/>
          <a:lstStyle/>
          <a:p>
            <a:pPr marL="0" indent="0">
              <a:buNone/>
            </a:pPr>
            <a:r>
              <a:rPr lang="en-US" sz="1100" b="1" kern="0" spc="500" dirty="0">
                <a:solidFill>
                  <a:srgbClr val="42A5F5"/>
                </a:solidFill>
                <a:latin typeface="Calibri" pitchFamily="34" charset="0"/>
                <a:ea typeface="Calibri" pitchFamily="34" charset="-122"/>
                <a:cs typeface="Calibri" pitchFamily="34" charset="-120"/>
              </a:rPr>
              <a:t>RÉPUBLIQUE DU SÉNÉGAL  ·  PROJET YAATAL DIGITAL</a:t>
            </a:r>
            <a:endParaRPr lang="en-US" sz="1100" dirty="0"/>
          </a:p>
        </p:txBody>
      </p:sp>
      <p:sp>
        <p:nvSpPr>
          <p:cNvPr id="6" name="Text 3"/>
          <p:cNvSpPr/>
          <p:nvPr/>
        </p:nvSpPr>
        <p:spPr>
          <a:xfrm>
            <a:off x="731520" y="1508760"/>
            <a:ext cx="10972800" cy="1371600"/>
          </a:xfrm>
          <a:prstGeom prst="rect">
            <a:avLst/>
          </a:prstGeom>
          <a:noFill/>
        </p:spPr>
        <p:txBody>
          <a:bodyPr wrap="square" lIns="0" tIns="0" rIns="0" bIns="0" rtlCol="0" anchor="ctr"/>
          <a:lstStyle/>
          <a:p>
            <a:pPr marL="0" indent="0">
              <a:buNone/>
            </a:pPr>
            <a:r>
              <a:rPr lang="en-US" sz="7800" b="1" kern="0" spc="200" dirty="0">
                <a:solidFill>
                  <a:srgbClr val="FFFFFF"/>
                </a:solidFill>
                <a:latin typeface="Georgia" panose="02040502050405090303" pitchFamily="34" charset="0"/>
                <a:ea typeface="Georgia" panose="02040502050405090303" pitchFamily="34" charset="-122"/>
                <a:cs typeface="Georgia" panose="02040502050405090303" pitchFamily="34" charset="-120"/>
              </a:rPr>
              <a:t>Saytu Mbeund</a:t>
            </a:r>
            <a:endParaRPr lang="en-US" sz="7800" dirty="0"/>
          </a:p>
        </p:txBody>
      </p:sp>
      <p:sp>
        <p:nvSpPr>
          <p:cNvPr id="7" name="Text 4"/>
          <p:cNvSpPr/>
          <p:nvPr/>
        </p:nvSpPr>
        <p:spPr>
          <a:xfrm>
            <a:off x="777240" y="2788920"/>
            <a:ext cx="10515600" cy="365760"/>
          </a:xfrm>
          <a:prstGeom prst="rect">
            <a:avLst/>
          </a:prstGeom>
          <a:noFill/>
        </p:spPr>
        <p:txBody>
          <a:bodyPr wrap="square" lIns="0" tIns="0" rIns="0" bIns="0" rtlCol="0" anchor="ctr"/>
          <a:lstStyle/>
          <a:p>
            <a:pPr marL="0" indent="0">
              <a:buNone/>
            </a:pPr>
            <a:r>
              <a:rPr lang="en-US" sz="1300" i="1" dirty="0">
                <a:solidFill>
                  <a:srgbClr val="F59E0B"/>
                </a:solidFill>
                <a:latin typeface="Georgia" panose="02040502050405090303" pitchFamily="34" charset="0"/>
                <a:ea typeface="Georgia" panose="02040502050405090303" pitchFamily="34" charset="-122"/>
                <a:cs typeface="Georgia" panose="02040502050405090303" pitchFamily="34" charset="-120"/>
              </a:rPr>
              <a:t>« Veiller sur les inondations »  ·  Plateforme FloodGuardAI</a:t>
            </a:r>
            <a:endParaRPr lang="en-US" sz="1300" dirty="0"/>
          </a:p>
        </p:txBody>
      </p:sp>
      <p:sp>
        <p:nvSpPr>
          <p:cNvPr id="8" name="Text 5"/>
          <p:cNvSpPr/>
          <p:nvPr/>
        </p:nvSpPr>
        <p:spPr>
          <a:xfrm>
            <a:off x="731520" y="3200400"/>
            <a:ext cx="10515600" cy="1097280"/>
          </a:xfrm>
          <a:prstGeom prst="rect">
            <a:avLst/>
          </a:prstGeom>
          <a:noFill/>
        </p:spPr>
        <p:txBody>
          <a:bodyPr wrap="square" lIns="0" tIns="0" rIns="0" bIns="0" rtlCol="0" anchor="ctr"/>
          <a:lstStyle/>
          <a:p>
            <a:pPr marL="0" indent="0">
              <a:buNone/>
            </a:pPr>
            <a:r>
              <a:rPr lang="en-US" sz="2100" i="1" dirty="0">
                <a:solidFill>
                  <a:srgbClr val="FFFFFF"/>
                </a:solidFill>
                <a:latin typeface="Georgia" panose="02040502050405090303" pitchFamily="34" charset="0"/>
                <a:ea typeface="Georgia" panose="02040502050405090303" pitchFamily="34" charset="-122"/>
                <a:cs typeface="Georgia" panose="02040502050405090303" pitchFamily="34" charset="-120"/>
              </a:rPr>
              <a:t>Système intégré de détection, prédiction et gestion</a:t>
            </a:r>
            <a:endParaRPr lang="en-US" sz="2100" dirty="0"/>
          </a:p>
          <a:p>
            <a:pPr marL="0" indent="0">
              <a:buNone/>
            </a:pPr>
            <a:r>
              <a:rPr lang="en-US" sz="2100" i="1" dirty="0">
                <a:solidFill>
                  <a:srgbClr val="FFFFFF"/>
                </a:solidFill>
                <a:latin typeface="Georgia" panose="02040502050405090303" pitchFamily="34" charset="0"/>
                <a:ea typeface="Georgia" panose="02040502050405090303" pitchFamily="34" charset="-122"/>
                <a:cs typeface="Georgia" panose="02040502050405090303" pitchFamily="34" charset="-120"/>
              </a:rPr>
              <a:t>des inondations au Sénégal par Intelligence Artificielle</a:t>
            </a:r>
            <a:endParaRPr lang="en-US" sz="2100" dirty="0"/>
          </a:p>
        </p:txBody>
      </p:sp>
      <p:sp>
        <p:nvSpPr>
          <p:cNvPr id="9" name="Shape 6"/>
          <p:cNvSpPr/>
          <p:nvPr/>
        </p:nvSpPr>
        <p:spPr>
          <a:xfrm>
            <a:off x="731520" y="4251960"/>
            <a:ext cx="73152" cy="457200"/>
          </a:xfrm>
          <a:prstGeom prst="rect">
            <a:avLst/>
          </a:prstGeom>
          <a:solidFill>
            <a:srgbClr val="F59E0B"/>
          </a:solidFill>
          <a:ln w="12700">
            <a:solidFill>
              <a:srgbClr val="F59E0B"/>
            </a:solidFill>
            <a:prstDash val="solid"/>
          </a:ln>
        </p:spPr>
      </p:sp>
      <p:sp>
        <p:nvSpPr>
          <p:cNvPr id="10" name="Text 7"/>
          <p:cNvSpPr/>
          <p:nvPr/>
        </p:nvSpPr>
        <p:spPr>
          <a:xfrm>
            <a:off x="914400" y="4251960"/>
            <a:ext cx="10058400" cy="457200"/>
          </a:xfrm>
          <a:prstGeom prst="rect">
            <a:avLst/>
          </a:prstGeom>
          <a:noFill/>
        </p:spPr>
        <p:txBody>
          <a:bodyPr wrap="square" lIns="0" tIns="0" rIns="0" bIns="0" rtlCol="0" anchor="ctr"/>
          <a:lstStyle/>
          <a:p>
            <a:pPr marL="0" indent="0">
              <a:buNone/>
            </a:pPr>
            <a:r>
              <a:rPr lang="en-US" sz="1600" b="1" dirty="0">
                <a:solidFill>
                  <a:schemeClr val="bg1"/>
                </a:solidFill>
                <a:latin typeface="Calibri" pitchFamily="34" charset="0"/>
                <a:ea typeface="Calibri" pitchFamily="34" charset="-122"/>
                <a:cs typeface="Calibri" pitchFamily="34" charset="-120"/>
              </a:rPr>
              <a:t>Hydraulique  ·  Intelligence Artificielle  ·  Participation Citoyenne</a:t>
            </a:r>
            <a:endParaRPr lang="en-US" sz="1600" b="1" dirty="0">
              <a:solidFill>
                <a:schemeClr val="bg1"/>
              </a:solidFill>
              <a:latin typeface="Calibri" pitchFamily="34" charset="0"/>
              <a:ea typeface="Calibri" pitchFamily="34" charset="-122"/>
              <a:cs typeface="Calibri" pitchFamily="34" charset="-120"/>
            </a:endParaRPr>
          </a:p>
        </p:txBody>
      </p:sp>
      <p:sp>
        <p:nvSpPr>
          <p:cNvPr id="11" name="Shape 8"/>
          <p:cNvSpPr/>
          <p:nvPr/>
        </p:nvSpPr>
        <p:spPr>
          <a:xfrm>
            <a:off x="0" y="5166360"/>
            <a:ext cx="12161520" cy="1691640"/>
          </a:xfrm>
          <a:prstGeom prst="rect">
            <a:avLst/>
          </a:prstGeom>
          <a:solidFill>
            <a:srgbClr val="000000">
              <a:alpha val="30000"/>
            </a:srgbClr>
          </a:solidFill>
          <a:ln w="12700">
            <a:solidFill>
              <a:srgbClr val="000000"/>
            </a:solidFill>
            <a:prstDash val="solid"/>
          </a:ln>
        </p:spPr>
      </p:sp>
      <p:sp>
        <p:nvSpPr>
          <p:cNvPr id="12" name="Text 9"/>
          <p:cNvSpPr/>
          <p:nvPr/>
        </p:nvSpPr>
        <p:spPr>
          <a:xfrm>
            <a:off x="731520" y="5230368"/>
            <a:ext cx="5486400" cy="274320"/>
          </a:xfrm>
          <a:prstGeom prst="rect">
            <a:avLst/>
          </a:prstGeom>
          <a:noFill/>
        </p:spPr>
        <p:txBody>
          <a:bodyPr wrap="square" lIns="0" tIns="0" rIns="0" bIns="0" rtlCol="0" anchor="ctr"/>
          <a:lstStyle/>
          <a:p>
            <a:pPr marL="0" indent="0">
              <a:buNone/>
            </a:pPr>
            <a:r>
              <a:rPr lang="en-US" sz="900" b="1" kern="0" spc="400" dirty="0">
                <a:solidFill>
                  <a:srgbClr val="F59E0B"/>
                </a:solidFill>
                <a:latin typeface="Calibri" pitchFamily="34" charset="0"/>
                <a:ea typeface="Calibri" pitchFamily="34" charset="-122"/>
                <a:cs typeface="Calibri" pitchFamily="34" charset="-120"/>
              </a:rPr>
              <a:t>CO-PORTEURS DU PROJET</a:t>
            </a:r>
            <a:endParaRPr lang="en-US" sz="900" dirty="0"/>
          </a:p>
        </p:txBody>
      </p:sp>
      <p:sp>
        <p:nvSpPr>
          <p:cNvPr id="13" name="Shape 10"/>
          <p:cNvSpPr/>
          <p:nvPr/>
        </p:nvSpPr>
        <p:spPr>
          <a:xfrm>
            <a:off x="731520" y="5577840"/>
            <a:ext cx="73152" cy="1005840"/>
          </a:xfrm>
          <a:prstGeom prst="rect">
            <a:avLst/>
          </a:prstGeom>
          <a:solidFill>
            <a:srgbClr val="0891B2"/>
          </a:solidFill>
          <a:ln w="12700">
            <a:solidFill>
              <a:srgbClr val="0891B2"/>
            </a:solidFill>
            <a:prstDash val="solid"/>
          </a:ln>
        </p:spPr>
      </p:sp>
      <p:sp>
        <p:nvSpPr>
          <p:cNvPr id="14" name="Text 11"/>
          <p:cNvSpPr/>
          <p:nvPr/>
        </p:nvSpPr>
        <p:spPr>
          <a:xfrm>
            <a:off x="960120" y="5577840"/>
            <a:ext cx="5029200" cy="1005840"/>
          </a:xfrm>
          <a:prstGeom prst="rect">
            <a:avLst/>
          </a:prstGeom>
          <a:noFill/>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Adama Sow KÉBÉ</a:t>
            </a:r>
            <a:endParaRPr lang="en-US" sz="1400" dirty="0"/>
          </a:p>
          <a:p>
            <a:pPr marL="0" indent="0">
              <a:buNone/>
            </a:pPr>
            <a:r>
              <a:rPr lang="en-US" sz="1000" i="1" dirty="0">
                <a:solidFill>
                  <a:srgbClr val="42A5F5"/>
                </a:solidFill>
                <a:latin typeface="Calibri" pitchFamily="34" charset="0"/>
                <a:ea typeface="Calibri" pitchFamily="34" charset="-122"/>
                <a:cs typeface="Calibri" pitchFamily="34" charset="-120"/>
              </a:rPr>
              <a:t>Ingénieur en Hydraulique &amp; Assainissement</a:t>
            </a:r>
            <a:endParaRPr lang="en-US" sz="1400" dirty="0"/>
          </a:p>
          <a:p>
            <a:pPr marL="0" indent="0">
              <a:buNone/>
            </a:pPr>
            <a:r>
              <a:rPr lang="en-US" sz="900" dirty="0">
                <a:solidFill>
                  <a:srgbClr val="94A3B8"/>
                </a:solidFill>
                <a:latin typeface="Calibri" pitchFamily="34" charset="0"/>
                <a:ea typeface="Calibri" pitchFamily="34" charset="-122"/>
                <a:cs typeface="Calibri" pitchFamily="34" charset="-120"/>
              </a:rPr>
              <a:t>Yaatal Digital  ·  kebeadama100@gmail.com</a:t>
            </a:r>
            <a:endParaRPr lang="en-US" sz="1400" dirty="0"/>
          </a:p>
        </p:txBody>
      </p:sp>
      <p:sp>
        <p:nvSpPr>
          <p:cNvPr id="15" name="Shape 12"/>
          <p:cNvSpPr/>
          <p:nvPr/>
        </p:nvSpPr>
        <p:spPr>
          <a:xfrm>
            <a:off x="6126480" y="5577840"/>
            <a:ext cx="73152" cy="1005840"/>
          </a:xfrm>
          <a:prstGeom prst="rect">
            <a:avLst/>
          </a:prstGeom>
          <a:solidFill>
            <a:srgbClr val="7C3AED"/>
          </a:solidFill>
          <a:ln w="12700">
            <a:solidFill>
              <a:srgbClr val="7C3AED"/>
            </a:solidFill>
            <a:prstDash val="solid"/>
          </a:ln>
        </p:spPr>
      </p:sp>
      <p:sp>
        <p:nvSpPr>
          <p:cNvPr id="16" name="Text 13"/>
          <p:cNvSpPr/>
          <p:nvPr/>
        </p:nvSpPr>
        <p:spPr>
          <a:xfrm>
            <a:off x="6355080" y="5577840"/>
            <a:ext cx="5029200" cy="1005840"/>
          </a:xfrm>
          <a:prstGeom prst="rect">
            <a:avLst/>
          </a:prstGeom>
          <a:noFill/>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Papa Ahmadou Seydou SOW</a:t>
            </a:r>
            <a:endParaRPr lang="en-US" sz="1400" dirty="0"/>
          </a:p>
          <a:p>
            <a:pPr marL="0" indent="0">
              <a:buNone/>
            </a:pPr>
            <a:r>
              <a:rPr lang="en-US" sz="1000" i="1" dirty="0">
                <a:solidFill>
                  <a:srgbClr val="42A5F5"/>
                </a:solidFill>
                <a:latin typeface="Calibri" pitchFamily="34" charset="0"/>
                <a:ea typeface="Calibri" pitchFamily="34" charset="-122"/>
                <a:cs typeface="Calibri" pitchFamily="34" charset="-120"/>
              </a:rPr>
              <a:t>Ingénieur en Intelligence Artificielle &amp; SmartTech</a:t>
            </a:r>
            <a:endParaRPr lang="en-US" sz="1400" dirty="0"/>
          </a:p>
          <a:p>
            <a:pPr marL="0" indent="0">
              <a:buNone/>
            </a:pPr>
            <a:r>
              <a:rPr lang="en-US" sz="900" dirty="0">
                <a:solidFill>
                  <a:srgbClr val="94A3B8"/>
                </a:solidFill>
                <a:latin typeface="Calibri" pitchFamily="34" charset="0"/>
                <a:ea typeface="Calibri" pitchFamily="34" charset="-122"/>
                <a:cs typeface="Calibri" pitchFamily="34" charset="-120"/>
              </a:rPr>
              <a:t>Yaatal Digital  ·  paseydou.sow@univ-thies.sn</a:t>
            </a:r>
            <a:endParaRPr lang="en-US" sz="1400" dirty="0"/>
          </a:p>
        </p:txBody>
      </p:sp>
      <p:sp>
        <p:nvSpPr>
          <p:cNvPr id="17" name="Text 14"/>
          <p:cNvSpPr/>
          <p:nvPr/>
        </p:nvSpPr>
        <p:spPr>
          <a:xfrm>
            <a:off x="10515600" y="6400800"/>
            <a:ext cx="1371600" cy="320040"/>
          </a:xfrm>
          <a:prstGeom prst="rect">
            <a:avLst/>
          </a:prstGeom>
          <a:noFill/>
        </p:spPr>
        <p:txBody>
          <a:bodyPr wrap="square" lIns="0" tIns="0" rIns="0" bIns="0" rtlCol="0" anchor="ctr"/>
          <a:lstStyle/>
          <a:p>
            <a:pPr marL="0" indent="0" algn="r">
              <a:buNone/>
            </a:pPr>
            <a:r>
              <a:rPr lang="en-US" sz="1000" dirty="0">
                <a:solidFill>
                  <a:srgbClr val="94A3B8"/>
                </a:solidFill>
                <a:latin typeface="Calibri" pitchFamily="34" charset="0"/>
                <a:ea typeface="Calibri" pitchFamily="34" charset="-122"/>
                <a:cs typeface="Calibri" pitchFamily="34" charset="-120"/>
              </a:rPr>
              <a:t>Mai 2026</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548640" y="411480"/>
            <a:ext cx="7315200" cy="320040"/>
          </a:xfrm>
          <a:prstGeom prst="rect">
            <a:avLst/>
          </a:prstGeom>
          <a:noFill/>
        </p:spPr>
        <p:txBody>
          <a:bodyPr wrap="square" lIns="0" tIns="0" rIns="0" bIns="0" rtlCol="0" anchor="ctr"/>
          <a:lstStyle/>
          <a:p>
            <a:pPr marL="0" indent="0">
              <a:buNone/>
            </a:pPr>
            <a:r>
              <a:rPr lang="en-US" sz="1100" b="1" kern="0" spc="400" dirty="0">
                <a:solidFill>
                  <a:srgbClr val="1565C0"/>
                </a:solidFill>
                <a:latin typeface="Calibri" pitchFamily="34" charset="0"/>
                <a:ea typeface="Calibri" pitchFamily="34" charset="-122"/>
                <a:cs typeface="Calibri" pitchFamily="34" charset="-120"/>
              </a:rPr>
              <a:t>LE CONSTAT</a:t>
            </a:r>
            <a:endParaRPr lang="en-US" sz="1100" dirty="0"/>
          </a:p>
        </p:txBody>
      </p:sp>
      <p:sp>
        <p:nvSpPr>
          <p:cNvPr id="3" name="Text 1"/>
          <p:cNvSpPr/>
          <p:nvPr/>
        </p:nvSpPr>
        <p:spPr>
          <a:xfrm>
            <a:off x="548640" y="713232"/>
            <a:ext cx="10058400" cy="777240"/>
          </a:xfrm>
          <a:prstGeom prst="rect">
            <a:avLst/>
          </a:prstGeom>
          <a:noFill/>
        </p:spPr>
        <p:txBody>
          <a:bodyPr wrap="square" lIns="0" tIns="0" rIns="0" bIns="0" rtlCol="0" anchor="ctr"/>
          <a:lstStyle/>
          <a:p>
            <a:pPr marL="0" indent="0">
              <a:buNone/>
            </a:pPr>
            <a:r>
              <a:rPr lang="en-US" sz="3000" b="1" dirty="0">
                <a:solidFill>
                  <a:srgbClr val="0D47A1"/>
                </a:solidFill>
                <a:latin typeface="Georgia" panose="02040502050405090303" pitchFamily="34" charset="0"/>
                <a:ea typeface="Georgia" panose="02040502050405090303" pitchFamily="34" charset="-122"/>
                <a:cs typeface="Georgia" panose="02040502050405090303" pitchFamily="34" charset="-120"/>
              </a:rPr>
              <a:t>Un risque structurel, un coût hors de contrôle</a:t>
            </a:r>
            <a:endParaRPr lang="en-US" sz="3000" dirty="0"/>
          </a:p>
        </p:txBody>
      </p:sp>
      <p:sp>
        <p:nvSpPr>
          <p:cNvPr id="4" name="Shape 2"/>
          <p:cNvSpPr/>
          <p:nvPr/>
        </p:nvSpPr>
        <p:spPr>
          <a:xfrm>
            <a:off x="548640" y="1517904"/>
            <a:ext cx="164592" cy="164592"/>
          </a:xfrm>
          <a:prstGeom prst="ellipse">
            <a:avLst/>
          </a:prstGeom>
          <a:solidFill>
            <a:srgbClr val="F59E0B"/>
          </a:solidFill>
          <a:ln w="12700">
            <a:solidFill>
              <a:srgbClr val="F59E0B"/>
            </a:solidFill>
            <a:prstDash val="solid"/>
          </a:ln>
        </p:spPr>
      </p:sp>
      <p:sp>
        <p:nvSpPr>
          <p:cNvPr id="5" name="Shape 3"/>
          <p:cNvSpPr/>
          <p:nvPr/>
        </p:nvSpPr>
        <p:spPr>
          <a:xfrm>
            <a:off x="777240" y="1517904"/>
            <a:ext cx="164592" cy="164592"/>
          </a:xfrm>
          <a:prstGeom prst="ellipse">
            <a:avLst/>
          </a:prstGeom>
          <a:solidFill>
            <a:srgbClr val="1565C0"/>
          </a:solidFill>
          <a:ln w="12700">
            <a:solidFill>
              <a:srgbClr val="1565C0"/>
            </a:solidFill>
            <a:prstDash val="solid"/>
          </a:ln>
        </p:spPr>
      </p:sp>
      <p:sp>
        <p:nvSpPr>
          <p:cNvPr id="6" name="Shape 4"/>
          <p:cNvSpPr/>
          <p:nvPr/>
        </p:nvSpPr>
        <p:spPr>
          <a:xfrm>
            <a:off x="1005840" y="1517904"/>
            <a:ext cx="164592" cy="164592"/>
          </a:xfrm>
          <a:prstGeom prst="ellipse">
            <a:avLst/>
          </a:prstGeom>
          <a:solidFill>
            <a:srgbClr val="E2E8F0"/>
          </a:solidFill>
          <a:ln w="12700">
            <a:solidFill>
              <a:srgbClr val="E2E8F0"/>
            </a:solidFill>
            <a:prstDash val="solid"/>
          </a:ln>
        </p:spPr>
      </p:sp>
      <p:sp>
        <p:nvSpPr>
          <p:cNvPr id="7" name="Shape 5"/>
          <p:cNvSpPr/>
          <p:nvPr/>
        </p:nvSpPr>
        <p:spPr>
          <a:xfrm>
            <a:off x="9692640" y="411480"/>
            <a:ext cx="1920240" cy="411480"/>
          </a:xfrm>
          <a:prstGeom prst="roundRect">
            <a:avLst>
              <a:gd name="adj" fmla="val 11111"/>
            </a:avLst>
          </a:prstGeom>
          <a:solidFill>
            <a:srgbClr val="0891B2"/>
          </a:solidFill>
          <a:ln w="12700">
            <a:solidFill>
              <a:srgbClr val="0891B2"/>
            </a:solidFill>
            <a:prstDash val="solid"/>
          </a:ln>
        </p:spPr>
      </p:sp>
      <p:sp>
        <p:nvSpPr>
          <p:cNvPr id="8" name="Text 6"/>
          <p:cNvSpPr/>
          <p:nvPr/>
        </p:nvSpPr>
        <p:spPr>
          <a:xfrm>
            <a:off x="9692640" y="411480"/>
            <a:ext cx="1920240" cy="411480"/>
          </a:xfrm>
          <a:prstGeom prst="rect">
            <a:avLst/>
          </a:prstGeom>
          <a:noFill/>
        </p:spPr>
        <p:txBody>
          <a:bodyPr wrap="square" lIns="0" tIns="0" rIns="0" bIns="0" rtlCol="0" anchor="ctr"/>
          <a:lstStyle/>
          <a:p>
            <a:pPr marL="0" indent="0" algn="ctr">
              <a:buNone/>
            </a:pPr>
            <a:r>
              <a:rPr lang="en-US" sz="1000" b="1" kern="0" spc="200" dirty="0">
                <a:solidFill>
                  <a:srgbClr val="FFFFFF"/>
                </a:solidFill>
                <a:latin typeface="Calibri" pitchFamily="34" charset="0"/>
                <a:ea typeface="Calibri" pitchFamily="34" charset="-122"/>
                <a:cs typeface="Calibri" pitchFamily="34" charset="-120"/>
              </a:rPr>
              <a:t>ADAMA  ·  CONTEXTE</a:t>
            </a:r>
            <a:endParaRPr lang="en-US" sz="1000" dirty="0"/>
          </a:p>
        </p:txBody>
      </p:sp>
      <p:sp>
        <p:nvSpPr>
          <p:cNvPr id="9" name="Text 7"/>
          <p:cNvSpPr/>
          <p:nvPr/>
        </p:nvSpPr>
        <p:spPr>
          <a:xfrm>
            <a:off x="548640" y="1874520"/>
            <a:ext cx="11064240" cy="640080"/>
          </a:xfrm>
          <a:prstGeom prst="rect">
            <a:avLst/>
          </a:prstGeom>
          <a:noFill/>
        </p:spPr>
        <p:txBody>
          <a:bodyPr wrap="square" lIns="0" tIns="0" rIns="0" bIns="0" rtlCol="0" anchor="ctr"/>
          <a:lstStyle/>
          <a:p>
            <a:pPr marL="0" indent="0">
              <a:buNone/>
            </a:pPr>
            <a:r>
              <a:rPr lang="en-US" sz="1300" i="1" dirty="0">
                <a:solidFill>
                  <a:srgbClr val="475569"/>
                </a:solidFill>
                <a:latin typeface="Calibri" pitchFamily="34" charset="0"/>
                <a:ea typeface="Calibri" pitchFamily="34" charset="-122"/>
                <a:cs typeface="Calibri" pitchFamily="34" charset="-120"/>
              </a:rPr>
              <a:t>Au Sénégal, les inondations ne sont plus un aléa saisonnier mais un risque structurel. Les épisodes majeurs de 2005, 2009, 2012 et 2024 ont révélé un système de réponse encore trop largement réactif.</a:t>
            </a:r>
            <a:endParaRPr lang="en-US" sz="1300" dirty="0"/>
          </a:p>
        </p:txBody>
      </p:sp>
      <p:sp>
        <p:nvSpPr>
          <p:cNvPr id="10" name="Shape 8"/>
          <p:cNvSpPr/>
          <p:nvPr/>
        </p:nvSpPr>
        <p:spPr>
          <a:xfrm>
            <a:off x="525780" y="2743200"/>
            <a:ext cx="2606040" cy="2286000"/>
          </a:xfrm>
          <a:prstGeom prst="rect">
            <a:avLst/>
          </a:prstGeom>
          <a:solidFill>
            <a:srgbClr val="FFFFFF"/>
          </a:solidFill>
          <a:ln w="12700">
            <a:solidFill>
              <a:srgbClr val="E2E8F0"/>
            </a:solidFill>
            <a:prstDash val="solid"/>
          </a:ln>
          <a:effectLst>
            <a:outerShdw blurRad="101600" dist="25400" dir="5400000" algn="bl" rotWithShape="0">
              <a:srgbClr val="000000">
                <a:alpha val="10000"/>
              </a:srgbClr>
            </a:outerShdw>
          </a:effectLst>
        </p:spPr>
      </p:sp>
      <p:sp>
        <p:nvSpPr>
          <p:cNvPr id="11" name="Shape 9"/>
          <p:cNvSpPr/>
          <p:nvPr/>
        </p:nvSpPr>
        <p:spPr>
          <a:xfrm>
            <a:off x="525780" y="2743200"/>
            <a:ext cx="2606040" cy="73152"/>
          </a:xfrm>
          <a:prstGeom prst="rect">
            <a:avLst/>
          </a:prstGeom>
          <a:solidFill>
            <a:srgbClr val="DC2626"/>
          </a:solidFill>
          <a:ln w="12700">
            <a:solidFill>
              <a:srgbClr val="DC2626"/>
            </a:solidFill>
            <a:prstDash val="solid"/>
          </a:ln>
        </p:spPr>
      </p:sp>
      <p:sp>
        <p:nvSpPr>
          <p:cNvPr id="12" name="Shape 10"/>
          <p:cNvSpPr/>
          <p:nvPr/>
        </p:nvSpPr>
        <p:spPr>
          <a:xfrm>
            <a:off x="1463040" y="3017520"/>
            <a:ext cx="731520" cy="731520"/>
          </a:xfrm>
          <a:prstGeom prst="ellipse">
            <a:avLst/>
          </a:prstGeom>
          <a:solidFill>
            <a:srgbClr val="FEE2E2"/>
          </a:solidFill>
          <a:ln w="12700">
            <a:solidFill>
              <a:srgbClr val="FECACA"/>
            </a:solidFill>
            <a:prstDash val="solid"/>
          </a:ln>
        </p:spPr>
      </p:sp>
      <p:pic>
        <p:nvPicPr>
          <p:cNvPr id="13" name="Image 0" descr="preencoded.png"/>
          <p:cNvPicPr>
            <a:picLocks noChangeAspect="1"/>
          </p:cNvPicPr>
          <p:nvPr/>
        </p:nvPicPr>
        <p:blipFill>
          <a:blip r:embed="rId1"/>
          <a:stretch>
            <a:fillRect/>
          </a:stretch>
        </p:blipFill>
        <p:spPr>
          <a:xfrm>
            <a:off x="1600200" y="3154680"/>
            <a:ext cx="457200" cy="457200"/>
          </a:xfrm>
          <a:prstGeom prst="rect">
            <a:avLst/>
          </a:prstGeom>
        </p:spPr>
      </p:pic>
      <p:sp>
        <p:nvSpPr>
          <p:cNvPr id="14" name="Text 11"/>
          <p:cNvSpPr/>
          <p:nvPr/>
        </p:nvSpPr>
        <p:spPr>
          <a:xfrm>
            <a:off x="617220" y="3840480"/>
            <a:ext cx="2423160" cy="640080"/>
          </a:xfrm>
          <a:prstGeom prst="rect">
            <a:avLst/>
          </a:prstGeom>
          <a:noFill/>
        </p:spPr>
        <p:txBody>
          <a:bodyPr wrap="square" lIns="0" tIns="0" rIns="0" bIns="0" rtlCol="0" anchor="ctr"/>
          <a:lstStyle/>
          <a:p>
            <a:pPr marL="0" indent="0" algn="ctr">
              <a:buNone/>
            </a:pPr>
            <a:r>
              <a:rPr lang="en-US" sz="2400" b="1" dirty="0">
                <a:solidFill>
                  <a:srgbClr val="0D47A1"/>
                </a:solidFill>
                <a:latin typeface="Georgia" panose="02040502050405090303" pitchFamily="34" charset="0"/>
                <a:ea typeface="Georgia" panose="02040502050405090303" pitchFamily="34" charset="-122"/>
                <a:cs typeface="Georgia" panose="02040502050405090303" pitchFamily="34" charset="-120"/>
              </a:rPr>
              <a:t>+500 Mds</a:t>
            </a:r>
            <a:endParaRPr lang="en-US" sz="2400" dirty="0"/>
          </a:p>
          <a:p>
            <a:pPr marL="0" indent="0" algn="ctr">
              <a:buNone/>
            </a:pPr>
            <a:r>
              <a:rPr lang="en-US" sz="1000" i="1" dirty="0">
                <a:solidFill>
                  <a:srgbClr val="94A3B8"/>
                </a:solidFill>
                <a:latin typeface="Calibri" pitchFamily="34" charset="0"/>
                <a:ea typeface="Calibri" pitchFamily="34" charset="-122"/>
                <a:cs typeface="Calibri" pitchFamily="34" charset="-120"/>
              </a:rPr>
              <a:t>FCFA</a:t>
            </a:r>
            <a:endParaRPr lang="en-US" sz="2400" dirty="0"/>
          </a:p>
        </p:txBody>
      </p:sp>
      <p:sp>
        <p:nvSpPr>
          <p:cNvPr id="15" name="Text 12"/>
          <p:cNvSpPr/>
          <p:nvPr/>
        </p:nvSpPr>
        <p:spPr>
          <a:xfrm>
            <a:off x="662940" y="4498848"/>
            <a:ext cx="2331720" cy="457200"/>
          </a:xfrm>
          <a:prstGeom prst="rect">
            <a:avLst/>
          </a:prstGeom>
          <a:noFill/>
        </p:spPr>
        <p:txBody>
          <a:bodyPr wrap="square" lIns="0" tIns="0" rIns="0" bIns="0" rtlCol="0" anchor="ctr"/>
          <a:lstStyle/>
          <a:p>
            <a:pPr marL="0" indent="0" algn="ctr">
              <a:buNone/>
            </a:pPr>
            <a:r>
              <a:rPr lang="en-US" sz="1000" dirty="0">
                <a:solidFill>
                  <a:srgbClr val="475569"/>
                </a:solidFill>
                <a:latin typeface="Calibri" pitchFamily="34" charset="0"/>
                <a:ea typeface="Calibri" pitchFamily="34" charset="-122"/>
                <a:cs typeface="Calibri" pitchFamily="34" charset="-120"/>
              </a:rPr>
              <a:t>de pertes cumulées entre 2005 et 2020 (OCHA 2012)</a:t>
            </a:r>
            <a:endParaRPr lang="en-US" sz="1000" dirty="0"/>
          </a:p>
        </p:txBody>
      </p:sp>
      <p:sp>
        <p:nvSpPr>
          <p:cNvPr id="16" name="Shape 13"/>
          <p:cNvSpPr/>
          <p:nvPr/>
        </p:nvSpPr>
        <p:spPr>
          <a:xfrm>
            <a:off x="3360420" y="2743200"/>
            <a:ext cx="2606040" cy="2286000"/>
          </a:xfrm>
          <a:prstGeom prst="rect">
            <a:avLst/>
          </a:prstGeom>
          <a:solidFill>
            <a:srgbClr val="FFFFFF"/>
          </a:solidFill>
          <a:ln w="12700">
            <a:solidFill>
              <a:srgbClr val="E2E8F0"/>
            </a:solidFill>
            <a:prstDash val="solid"/>
          </a:ln>
          <a:effectLst>
            <a:outerShdw blurRad="101600" dist="25400" dir="5400000" algn="bl" rotWithShape="0">
              <a:srgbClr val="000000">
                <a:alpha val="10000"/>
              </a:srgbClr>
            </a:outerShdw>
          </a:effectLst>
        </p:spPr>
      </p:sp>
      <p:sp>
        <p:nvSpPr>
          <p:cNvPr id="17" name="Shape 14"/>
          <p:cNvSpPr/>
          <p:nvPr/>
        </p:nvSpPr>
        <p:spPr>
          <a:xfrm>
            <a:off x="3360420" y="2743200"/>
            <a:ext cx="2606040" cy="73152"/>
          </a:xfrm>
          <a:prstGeom prst="rect">
            <a:avLst/>
          </a:prstGeom>
          <a:solidFill>
            <a:srgbClr val="DC2626"/>
          </a:solidFill>
          <a:ln w="12700">
            <a:solidFill>
              <a:srgbClr val="DC2626"/>
            </a:solidFill>
            <a:prstDash val="solid"/>
          </a:ln>
        </p:spPr>
      </p:sp>
      <p:sp>
        <p:nvSpPr>
          <p:cNvPr id="18" name="Shape 15"/>
          <p:cNvSpPr/>
          <p:nvPr/>
        </p:nvSpPr>
        <p:spPr>
          <a:xfrm>
            <a:off x="4297680" y="3017520"/>
            <a:ext cx="731520" cy="731520"/>
          </a:xfrm>
          <a:prstGeom prst="ellipse">
            <a:avLst/>
          </a:prstGeom>
          <a:solidFill>
            <a:srgbClr val="FEE2E2"/>
          </a:solidFill>
          <a:ln w="12700">
            <a:solidFill>
              <a:srgbClr val="FECACA"/>
            </a:solidFill>
            <a:prstDash val="solid"/>
          </a:ln>
        </p:spPr>
      </p:sp>
      <p:pic>
        <p:nvPicPr>
          <p:cNvPr id="19" name="Image 1" descr="preencoded.png"/>
          <p:cNvPicPr>
            <a:picLocks noChangeAspect="1"/>
          </p:cNvPicPr>
          <p:nvPr/>
        </p:nvPicPr>
        <p:blipFill>
          <a:blip r:embed="rId2"/>
          <a:stretch>
            <a:fillRect/>
          </a:stretch>
        </p:blipFill>
        <p:spPr>
          <a:xfrm>
            <a:off x="4434840" y="3154680"/>
            <a:ext cx="457200" cy="457200"/>
          </a:xfrm>
          <a:prstGeom prst="rect">
            <a:avLst/>
          </a:prstGeom>
        </p:spPr>
      </p:pic>
      <p:sp>
        <p:nvSpPr>
          <p:cNvPr id="20" name="Text 16"/>
          <p:cNvSpPr/>
          <p:nvPr/>
        </p:nvSpPr>
        <p:spPr>
          <a:xfrm>
            <a:off x="3451860" y="3840480"/>
            <a:ext cx="2423160" cy="640080"/>
          </a:xfrm>
          <a:prstGeom prst="rect">
            <a:avLst/>
          </a:prstGeom>
          <a:noFill/>
        </p:spPr>
        <p:txBody>
          <a:bodyPr wrap="square" lIns="0" tIns="0" rIns="0" bIns="0" rtlCol="0" anchor="ctr"/>
          <a:lstStyle/>
          <a:p>
            <a:pPr marL="0" indent="0" algn="ctr">
              <a:buNone/>
            </a:pPr>
            <a:r>
              <a:rPr lang="en-US" sz="2400" b="1" dirty="0">
                <a:solidFill>
                  <a:srgbClr val="0D47A1"/>
                </a:solidFill>
                <a:latin typeface="Georgia" panose="02040502050405090303" pitchFamily="34" charset="0"/>
                <a:ea typeface="Georgia" panose="02040502050405090303" pitchFamily="34" charset="-122"/>
                <a:cs typeface="Georgia" panose="02040502050405090303" pitchFamily="34" charset="-120"/>
              </a:rPr>
              <a:t>≈ 5 %</a:t>
            </a:r>
            <a:endParaRPr lang="en-US" sz="2400" dirty="0"/>
          </a:p>
          <a:p>
            <a:pPr marL="0" indent="0" algn="ctr">
              <a:buNone/>
            </a:pPr>
            <a:r>
              <a:rPr lang="en-US" sz="1000" i="1" dirty="0">
                <a:solidFill>
                  <a:srgbClr val="94A3B8"/>
                </a:solidFill>
                <a:latin typeface="Calibri" pitchFamily="34" charset="0"/>
                <a:ea typeface="Calibri" pitchFamily="34" charset="-122"/>
                <a:cs typeface="Calibri" pitchFamily="34" charset="-120"/>
              </a:rPr>
              <a:t>du PIB</a:t>
            </a:r>
            <a:endParaRPr lang="en-US" sz="2400" dirty="0"/>
          </a:p>
        </p:txBody>
      </p:sp>
      <p:sp>
        <p:nvSpPr>
          <p:cNvPr id="21" name="Text 17"/>
          <p:cNvSpPr/>
          <p:nvPr/>
        </p:nvSpPr>
        <p:spPr>
          <a:xfrm>
            <a:off x="3497580" y="4498848"/>
            <a:ext cx="2331720" cy="457200"/>
          </a:xfrm>
          <a:prstGeom prst="rect">
            <a:avLst/>
          </a:prstGeom>
          <a:noFill/>
        </p:spPr>
        <p:txBody>
          <a:bodyPr wrap="square" lIns="0" tIns="0" rIns="0" bIns="0" rtlCol="0" anchor="ctr"/>
          <a:lstStyle/>
          <a:p>
            <a:pPr marL="0" indent="0" algn="ctr">
              <a:buNone/>
            </a:pPr>
            <a:r>
              <a:rPr lang="en-US" sz="1000" dirty="0">
                <a:solidFill>
                  <a:srgbClr val="475569"/>
                </a:solidFill>
                <a:latin typeface="Calibri" pitchFamily="34" charset="0"/>
                <a:ea typeface="Calibri" pitchFamily="34" charset="-122"/>
                <a:cs typeface="Calibri" pitchFamily="34" charset="-120"/>
              </a:rPr>
              <a:t>du Sénégal absorbé par les épisodes majeurs</a:t>
            </a:r>
            <a:endParaRPr lang="en-US" sz="1000" dirty="0"/>
          </a:p>
        </p:txBody>
      </p:sp>
      <p:sp>
        <p:nvSpPr>
          <p:cNvPr id="22" name="Shape 18"/>
          <p:cNvSpPr/>
          <p:nvPr/>
        </p:nvSpPr>
        <p:spPr>
          <a:xfrm>
            <a:off x="6195060" y="2743200"/>
            <a:ext cx="2606040" cy="2286000"/>
          </a:xfrm>
          <a:prstGeom prst="rect">
            <a:avLst/>
          </a:prstGeom>
          <a:solidFill>
            <a:srgbClr val="FFFFFF"/>
          </a:solidFill>
          <a:ln w="12700">
            <a:solidFill>
              <a:srgbClr val="E2E8F0"/>
            </a:solidFill>
            <a:prstDash val="solid"/>
          </a:ln>
          <a:effectLst>
            <a:outerShdw blurRad="101600" dist="25400" dir="5400000" algn="bl" rotWithShape="0">
              <a:srgbClr val="000000">
                <a:alpha val="10000"/>
              </a:srgbClr>
            </a:outerShdw>
          </a:effectLst>
        </p:spPr>
      </p:sp>
      <p:sp>
        <p:nvSpPr>
          <p:cNvPr id="23" name="Shape 19"/>
          <p:cNvSpPr/>
          <p:nvPr/>
        </p:nvSpPr>
        <p:spPr>
          <a:xfrm>
            <a:off x="6195060" y="2743200"/>
            <a:ext cx="2606040" cy="73152"/>
          </a:xfrm>
          <a:prstGeom prst="rect">
            <a:avLst/>
          </a:prstGeom>
          <a:solidFill>
            <a:srgbClr val="DC2626"/>
          </a:solidFill>
          <a:ln w="12700">
            <a:solidFill>
              <a:srgbClr val="DC2626"/>
            </a:solidFill>
            <a:prstDash val="solid"/>
          </a:ln>
        </p:spPr>
      </p:sp>
      <p:sp>
        <p:nvSpPr>
          <p:cNvPr id="24" name="Shape 20"/>
          <p:cNvSpPr/>
          <p:nvPr/>
        </p:nvSpPr>
        <p:spPr>
          <a:xfrm>
            <a:off x="7132320" y="3017520"/>
            <a:ext cx="731520" cy="731520"/>
          </a:xfrm>
          <a:prstGeom prst="ellipse">
            <a:avLst/>
          </a:prstGeom>
          <a:solidFill>
            <a:srgbClr val="FEE2E2"/>
          </a:solidFill>
          <a:ln w="12700">
            <a:solidFill>
              <a:srgbClr val="FECACA"/>
            </a:solidFill>
            <a:prstDash val="solid"/>
          </a:ln>
        </p:spPr>
      </p:sp>
      <p:pic>
        <p:nvPicPr>
          <p:cNvPr id="25" name="Image 2" descr="preencoded.png"/>
          <p:cNvPicPr>
            <a:picLocks noChangeAspect="1"/>
          </p:cNvPicPr>
          <p:nvPr/>
        </p:nvPicPr>
        <p:blipFill>
          <a:blip r:embed="rId3"/>
          <a:stretch>
            <a:fillRect/>
          </a:stretch>
        </p:blipFill>
        <p:spPr>
          <a:xfrm>
            <a:off x="7269480" y="3154680"/>
            <a:ext cx="457200" cy="457200"/>
          </a:xfrm>
          <a:prstGeom prst="rect">
            <a:avLst/>
          </a:prstGeom>
        </p:spPr>
      </p:pic>
      <p:sp>
        <p:nvSpPr>
          <p:cNvPr id="26" name="Text 21"/>
          <p:cNvSpPr/>
          <p:nvPr/>
        </p:nvSpPr>
        <p:spPr>
          <a:xfrm>
            <a:off x="6286500" y="3840480"/>
            <a:ext cx="2423160" cy="640080"/>
          </a:xfrm>
          <a:prstGeom prst="rect">
            <a:avLst/>
          </a:prstGeom>
          <a:noFill/>
        </p:spPr>
        <p:txBody>
          <a:bodyPr wrap="square" lIns="0" tIns="0" rIns="0" bIns="0" rtlCol="0" anchor="ctr"/>
          <a:lstStyle/>
          <a:p>
            <a:pPr marL="0" indent="0" algn="ctr">
              <a:buNone/>
            </a:pPr>
            <a:r>
              <a:rPr lang="en-US" sz="2400" b="1" dirty="0">
                <a:solidFill>
                  <a:srgbClr val="0D47A1"/>
                </a:solidFill>
                <a:latin typeface="Georgia" panose="02040502050405090303" pitchFamily="34" charset="0"/>
                <a:ea typeface="Georgia" panose="02040502050405090303" pitchFamily="34" charset="-122"/>
                <a:cs typeface="Georgia" panose="02040502050405090303" pitchFamily="34" charset="-120"/>
              </a:rPr>
              <a:t>6+</a:t>
            </a:r>
            <a:endParaRPr lang="en-US" sz="2400" dirty="0"/>
          </a:p>
          <a:p>
            <a:pPr marL="0" indent="0" algn="ctr">
              <a:buNone/>
            </a:pPr>
            <a:r>
              <a:rPr lang="en-US" sz="1000" i="1" dirty="0">
                <a:solidFill>
                  <a:srgbClr val="94A3B8"/>
                </a:solidFill>
                <a:latin typeface="Calibri" pitchFamily="34" charset="0"/>
                <a:ea typeface="Calibri" pitchFamily="34" charset="-122"/>
                <a:cs typeface="Calibri" pitchFamily="34" charset="-120"/>
              </a:rPr>
              <a:t>régions</a:t>
            </a:r>
            <a:endParaRPr lang="en-US" sz="2400" dirty="0"/>
          </a:p>
        </p:txBody>
      </p:sp>
      <p:sp>
        <p:nvSpPr>
          <p:cNvPr id="27" name="Text 22"/>
          <p:cNvSpPr/>
          <p:nvPr/>
        </p:nvSpPr>
        <p:spPr>
          <a:xfrm>
            <a:off x="6332220" y="4498848"/>
            <a:ext cx="2331720" cy="457200"/>
          </a:xfrm>
          <a:prstGeom prst="rect">
            <a:avLst/>
          </a:prstGeom>
          <a:noFill/>
        </p:spPr>
        <p:txBody>
          <a:bodyPr wrap="square" lIns="0" tIns="0" rIns="0" bIns="0" rtlCol="0" anchor="ctr"/>
          <a:lstStyle/>
          <a:p>
            <a:pPr marL="0" indent="0" algn="ctr">
              <a:buNone/>
            </a:pPr>
            <a:r>
              <a:rPr lang="en-US" sz="1000" dirty="0">
                <a:solidFill>
                  <a:srgbClr val="475569"/>
                </a:solidFill>
                <a:latin typeface="Calibri" pitchFamily="34" charset="0"/>
                <a:ea typeface="Calibri" pitchFamily="34" charset="-122"/>
                <a:cs typeface="Calibri" pitchFamily="34" charset="-120"/>
              </a:rPr>
              <a:t>Dakar, Pikine, Keur Massar, Touba, Kaolack, Matam…</a:t>
            </a:r>
            <a:endParaRPr lang="en-US" sz="1000" dirty="0"/>
          </a:p>
        </p:txBody>
      </p:sp>
      <p:sp>
        <p:nvSpPr>
          <p:cNvPr id="28" name="Shape 23"/>
          <p:cNvSpPr/>
          <p:nvPr/>
        </p:nvSpPr>
        <p:spPr>
          <a:xfrm>
            <a:off x="9029700" y="2743200"/>
            <a:ext cx="2606040" cy="2286000"/>
          </a:xfrm>
          <a:prstGeom prst="rect">
            <a:avLst/>
          </a:prstGeom>
          <a:solidFill>
            <a:srgbClr val="FFFFFF"/>
          </a:solidFill>
          <a:ln w="12700">
            <a:solidFill>
              <a:srgbClr val="E2E8F0"/>
            </a:solidFill>
            <a:prstDash val="solid"/>
          </a:ln>
          <a:effectLst>
            <a:outerShdw blurRad="101600" dist="25400" dir="5400000" algn="bl" rotWithShape="0">
              <a:srgbClr val="000000">
                <a:alpha val="10000"/>
              </a:srgbClr>
            </a:outerShdw>
          </a:effectLst>
        </p:spPr>
      </p:sp>
      <p:sp>
        <p:nvSpPr>
          <p:cNvPr id="29" name="Shape 24"/>
          <p:cNvSpPr/>
          <p:nvPr/>
        </p:nvSpPr>
        <p:spPr>
          <a:xfrm>
            <a:off x="9029700" y="2743200"/>
            <a:ext cx="2606040" cy="73152"/>
          </a:xfrm>
          <a:prstGeom prst="rect">
            <a:avLst/>
          </a:prstGeom>
          <a:solidFill>
            <a:srgbClr val="DC2626"/>
          </a:solidFill>
          <a:ln w="12700">
            <a:solidFill>
              <a:srgbClr val="DC2626"/>
            </a:solidFill>
            <a:prstDash val="solid"/>
          </a:ln>
        </p:spPr>
      </p:sp>
      <p:sp>
        <p:nvSpPr>
          <p:cNvPr id="30" name="Shape 25"/>
          <p:cNvSpPr/>
          <p:nvPr/>
        </p:nvSpPr>
        <p:spPr>
          <a:xfrm>
            <a:off x="9966960" y="3017520"/>
            <a:ext cx="731520" cy="731520"/>
          </a:xfrm>
          <a:prstGeom prst="ellipse">
            <a:avLst/>
          </a:prstGeom>
          <a:solidFill>
            <a:srgbClr val="FEE2E2"/>
          </a:solidFill>
          <a:ln w="12700">
            <a:solidFill>
              <a:srgbClr val="FECACA"/>
            </a:solidFill>
            <a:prstDash val="solid"/>
          </a:ln>
        </p:spPr>
      </p:sp>
      <p:pic>
        <p:nvPicPr>
          <p:cNvPr id="31" name="Image 3" descr="preencoded.png"/>
          <p:cNvPicPr>
            <a:picLocks noChangeAspect="1"/>
          </p:cNvPicPr>
          <p:nvPr/>
        </p:nvPicPr>
        <p:blipFill>
          <a:blip r:embed="rId4"/>
          <a:stretch>
            <a:fillRect/>
          </a:stretch>
        </p:blipFill>
        <p:spPr>
          <a:xfrm>
            <a:off x="10104120" y="3154680"/>
            <a:ext cx="457200" cy="457200"/>
          </a:xfrm>
          <a:prstGeom prst="rect">
            <a:avLst/>
          </a:prstGeom>
        </p:spPr>
      </p:pic>
      <p:sp>
        <p:nvSpPr>
          <p:cNvPr id="32" name="Text 26"/>
          <p:cNvSpPr/>
          <p:nvPr/>
        </p:nvSpPr>
        <p:spPr>
          <a:xfrm>
            <a:off x="9121140" y="3840480"/>
            <a:ext cx="2423160" cy="640080"/>
          </a:xfrm>
          <a:prstGeom prst="rect">
            <a:avLst/>
          </a:prstGeom>
          <a:noFill/>
        </p:spPr>
        <p:txBody>
          <a:bodyPr wrap="square" lIns="0" tIns="0" rIns="0" bIns="0" rtlCol="0" anchor="ctr"/>
          <a:lstStyle/>
          <a:p>
            <a:pPr marL="0" indent="0" algn="ctr">
              <a:buNone/>
            </a:pPr>
            <a:r>
              <a:rPr lang="en-US" sz="2400" b="1" dirty="0">
                <a:solidFill>
                  <a:srgbClr val="0D47A1"/>
                </a:solidFill>
                <a:latin typeface="Georgia" panose="02040502050405090303" pitchFamily="34" charset="0"/>
                <a:ea typeface="Georgia" panose="02040502050405090303" pitchFamily="34" charset="-122"/>
                <a:cs typeface="Georgia" panose="02040502050405090303" pitchFamily="34" charset="-120"/>
              </a:rPr>
              <a:t>&lt;40 %</a:t>
            </a:r>
            <a:endParaRPr lang="en-US" sz="2400" dirty="0"/>
          </a:p>
          <a:p>
            <a:pPr marL="0" indent="0" algn="ctr">
              <a:buNone/>
            </a:pPr>
            <a:r>
              <a:rPr lang="en-US" sz="1000" i="1" dirty="0">
                <a:solidFill>
                  <a:srgbClr val="94A3B8"/>
                </a:solidFill>
                <a:latin typeface="Calibri" pitchFamily="34" charset="0"/>
                <a:ea typeface="Calibri" pitchFamily="34" charset="-122"/>
                <a:cs typeface="Calibri" pitchFamily="34" charset="-120"/>
              </a:rPr>
              <a:t>PDGI</a:t>
            </a:r>
            <a:endParaRPr lang="en-US" sz="2400" dirty="0"/>
          </a:p>
        </p:txBody>
      </p:sp>
      <p:sp>
        <p:nvSpPr>
          <p:cNvPr id="33" name="Text 27"/>
          <p:cNvSpPr/>
          <p:nvPr/>
        </p:nvSpPr>
        <p:spPr>
          <a:xfrm>
            <a:off x="9166860" y="4498848"/>
            <a:ext cx="2331720" cy="457200"/>
          </a:xfrm>
          <a:prstGeom prst="rect">
            <a:avLst/>
          </a:prstGeom>
          <a:noFill/>
        </p:spPr>
        <p:txBody>
          <a:bodyPr wrap="square" lIns="0" tIns="0" rIns="0" bIns="0" rtlCol="0" anchor="ctr"/>
          <a:lstStyle/>
          <a:p>
            <a:pPr marL="0" indent="0" algn="ctr">
              <a:buNone/>
            </a:pPr>
            <a:r>
              <a:rPr lang="en-US" sz="1000" dirty="0">
                <a:solidFill>
                  <a:srgbClr val="475569"/>
                </a:solidFill>
                <a:latin typeface="Calibri" pitchFamily="34" charset="0"/>
                <a:ea typeface="Calibri" pitchFamily="34" charset="-122"/>
                <a:cs typeface="Calibri" pitchFamily="34" charset="-120"/>
              </a:rPr>
              <a:t>taux de réalisation du Programme Décennal (2022)</a:t>
            </a:r>
            <a:endParaRPr lang="en-US" sz="1000" dirty="0"/>
          </a:p>
        </p:txBody>
      </p:sp>
      <p:sp>
        <p:nvSpPr>
          <p:cNvPr id="34" name="Shape 28"/>
          <p:cNvSpPr/>
          <p:nvPr/>
        </p:nvSpPr>
        <p:spPr>
          <a:xfrm>
            <a:off x="548640" y="5349240"/>
            <a:ext cx="11064240" cy="868680"/>
          </a:xfrm>
          <a:prstGeom prst="rect">
            <a:avLst/>
          </a:prstGeom>
          <a:solidFill>
            <a:srgbClr val="0D47A1"/>
          </a:solidFill>
          <a:ln w="12700">
            <a:solidFill>
              <a:srgbClr val="0D47A1"/>
            </a:solidFill>
            <a:prstDash val="solid"/>
          </a:ln>
        </p:spPr>
      </p:sp>
      <p:sp>
        <p:nvSpPr>
          <p:cNvPr id="35" name="Shape 29"/>
          <p:cNvSpPr/>
          <p:nvPr/>
        </p:nvSpPr>
        <p:spPr>
          <a:xfrm>
            <a:off x="548640" y="5349240"/>
            <a:ext cx="109728" cy="868680"/>
          </a:xfrm>
          <a:prstGeom prst="rect">
            <a:avLst/>
          </a:prstGeom>
          <a:solidFill>
            <a:srgbClr val="F59E0B"/>
          </a:solidFill>
          <a:ln w="12700">
            <a:solidFill>
              <a:srgbClr val="F59E0B"/>
            </a:solidFill>
            <a:prstDash val="solid"/>
          </a:ln>
        </p:spPr>
      </p:sp>
      <p:pic>
        <p:nvPicPr>
          <p:cNvPr id="36" name="Image 4" descr="preencoded.png"/>
          <p:cNvPicPr>
            <a:picLocks noChangeAspect="1"/>
          </p:cNvPicPr>
          <p:nvPr/>
        </p:nvPicPr>
        <p:blipFill>
          <a:blip r:embed="rId5"/>
          <a:stretch>
            <a:fillRect/>
          </a:stretch>
        </p:blipFill>
        <p:spPr>
          <a:xfrm>
            <a:off x="868680" y="5532120"/>
            <a:ext cx="502920" cy="502920"/>
          </a:xfrm>
          <a:prstGeom prst="rect">
            <a:avLst/>
          </a:prstGeom>
        </p:spPr>
      </p:pic>
      <p:sp>
        <p:nvSpPr>
          <p:cNvPr id="37" name="Text 30"/>
          <p:cNvSpPr/>
          <p:nvPr/>
        </p:nvSpPr>
        <p:spPr>
          <a:xfrm>
            <a:off x="1554480" y="5349240"/>
            <a:ext cx="9966960" cy="868680"/>
          </a:xfrm>
          <a:prstGeom prst="rect">
            <a:avLst/>
          </a:prstGeom>
          <a:noFill/>
        </p:spPr>
        <p:txBody>
          <a:bodyPr wrap="square" lIns="0" tIns="0" rIns="0" bIns="0" rtlCol="0" anchor="ctr"/>
          <a:lstStyle/>
          <a:p>
            <a:pPr marL="0" indent="0">
              <a:buNone/>
            </a:pPr>
            <a:r>
              <a:rPr lang="en-US" sz="1200" i="1" dirty="0">
                <a:solidFill>
                  <a:srgbClr val="FFFFFF"/>
                </a:solidFill>
                <a:latin typeface="Calibri" pitchFamily="34" charset="0"/>
                <a:ea typeface="Calibri" pitchFamily="34" charset="-122"/>
                <a:cs typeface="Calibri" pitchFamily="34" charset="-120"/>
              </a:rPr>
              <a:t>Les dispositifs nationaux d'alerte opèrent à des échelles spatiales et temporelles trop larges pour mobiliser efficacement à l'échelle du quartier — exactement là où le besoin est le plus urgent.</a:t>
            </a:r>
            <a:endParaRPr lang="en-US" sz="1200" dirty="0"/>
          </a:p>
        </p:txBody>
      </p:sp>
      <p:sp>
        <p:nvSpPr>
          <p:cNvPr id="38" name="Shape 31"/>
          <p:cNvSpPr/>
          <p:nvPr/>
        </p:nvSpPr>
        <p:spPr>
          <a:xfrm>
            <a:off x="0" y="6537960"/>
            <a:ext cx="12161520" cy="320040"/>
          </a:xfrm>
          <a:prstGeom prst="rect">
            <a:avLst/>
          </a:prstGeom>
          <a:solidFill>
            <a:srgbClr val="0D47A1"/>
          </a:solidFill>
          <a:ln w="12700">
            <a:solidFill>
              <a:srgbClr val="0D47A1"/>
            </a:solidFill>
            <a:prstDash val="solid"/>
          </a:ln>
        </p:spPr>
      </p:sp>
      <p:sp>
        <p:nvSpPr>
          <p:cNvPr id="39" name="Text 32"/>
          <p:cNvSpPr/>
          <p:nvPr/>
        </p:nvSpPr>
        <p:spPr>
          <a:xfrm>
            <a:off x="457200" y="6537960"/>
            <a:ext cx="7315200" cy="320040"/>
          </a:xfrm>
          <a:prstGeom prst="rect">
            <a:avLst/>
          </a:prstGeom>
          <a:noFill/>
        </p:spPr>
        <p:txBody>
          <a:bodyPr wrap="square" lIns="0" tIns="0" rIns="0" bIns="0" rtlCol="0" anchor="ctr"/>
          <a:lstStyle/>
          <a:p>
            <a:pPr marL="0" indent="0" algn="l">
              <a:buNone/>
            </a:pPr>
            <a:r>
              <a:rPr lang="en-US" sz="900" dirty="0">
                <a:solidFill>
                  <a:srgbClr val="F8FAFC"/>
                </a:solidFill>
                <a:latin typeface="Calibri" pitchFamily="34" charset="0"/>
                <a:ea typeface="Calibri" pitchFamily="34" charset="-122"/>
                <a:cs typeface="Calibri" pitchFamily="34" charset="-120"/>
              </a:rPr>
              <a:t>Saytu Mbeund  ·  FloodGuardAI  ·  flood.yaataldigital.com</a:t>
            </a:r>
            <a:endParaRPr lang="en-US" sz="900" dirty="0"/>
          </a:p>
        </p:txBody>
      </p:sp>
      <p:sp>
        <p:nvSpPr>
          <p:cNvPr id="40" name="Text 33"/>
          <p:cNvSpPr/>
          <p:nvPr/>
        </p:nvSpPr>
        <p:spPr>
          <a:xfrm>
            <a:off x="8503920" y="6537960"/>
            <a:ext cx="2286000" cy="320040"/>
          </a:xfrm>
          <a:prstGeom prst="rect">
            <a:avLst/>
          </a:prstGeom>
          <a:noFill/>
        </p:spPr>
        <p:txBody>
          <a:bodyPr wrap="square" lIns="0" tIns="0" rIns="0" bIns="0" rtlCol="0" anchor="ctr"/>
          <a:lstStyle/>
          <a:p>
            <a:pPr marL="0" indent="0" algn="r">
              <a:buNone/>
            </a:pPr>
            <a:r>
              <a:rPr lang="en-US" sz="900" i="1" dirty="0">
                <a:solidFill>
                  <a:srgbClr val="F59E0B"/>
                </a:solidFill>
                <a:latin typeface="Calibri" pitchFamily="34" charset="0"/>
                <a:ea typeface="Calibri" pitchFamily="34" charset="-122"/>
                <a:cs typeface="Calibri" pitchFamily="34" charset="-120"/>
              </a:rPr>
              <a:t>▸ ADAMA</a:t>
            </a:r>
            <a:endParaRPr lang="en-US" sz="900" dirty="0"/>
          </a:p>
        </p:txBody>
      </p:sp>
      <p:sp>
        <p:nvSpPr>
          <p:cNvPr id="41" name="Text 34"/>
          <p:cNvSpPr/>
          <p:nvPr/>
        </p:nvSpPr>
        <p:spPr>
          <a:xfrm>
            <a:off x="11064240" y="6537960"/>
            <a:ext cx="640080" cy="320040"/>
          </a:xfrm>
          <a:prstGeom prst="rect">
            <a:avLst/>
          </a:prstGeom>
          <a:noFill/>
        </p:spPr>
        <p:txBody>
          <a:bodyPr wrap="square" lIns="0" tIns="0" rIns="0" bIns="0" rtlCol="0" anchor="ctr"/>
          <a:lstStyle/>
          <a:p>
            <a:pPr marL="0" indent="0" algn="r">
              <a:buNone/>
            </a:pPr>
            <a:r>
              <a:rPr lang="en-US" sz="900" dirty="0">
                <a:solidFill>
                  <a:srgbClr val="F8FAFC"/>
                </a:solidFill>
                <a:latin typeface="Calibri" pitchFamily="34" charset="0"/>
                <a:ea typeface="Calibri" pitchFamily="34" charset="-122"/>
                <a:cs typeface="Calibri" pitchFamily="34" charset="-120"/>
              </a:rPr>
              <a:t>2 / 12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548640" y="411480"/>
            <a:ext cx="7315200" cy="320040"/>
          </a:xfrm>
          <a:prstGeom prst="rect">
            <a:avLst/>
          </a:prstGeom>
          <a:noFill/>
        </p:spPr>
        <p:txBody>
          <a:bodyPr wrap="square" lIns="0" tIns="0" rIns="0" bIns="0" rtlCol="0" anchor="ctr"/>
          <a:lstStyle/>
          <a:p>
            <a:pPr marL="0" indent="0">
              <a:buNone/>
            </a:pPr>
            <a:r>
              <a:rPr lang="en-US" sz="1100" b="1" kern="0" spc="400" dirty="0">
                <a:solidFill>
                  <a:srgbClr val="1565C0"/>
                </a:solidFill>
                <a:latin typeface="Calibri" pitchFamily="34" charset="0"/>
                <a:ea typeface="Calibri" pitchFamily="34" charset="-122"/>
                <a:cs typeface="Calibri" pitchFamily="34" charset="-120"/>
              </a:rPr>
              <a:t>NOTRE HISTOIRE</a:t>
            </a:r>
            <a:endParaRPr lang="en-US" sz="1100" dirty="0"/>
          </a:p>
        </p:txBody>
      </p:sp>
      <p:sp>
        <p:nvSpPr>
          <p:cNvPr id="3" name="Text 1"/>
          <p:cNvSpPr/>
          <p:nvPr/>
        </p:nvSpPr>
        <p:spPr>
          <a:xfrm>
            <a:off x="548640" y="713232"/>
            <a:ext cx="10058400" cy="777240"/>
          </a:xfrm>
          <a:prstGeom prst="rect">
            <a:avLst/>
          </a:prstGeom>
          <a:noFill/>
        </p:spPr>
        <p:txBody>
          <a:bodyPr wrap="square" lIns="0" tIns="0" rIns="0" bIns="0" rtlCol="0" anchor="ctr"/>
          <a:lstStyle/>
          <a:p>
            <a:pPr marL="0" indent="0">
              <a:buNone/>
            </a:pPr>
            <a:r>
              <a:rPr lang="en-US" sz="3000" b="1" dirty="0">
                <a:solidFill>
                  <a:srgbClr val="0D47A1"/>
                </a:solidFill>
                <a:latin typeface="Georgia" panose="02040502050405090303" pitchFamily="34" charset="0"/>
                <a:ea typeface="Georgia" panose="02040502050405090303" pitchFamily="34" charset="-122"/>
                <a:cs typeface="Georgia" panose="02040502050405090303" pitchFamily="34" charset="-120"/>
              </a:rPr>
              <a:t>Du hackathon de Keur Massar à un système national</a:t>
            </a:r>
            <a:endParaRPr lang="en-US" sz="3000" dirty="0"/>
          </a:p>
        </p:txBody>
      </p:sp>
      <p:sp>
        <p:nvSpPr>
          <p:cNvPr id="4" name="Shape 2"/>
          <p:cNvSpPr/>
          <p:nvPr/>
        </p:nvSpPr>
        <p:spPr>
          <a:xfrm>
            <a:off x="548640" y="1517904"/>
            <a:ext cx="164592" cy="164592"/>
          </a:xfrm>
          <a:prstGeom prst="ellipse">
            <a:avLst/>
          </a:prstGeom>
          <a:solidFill>
            <a:srgbClr val="F59E0B"/>
          </a:solidFill>
          <a:ln w="12700">
            <a:solidFill>
              <a:srgbClr val="F59E0B"/>
            </a:solidFill>
            <a:prstDash val="solid"/>
          </a:ln>
        </p:spPr>
      </p:sp>
      <p:sp>
        <p:nvSpPr>
          <p:cNvPr id="5" name="Shape 3"/>
          <p:cNvSpPr/>
          <p:nvPr/>
        </p:nvSpPr>
        <p:spPr>
          <a:xfrm>
            <a:off x="777240" y="1517904"/>
            <a:ext cx="164592" cy="164592"/>
          </a:xfrm>
          <a:prstGeom prst="ellipse">
            <a:avLst/>
          </a:prstGeom>
          <a:solidFill>
            <a:srgbClr val="1565C0"/>
          </a:solidFill>
          <a:ln w="12700">
            <a:solidFill>
              <a:srgbClr val="1565C0"/>
            </a:solidFill>
            <a:prstDash val="solid"/>
          </a:ln>
        </p:spPr>
      </p:sp>
      <p:sp>
        <p:nvSpPr>
          <p:cNvPr id="6" name="Shape 4"/>
          <p:cNvSpPr/>
          <p:nvPr/>
        </p:nvSpPr>
        <p:spPr>
          <a:xfrm>
            <a:off x="1005840" y="1517904"/>
            <a:ext cx="164592" cy="164592"/>
          </a:xfrm>
          <a:prstGeom prst="ellipse">
            <a:avLst/>
          </a:prstGeom>
          <a:solidFill>
            <a:srgbClr val="E2E8F0"/>
          </a:solidFill>
          <a:ln w="12700">
            <a:solidFill>
              <a:srgbClr val="E2E8F0"/>
            </a:solidFill>
            <a:prstDash val="solid"/>
          </a:ln>
        </p:spPr>
      </p:sp>
      <p:sp>
        <p:nvSpPr>
          <p:cNvPr id="7" name="Shape 5"/>
          <p:cNvSpPr/>
          <p:nvPr/>
        </p:nvSpPr>
        <p:spPr>
          <a:xfrm>
            <a:off x="9692640" y="411480"/>
            <a:ext cx="1920240" cy="411480"/>
          </a:xfrm>
          <a:prstGeom prst="roundRect">
            <a:avLst>
              <a:gd name="adj" fmla="val 11111"/>
            </a:avLst>
          </a:prstGeom>
          <a:solidFill>
            <a:srgbClr val="0891B2"/>
          </a:solidFill>
          <a:ln w="12700">
            <a:solidFill>
              <a:srgbClr val="0891B2"/>
            </a:solidFill>
            <a:prstDash val="solid"/>
          </a:ln>
        </p:spPr>
      </p:sp>
      <p:sp>
        <p:nvSpPr>
          <p:cNvPr id="8" name="Text 6"/>
          <p:cNvSpPr/>
          <p:nvPr/>
        </p:nvSpPr>
        <p:spPr>
          <a:xfrm>
            <a:off x="9692640" y="411480"/>
            <a:ext cx="1920240" cy="411480"/>
          </a:xfrm>
          <a:prstGeom prst="rect">
            <a:avLst/>
          </a:prstGeom>
          <a:noFill/>
        </p:spPr>
        <p:txBody>
          <a:bodyPr wrap="square" lIns="0" tIns="0" rIns="0" bIns="0" rtlCol="0" anchor="ctr"/>
          <a:lstStyle/>
          <a:p>
            <a:pPr marL="0" indent="0" algn="ctr">
              <a:buNone/>
            </a:pPr>
            <a:r>
              <a:rPr lang="en-US" sz="1000" b="1" kern="0" spc="200" dirty="0">
                <a:solidFill>
                  <a:srgbClr val="FFFFFF"/>
                </a:solidFill>
                <a:latin typeface="Calibri" pitchFamily="34" charset="0"/>
                <a:ea typeface="Calibri" pitchFamily="34" charset="-122"/>
                <a:cs typeface="Calibri" pitchFamily="34" charset="-120"/>
              </a:rPr>
              <a:t>ADAMA  ·  ORIGINE</a:t>
            </a:r>
            <a:endParaRPr lang="en-US" sz="1000" dirty="0"/>
          </a:p>
        </p:txBody>
      </p:sp>
      <p:sp>
        <p:nvSpPr>
          <p:cNvPr id="9" name="Text 7"/>
          <p:cNvSpPr/>
          <p:nvPr/>
        </p:nvSpPr>
        <p:spPr>
          <a:xfrm>
            <a:off x="548640" y="1874520"/>
            <a:ext cx="11064240" cy="457200"/>
          </a:xfrm>
          <a:prstGeom prst="rect">
            <a:avLst/>
          </a:prstGeom>
          <a:noFill/>
        </p:spPr>
        <p:txBody>
          <a:bodyPr wrap="square" lIns="0" tIns="0" rIns="0" bIns="0" rtlCol="0" anchor="ctr"/>
          <a:lstStyle/>
          <a:p>
            <a:pPr marL="0" indent="0">
              <a:buNone/>
            </a:pPr>
            <a:r>
              <a:rPr lang="en-US" sz="1400" b="1" i="1" dirty="0">
                <a:solidFill>
                  <a:srgbClr val="1565C0"/>
                </a:solidFill>
                <a:latin typeface="Georgia" panose="02040502050405090303" pitchFamily="34" charset="0"/>
                <a:ea typeface="Georgia" panose="02040502050405090303" pitchFamily="34" charset="-122"/>
                <a:cs typeface="Georgia" panose="02040502050405090303" pitchFamily="34" charset="-120"/>
              </a:rPr>
              <a:t>Né d'une idée commune lors d'un hackathon dédié à Keur Massar, devenu un système d'IA déployé au Sénégal.</a:t>
            </a:r>
            <a:endParaRPr lang="en-US" sz="1400" dirty="0"/>
          </a:p>
        </p:txBody>
      </p:sp>
      <p:sp>
        <p:nvSpPr>
          <p:cNvPr id="10" name="Shape 8"/>
          <p:cNvSpPr/>
          <p:nvPr/>
        </p:nvSpPr>
        <p:spPr>
          <a:xfrm>
            <a:off x="548640" y="2468880"/>
            <a:ext cx="3657600" cy="3657600"/>
          </a:xfrm>
          <a:prstGeom prst="rect">
            <a:avLst/>
          </a:prstGeom>
          <a:solidFill>
            <a:srgbClr val="FFFFFF"/>
          </a:solidFill>
          <a:ln w="12700">
            <a:solidFill>
              <a:srgbClr val="E2E8F0"/>
            </a:solidFill>
            <a:prstDash val="solid"/>
          </a:ln>
          <a:effectLst>
            <a:outerShdw blurRad="101600" dist="25400" dir="5400000" algn="bl" rotWithShape="0">
              <a:srgbClr val="000000">
                <a:alpha val="10000"/>
              </a:srgbClr>
            </a:outerShdw>
          </a:effectLst>
        </p:spPr>
      </p:sp>
      <p:sp>
        <p:nvSpPr>
          <p:cNvPr id="11" name="Shape 9"/>
          <p:cNvSpPr/>
          <p:nvPr/>
        </p:nvSpPr>
        <p:spPr>
          <a:xfrm>
            <a:off x="548640" y="2468880"/>
            <a:ext cx="3657600" cy="457200"/>
          </a:xfrm>
          <a:prstGeom prst="rect">
            <a:avLst/>
          </a:prstGeom>
          <a:solidFill>
            <a:srgbClr val="F59E0B"/>
          </a:solidFill>
          <a:ln w="12700">
            <a:solidFill>
              <a:srgbClr val="F59E0B"/>
            </a:solidFill>
            <a:prstDash val="solid"/>
          </a:ln>
        </p:spPr>
      </p:sp>
      <p:sp>
        <p:nvSpPr>
          <p:cNvPr id="12" name="Text 10"/>
          <p:cNvSpPr/>
          <p:nvPr/>
        </p:nvSpPr>
        <p:spPr>
          <a:xfrm>
            <a:off x="731520" y="2468880"/>
            <a:ext cx="1097280" cy="457200"/>
          </a:xfrm>
          <a:prstGeom prst="rect">
            <a:avLst/>
          </a:prstGeom>
          <a:noFill/>
        </p:spPr>
        <p:txBody>
          <a:bodyPr wrap="square" lIns="0" tIns="0" rIns="0" bIns="0" rtlCol="0" anchor="ctr"/>
          <a:lstStyle/>
          <a:p>
            <a:pPr marL="0" indent="0">
              <a:buNone/>
            </a:pPr>
            <a:r>
              <a:rPr lang="en-US" sz="1400" b="1" dirty="0">
                <a:solidFill>
                  <a:srgbClr val="FFFFFF"/>
                </a:solidFill>
                <a:latin typeface="Georgia" panose="02040502050405090303" pitchFamily="34" charset="0"/>
                <a:ea typeface="Georgia" panose="02040502050405090303" pitchFamily="34" charset="-122"/>
                <a:cs typeface="Georgia" panose="02040502050405090303" pitchFamily="34" charset="-120"/>
              </a:rPr>
              <a:t>Été 2024</a:t>
            </a:r>
            <a:endParaRPr lang="en-US" sz="1400" dirty="0"/>
          </a:p>
        </p:txBody>
      </p:sp>
      <p:sp>
        <p:nvSpPr>
          <p:cNvPr id="13" name="Text 11"/>
          <p:cNvSpPr/>
          <p:nvPr/>
        </p:nvSpPr>
        <p:spPr>
          <a:xfrm>
            <a:off x="1828800" y="2468880"/>
            <a:ext cx="2286000" cy="457200"/>
          </a:xfrm>
          <a:prstGeom prst="rect">
            <a:avLst/>
          </a:prstGeom>
          <a:noFill/>
        </p:spPr>
        <p:txBody>
          <a:bodyPr wrap="square" lIns="0" tIns="0" rIns="0" bIns="0" rtlCol="0" anchor="ctr"/>
          <a:lstStyle/>
          <a:p>
            <a:pPr marL="0" indent="0">
              <a:buNone/>
            </a:pPr>
            <a:r>
              <a:rPr lang="en-US" sz="1100" b="1" kern="0" spc="300" dirty="0">
                <a:solidFill>
                  <a:srgbClr val="FFFFFF"/>
                </a:solidFill>
                <a:latin typeface="Calibri" pitchFamily="34" charset="0"/>
                <a:ea typeface="Calibri" pitchFamily="34" charset="-122"/>
                <a:cs typeface="Calibri" pitchFamily="34" charset="-120"/>
              </a:rPr>
              <a:t>HACKATHON KEUR MASSAR</a:t>
            </a:r>
            <a:endParaRPr lang="en-US" sz="1100" dirty="0"/>
          </a:p>
        </p:txBody>
      </p:sp>
      <p:sp>
        <p:nvSpPr>
          <p:cNvPr id="14" name="Text 12"/>
          <p:cNvSpPr/>
          <p:nvPr/>
        </p:nvSpPr>
        <p:spPr>
          <a:xfrm>
            <a:off x="777240" y="3108960"/>
            <a:ext cx="3200400" cy="365760"/>
          </a:xfrm>
          <a:prstGeom prst="rect">
            <a:avLst/>
          </a:prstGeom>
          <a:noFill/>
        </p:spPr>
        <p:txBody>
          <a:bodyPr wrap="square" lIns="0" tIns="0" rIns="0" bIns="0" rtlCol="0" anchor="ctr"/>
          <a:lstStyle/>
          <a:p>
            <a:pPr marL="0" indent="0">
              <a:buNone/>
            </a:pPr>
            <a:r>
              <a:rPr lang="en-US" sz="1400" b="1" dirty="0">
                <a:solidFill>
                  <a:srgbClr val="0D47A1"/>
                </a:solidFill>
                <a:latin typeface="Georgia" panose="02040502050405090303" pitchFamily="34" charset="0"/>
                <a:ea typeface="Georgia" panose="02040502050405090303" pitchFamily="34" charset="-122"/>
                <a:cs typeface="Georgia" panose="02040502050405090303" pitchFamily="34" charset="-120"/>
              </a:rPr>
              <a:t>Adama  +  Papa</a:t>
            </a:r>
            <a:endParaRPr lang="en-US" sz="1400" dirty="0"/>
          </a:p>
        </p:txBody>
      </p:sp>
      <p:sp>
        <p:nvSpPr>
          <p:cNvPr id="15" name="Text 13"/>
          <p:cNvSpPr/>
          <p:nvPr/>
        </p:nvSpPr>
        <p:spPr>
          <a:xfrm>
            <a:off x="777240" y="3474720"/>
            <a:ext cx="3200400" cy="274320"/>
          </a:xfrm>
          <a:prstGeom prst="rect">
            <a:avLst/>
          </a:prstGeom>
          <a:noFill/>
        </p:spPr>
        <p:txBody>
          <a:bodyPr wrap="square" lIns="0" tIns="0" rIns="0" bIns="0" rtlCol="0" anchor="ctr"/>
          <a:lstStyle/>
          <a:p>
            <a:pPr marL="0" indent="0">
              <a:buNone/>
            </a:pPr>
            <a:r>
              <a:rPr lang="en-US" sz="1000" b="1" i="1" dirty="0">
                <a:solidFill>
                  <a:srgbClr val="F59E0B"/>
                </a:solidFill>
                <a:latin typeface="Calibri" pitchFamily="34" charset="0"/>
                <a:ea typeface="Calibri" pitchFamily="34" charset="-122"/>
                <a:cs typeface="Calibri" pitchFamily="34" charset="-120"/>
              </a:rPr>
              <a:t>Idée commune</a:t>
            </a:r>
            <a:endParaRPr lang="en-US" sz="1000" dirty="0"/>
          </a:p>
        </p:txBody>
      </p:sp>
      <p:sp>
        <p:nvSpPr>
          <p:cNvPr id="16" name="Text 14"/>
          <p:cNvSpPr/>
          <p:nvPr/>
        </p:nvSpPr>
        <p:spPr>
          <a:xfrm>
            <a:off x="777240" y="3886200"/>
            <a:ext cx="3200400" cy="2103120"/>
          </a:xfrm>
          <a:prstGeom prst="rect">
            <a:avLst/>
          </a:prstGeom>
          <a:noFill/>
        </p:spPr>
        <p:txBody>
          <a:bodyPr wrap="square" lIns="0" tIns="0" rIns="0" bIns="0" rtlCol="0" anchor="ctr"/>
          <a:lstStyle/>
          <a:p>
            <a:pPr marL="0" indent="0">
              <a:buNone/>
            </a:pPr>
            <a:r>
              <a:rPr lang="en-US" sz="1100" dirty="0">
                <a:solidFill>
                  <a:srgbClr val="475569"/>
                </a:solidFill>
                <a:latin typeface="Calibri" pitchFamily="34" charset="0"/>
                <a:ea typeface="Calibri" pitchFamily="34" charset="-122"/>
                <a:cs typeface="Calibri" pitchFamily="34" charset="-120"/>
              </a:rPr>
              <a:t>Pendant les grandes vacances, lors d'un hackathon dédié aux solutions pour Keur Massar, nous proposons ensemble un système d'alerte inondation simple, accessible et collaboratif.</a:t>
            </a:r>
            <a:endParaRPr lang="en-US" sz="1100" dirty="0"/>
          </a:p>
        </p:txBody>
      </p:sp>
      <p:sp>
        <p:nvSpPr>
          <p:cNvPr id="17" name="Shape 15"/>
          <p:cNvSpPr/>
          <p:nvPr/>
        </p:nvSpPr>
        <p:spPr>
          <a:xfrm>
            <a:off x="4343400" y="2468880"/>
            <a:ext cx="3657600" cy="3657600"/>
          </a:xfrm>
          <a:prstGeom prst="rect">
            <a:avLst/>
          </a:prstGeom>
          <a:solidFill>
            <a:srgbClr val="FFFFFF"/>
          </a:solidFill>
          <a:ln w="12700">
            <a:solidFill>
              <a:srgbClr val="E2E8F0"/>
            </a:solidFill>
            <a:prstDash val="solid"/>
          </a:ln>
          <a:effectLst>
            <a:outerShdw blurRad="101600" dist="25400" dir="5400000" algn="bl" rotWithShape="0">
              <a:srgbClr val="000000">
                <a:alpha val="10000"/>
              </a:srgbClr>
            </a:outerShdw>
          </a:effectLst>
        </p:spPr>
      </p:sp>
      <p:sp>
        <p:nvSpPr>
          <p:cNvPr id="18" name="Shape 16"/>
          <p:cNvSpPr/>
          <p:nvPr/>
        </p:nvSpPr>
        <p:spPr>
          <a:xfrm>
            <a:off x="4343400" y="2468880"/>
            <a:ext cx="3657600" cy="457200"/>
          </a:xfrm>
          <a:prstGeom prst="rect">
            <a:avLst/>
          </a:prstGeom>
          <a:solidFill>
            <a:srgbClr val="7C3AED"/>
          </a:solidFill>
          <a:ln w="12700">
            <a:solidFill>
              <a:srgbClr val="7C3AED"/>
            </a:solidFill>
            <a:prstDash val="solid"/>
          </a:ln>
        </p:spPr>
      </p:sp>
      <p:sp>
        <p:nvSpPr>
          <p:cNvPr id="19" name="Text 17"/>
          <p:cNvSpPr/>
          <p:nvPr/>
        </p:nvSpPr>
        <p:spPr>
          <a:xfrm>
            <a:off x="4526280" y="2468880"/>
            <a:ext cx="1097280" cy="457200"/>
          </a:xfrm>
          <a:prstGeom prst="rect">
            <a:avLst/>
          </a:prstGeom>
          <a:noFill/>
        </p:spPr>
        <p:txBody>
          <a:bodyPr wrap="square" lIns="0" tIns="0" rIns="0" bIns="0" rtlCol="0" anchor="ctr"/>
          <a:lstStyle/>
          <a:p>
            <a:pPr marL="0" indent="0">
              <a:buNone/>
            </a:pPr>
            <a:r>
              <a:rPr lang="en-US" sz="1400" b="1" dirty="0">
                <a:solidFill>
                  <a:srgbClr val="FFFFFF"/>
                </a:solidFill>
                <a:latin typeface="Georgia" panose="02040502050405090303" pitchFamily="34" charset="0"/>
                <a:ea typeface="Georgia" panose="02040502050405090303" pitchFamily="34" charset="-122"/>
                <a:cs typeface="Georgia" panose="02040502050405090303" pitchFamily="34" charset="-120"/>
              </a:rPr>
              <a:t>2025</a:t>
            </a:r>
            <a:endParaRPr lang="en-US" sz="1400" dirty="0"/>
          </a:p>
        </p:txBody>
      </p:sp>
      <p:sp>
        <p:nvSpPr>
          <p:cNvPr id="20" name="Text 18"/>
          <p:cNvSpPr/>
          <p:nvPr/>
        </p:nvSpPr>
        <p:spPr>
          <a:xfrm>
            <a:off x="5623560" y="2468880"/>
            <a:ext cx="2286000" cy="457200"/>
          </a:xfrm>
          <a:prstGeom prst="rect">
            <a:avLst/>
          </a:prstGeom>
          <a:noFill/>
        </p:spPr>
        <p:txBody>
          <a:bodyPr wrap="square" lIns="0" tIns="0" rIns="0" bIns="0" rtlCol="0" anchor="ctr"/>
          <a:lstStyle/>
          <a:p>
            <a:pPr marL="0" indent="0">
              <a:buNone/>
            </a:pPr>
            <a:r>
              <a:rPr lang="en-US" sz="1100" b="1" kern="0" spc="300" dirty="0">
                <a:solidFill>
                  <a:srgbClr val="FFFFFF"/>
                </a:solidFill>
                <a:latin typeface="Calibri" pitchFamily="34" charset="0"/>
                <a:ea typeface="Calibri" pitchFamily="34" charset="-122"/>
                <a:cs typeface="Calibri" pitchFamily="34" charset="-120"/>
              </a:rPr>
              <a:t>MÉMOIRE DE MASTER</a:t>
            </a:r>
            <a:endParaRPr lang="en-US" sz="1100" dirty="0"/>
          </a:p>
        </p:txBody>
      </p:sp>
      <p:sp>
        <p:nvSpPr>
          <p:cNvPr id="21" name="Text 19"/>
          <p:cNvSpPr/>
          <p:nvPr/>
        </p:nvSpPr>
        <p:spPr>
          <a:xfrm>
            <a:off x="4572000" y="3108960"/>
            <a:ext cx="3200400" cy="365760"/>
          </a:xfrm>
          <a:prstGeom prst="rect">
            <a:avLst/>
          </a:prstGeom>
          <a:noFill/>
        </p:spPr>
        <p:txBody>
          <a:bodyPr wrap="square" lIns="0" tIns="0" rIns="0" bIns="0" rtlCol="0" anchor="ctr"/>
          <a:lstStyle/>
          <a:p>
            <a:pPr marL="0" indent="0">
              <a:buNone/>
            </a:pPr>
            <a:r>
              <a:rPr lang="en-US" sz="1400" b="1" dirty="0">
                <a:solidFill>
                  <a:srgbClr val="0D47A1"/>
                </a:solidFill>
                <a:latin typeface="Georgia" panose="02040502050405090303" pitchFamily="34" charset="0"/>
                <a:ea typeface="Georgia" panose="02040502050405090303" pitchFamily="34" charset="-122"/>
                <a:cs typeface="Georgia" panose="02040502050405090303" pitchFamily="34" charset="-120"/>
              </a:rPr>
              <a:t>Papa Ahmadou Seydou Sow</a:t>
            </a:r>
            <a:endParaRPr lang="en-US" sz="1400" dirty="0"/>
          </a:p>
        </p:txBody>
      </p:sp>
      <p:sp>
        <p:nvSpPr>
          <p:cNvPr id="22" name="Text 20"/>
          <p:cNvSpPr/>
          <p:nvPr/>
        </p:nvSpPr>
        <p:spPr>
          <a:xfrm>
            <a:off x="4572000" y="3474720"/>
            <a:ext cx="3200400" cy="274320"/>
          </a:xfrm>
          <a:prstGeom prst="rect">
            <a:avLst/>
          </a:prstGeom>
          <a:noFill/>
        </p:spPr>
        <p:txBody>
          <a:bodyPr wrap="square" lIns="0" tIns="0" rIns="0" bIns="0" rtlCol="0" anchor="ctr"/>
          <a:lstStyle/>
          <a:p>
            <a:pPr marL="0" indent="0">
              <a:buNone/>
            </a:pPr>
            <a:r>
              <a:rPr lang="en-US" sz="1000" b="1" i="1" dirty="0">
                <a:solidFill>
                  <a:srgbClr val="7C3AED"/>
                </a:solidFill>
                <a:latin typeface="Calibri" pitchFamily="34" charset="0"/>
                <a:ea typeface="Calibri" pitchFamily="34" charset="-122"/>
                <a:cs typeface="Calibri" pitchFamily="34" charset="-120"/>
              </a:rPr>
              <a:t>Validation scientifique</a:t>
            </a:r>
            <a:endParaRPr lang="en-US" sz="1000" dirty="0"/>
          </a:p>
        </p:txBody>
      </p:sp>
      <p:sp>
        <p:nvSpPr>
          <p:cNvPr id="23" name="Text 21"/>
          <p:cNvSpPr/>
          <p:nvPr/>
        </p:nvSpPr>
        <p:spPr>
          <a:xfrm>
            <a:off x="4572000" y="3886200"/>
            <a:ext cx="3200400" cy="2103120"/>
          </a:xfrm>
          <a:prstGeom prst="rect">
            <a:avLst/>
          </a:prstGeom>
          <a:noFill/>
        </p:spPr>
        <p:txBody>
          <a:bodyPr wrap="square" lIns="0" tIns="0" rIns="0" bIns="0" rtlCol="0" anchor="ctr"/>
          <a:lstStyle/>
          <a:p>
            <a:pPr marL="0" indent="0">
              <a:buNone/>
            </a:pPr>
            <a:r>
              <a:rPr lang="en-US" sz="1100" dirty="0">
                <a:solidFill>
                  <a:srgbClr val="475569"/>
                </a:solidFill>
                <a:latin typeface="Calibri" pitchFamily="34" charset="0"/>
                <a:ea typeface="Calibri" pitchFamily="34" charset="-122"/>
                <a:cs typeface="Calibri" pitchFamily="34" charset="-120"/>
              </a:rPr>
              <a:t>Papa adopte l'idée comme sujet de mémoire à l'UIDT/UTT. Il développe les modèles ML/DL, valide leur performance (AUC = 1,000 ; F1 = 96,48 %) et structure l'architecture technique complète.</a:t>
            </a:r>
            <a:endParaRPr lang="en-US" sz="1100" dirty="0"/>
          </a:p>
        </p:txBody>
      </p:sp>
      <p:sp>
        <p:nvSpPr>
          <p:cNvPr id="24" name="Shape 22"/>
          <p:cNvSpPr/>
          <p:nvPr/>
        </p:nvSpPr>
        <p:spPr>
          <a:xfrm>
            <a:off x="8138160" y="2468880"/>
            <a:ext cx="3657600" cy="3657600"/>
          </a:xfrm>
          <a:prstGeom prst="rect">
            <a:avLst/>
          </a:prstGeom>
          <a:solidFill>
            <a:srgbClr val="FFFFFF"/>
          </a:solidFill>
          <a:ln w="12700">
            <a:solidFill>
              <a:srgbClr val="E2E8F0"/>
            </a:solidFill>
            <a:prstDash val="solid"/>
          </a:ln>
          <a:effectLst>
            <a:outerShdw blurRad="101600" dist="25400" dir="5400000" algn="bl" rotWithShape="0">
              <a:srgbClr val="000000">
                <a:alpha val="10000"/>
              </a:srgbClr>
            </a:outerShdw>
          </a:effectLst>
        </p:spPr>
      </p:sp>
      <p:sp>
        <p:nvSpPr>
          <p:cNvPr id="25" name="Shape 23"/>
          <p:cNvSpPr/>
          <p:nvPr/>
        </p:nvSpPr>
        <p:spPr>
          <a:xfrm>
            <a:off x="8138160" y="2468880"/>
            <a:ext cx="3657600" cy="457200"/>
          </a:xfrm>
          <a:prstGeom prst="rect">
            <a:avLst/>
          </a:prstGeom>
          <a:solidFill>
            <a:srgbClr val="059669"/>
          </a:solidFill>
          <a:ln w="12700">
            <a:solidFill>
              <a:srgbClr val="059669"/>
            </a:solidFill>
            <a:prstDash val="solid"/>
          </a:ln>
        </p:spPr>
      </p:sp>
      <p:sp>
        <p:nvSpPr>
          <p:cNvPr id="26" name="Text 24"/>
          <p:cNvSpPr/>
          <p:nvPr/>
        </p:nvSpPr>
        <p:spPr>
          <a:xfrm>
            <a:off x="8321040" y="2468880"/>
            <a:ext cx="1097280" cy="457200"/>
          </a:xfrm>
          <a:prstGeom prst="rect">
            <a:avLst/>
          </a:prstGeom>
          <a:noFill/>
        </p:spPr>
        <p:txBody>
          <a:bodyPr wrap="square" lIns="0" tIns="0" rIns="0" bIns="0" rtlCol="0" anchor="ctr"/>
          <a:lstStyle/>
          <a:p>
            <a:pPr marL="0" indent="0">
              <a:buNone/>
            </a:pPr>
            <a:r>
              <a:rPr lang="en-US" sz="1400" b="1" dirty="0">
                <a:solidFill>
                  <a:srgbClr val="FFFFFF"/>
                </a:solidFill>
                <a:latin typeface="Georgia" panose="02040502050405090303" pitchFamily="34" charset="0"/>
                <a:ea typeface="Georgia" panose="02040502050405090303" pitchFamily="34" charset="-122"/>
                <a:cs typeface="Georgia" panose="02040502050405090303" pitchFamily="34" charset="-120"/>
              </a:rPr>
              <a:t>2026</a:t>
            </a:r>
            <a:endParaRPr lang="en-US" sz="1400" dirty="0"/>
          </a:p>
        </p:txBody>
      </p:sp>
      <p:sp>
        <p:nvSpPr>
          <p:cNvPr id="27" name="Text 25"/>
          <p:cNvSpPr/>
          <p:nvPr/>
        </p:nvSpPr>
        <p:spPr>
          <a:xfrm>
            <a:off x="9418320" y="2468880"/>
            <a:ext cx="2286000" cy="457200"/>
          </a:xfrm>
          <a:prstGeom prst="rect">
            <a:avLst/>
          </a:prstGeom>
          <a:noFill/>
        </p:spPr>
        <p:txBody>
          <a:bodyPr wrap="square" lIns="0" tIns="0" rIns="0" bIns="0" rtlCol="0" anchor="ctr"/>
          <a:lstStyle/>
          <a:p>
            <a:pPr marL="0" indent="0">
              <a:buNone/>
            </a:pPr>
            <a:r>
              <a:rPr lang="en-US" sz="1100" b="1" kern="0" spc="300" dirty="0">
                <a:solidFill>
                  <a:srgbClr val="FFFFFF"/>
                </a:solidFill>
                <a:latin typeface="Calibri" pitchFamily="34" charset="0"/>
                <a:ea typeface="Calibri" pitchFamily="34" charset="-122"/>
                <a:cs typeface="Calibri" pitchFamily="34" charset="-120"/>
              </a:rPr>
              <a:t>PLATEFORME DÉPLOYÉE</a:t>
            </a:r>
            <a:endParaRPr lang="en-US" sz="1100" dirty="0"/>
          </a:p>
        </p:txBody>
      </p:sp>
      <p:sp>
        <p:nvSpPr>
          <p:cNvPr id="28" name="Text 26"/>
          <p:cNvSpPr/>
          <p:nvPr/>
        </p:nvSpPr>
        <p:spPr>
          <a:xfrm>
            <a:off x="8366760" y="3108960"/>
            <a:ext cx="3200400" cy="365760"/>
          </a:xfrm>
          <a:prstGeom prst="rect">
            <a:avLst/>
          </a:prstGeom>
          <a:noFill/>
        </p:spPr>
        <p:txBody>
          <a:bodyPr wrap="square" lIns="0" tIns="0" rIns="0" bIns="0" rtlCol="0" anchor="ctr"/>
          <a:lstStyle/>
          <a:p>
            <a:pPr marL="0" indent="0">
              <a:buNone/>
            </a:pPr>
            <a:r>
              <a:rPr lang="en-US" sz="1400" b="1" dirty="0">
                <a:solidFill>
                  <a:srgbClr val="0D47A1"/>
                </a:solidFill>
                <a:latin typeface="Georgia" panose="02040502050405090303" pitchFamily="34" charset="0"/>
                <a:ea typeface="Georgia" panose="02040502050405090303" pitchFamily="34" charset="-122"/>
                <a:cs typeface="Georgia" panose="02040502050405090303" pitchFamily="34" charset="-120"/>
              </a:rPr>
              <a:t>Yaatal Digital</a:t>
            </a:r>
            <a:endParaRPr lang="en-US" sz="1400" dirty="0"/>
          </a:p>
        </p:txBody>
      </p:sp>
      <p:sp>
        <p:nvSpPr>
          <p:cNvPr id="29" name="Text 27"/>
          <p:cNvSpPr/>
          <p:nvPr/>
        </p:nvSpPr>
        <p:spPr>
          <a:xfrm>
            <a:off x="8366760" y="3474720"/>
            <a:ext cx="3200400" cy="274320"/>
          </a:xfrm>
          <a:prstGeom prst="rect">
            <a:avLst/>
          </a:prstGeom>
          <a:noFill/>
        </p:spPr>
        <p:txBody>
          <a:bodyPr wrap="square" lIns="0" tIns="0" rIns="0" bIns="0" rtlCol="0" anchor="ctr"/>
          <a:lstStyle/>
          <a:p>
            <a:pPr marL="0" indent="0">
              <a:buNone/>
            </a:pPr>
            <a:r>
              <a:rPr lang="en-US" sz="1000" b="1" i="1" dirty="0">
                <a:solidFill>
                  <a:srgbClr val="059669"/>
                </a:solidFill>
                <a:latin typeface="Calibri" pitchFamily="34" charset="0"/>
                <a:ea typeface="Calibri" pitchFamily="34" charset="-122"/>
                <a:cs typeface="Calibri" pitchFamily="34" charset="-120"/>
              </a:rPr>
              <a:t>Production</a:t>
            </a:r>
            <a:endParaRPr lang="en-US" sz="1000" dirty="0"/>
          </a:p>
        </p:txBody>
      </p:sp>
      <p:sp>
        <p:nvSpPr>
          <p:cNvPr id="30" name="Text 28"/>
          <p:cNvSpPr/>
          <p:nvPr/>
        </p:nvSpPr>
        <p:spPr>
          <a:xfrm>
            <a:off x="8366760" y="3886200"/>
            <a:ext cx="3200400" cy="2103120"/>
          </a:xfrm>
          <a:prstGeom prst="rect">
            <a:avLst/>
          </a:prstGeom>
          <a:noFill/>
        </p:spPr>
        <p:txBody>
          <a:bodyPr wrap="square" lIns="0" tIns="0" rIns="0" bIns="0" rtlCol="0" anchor="ctr"/>
          <a:lstStyle/>
          <a:p>
            <a:pPr marL="0" indent="0">
              <a:buNone/>
            </a:pPr>
            <a:r>
              <a:rPr lang="en-US" sz="1100" dirty="0">
                <a:solidFill>
                  <a:srgbClr val="475569"/>
                </a:solidFill>
                <a:latin typeface="Calibri" pitchFamily="34" charset="0"/>
                <a:ea typeface="Calibri" pitchFamily="34" charset="-122"/>
                <a:cs typeface="Calibri" pitchFamily="34" charset="-120"/>
              </a:rPr>
              <a:t>Le système est mis en production sous le nom FloodGuardAI / Saytu Mbeund. 112 alertes traitées, 76,8 % automatisées par IA, taux de clôture à 98,2 %.</a:t>
            </a:r>
            <a:endParaRPr lang="en-US" sz="1100" dirty="0"/>
          </a:p>
        </p:txBody>
      </p:sp>
      <p:sp>
        <p:nvSpPr>
          <p:cNvPr id="31" name="Text 29"/>
          <p:cNvSpPr/>
          <p:nvPr/>
        </p:nvSpPr>
        <p:spPr>
          <a:xfrm>
            <a:off x="548640" y="6263640"/>
            <a:ext cx="11064240" cy="365760"/>
          </a:xfrm>
          <a:prstGeom prst="rect">
            <a:avLst/>
          </a:prstGeom>
          <a:noFill/>
        </p:spPr>
        <p:txBody>
          <a:bodyPr wrap="square" lIns="0" tIns="0" rIns="0" bIns="0" rtlCol="0" anchor="ctr"/>
          <a:lstStyle/>
          <a:p>
            <a:pPr marL="0" indent="0" algn="ctr">
              <a:buNone/>
            </a:pPr>
            <a:r>
              <a:rPr lang="en-US" sz="1200" b="1" i="1" dirty="0">
                <a:solidFill>
                  <a:srgbClr val="1565C0"/>
                </a:solidFill>
                <a:latin typeface="Calibri" pitchFamily="34" charset="0"/>
                <a:ea typeface="Calibri" pitchFamily="34" charset="-122"/>
                <a:cs typeface="Calibri" pitchFamily="34" charset="-120"/>
              </a:rPr>
              <a:t>De l'intuition citoyenne à la rigueur scientifique : un projet qui a grandi avec ses auteurs.</a:t>
            </a:r>
            <a:endParaRPr lang="en-US" sz="1200" dirty="0"/>
          </a:p>
        </p:txBody>
      </p:sp>
      <p:sp>
        <p:nvSpPr>
          <p:cNvPr id="32" name="Shape 30"/>
          <p:cNvSpPr/>
          <p:nvPr/>
        </p:nvSpPr>
        <p:spPr>
          <a:xfrm>
            <a:off x="0" y="6537960"/>
            <a:ext cx="12161520" cy="320040"/>
          </a:xfrm>
          <a:prstGeom prst="rect">
            <a:avLst/>
          </a:prstGeom>
          <a:solidFill>
            <a:srgbClr val="0D47A1"/>
          </a:solidFill>
          <a:ln w="12700">
            <a:solidFill>
              <a:srgbClr val="0D47A1"/>
            </a:solidFill>
            <a:prstDash val="solid"/>
          </a:ln>
        </p:spPr>
      </p:sp>
      <p:sp>
        <p:nvSpPr>
          <p:cNvPr id="33" name="Text 31"/>
          <p:cNvSpPr/>
          <p:nvPr/>
        </p:nvSpPr>
        <p:spPr>
          <a:xfrm>
            <a:off x="457200" y="6537960"/>
            <a:ext cx="7315200" cy="320040"/>
          </a:xfrm>
          <a:prstGeom prst="rect">
            <a:avLst/>
          </a:prstGeom>
          <a:noFill/>
        </p:spPr>
        <p:txBody>
          <a:bodyPr wrap="square" lIns="0" tIns="0" rIns="0" bIns="0" rtlCol="0" anchor="ctr"/>
          <a:lstStyle/>
          <a:p>
            <a:pPr marL="0" indent="0" algn="l">
              <a:buNone/>
            </a:pPr>
            <a:r>
              <a:rPr lang="en-US" sz="900" dirty="0">
                <a:solidFill>
                  <a:srgbClr val="F8FAFC"/>
                </a:solidFill>
                <a:latin typeface="Calibri" pitchFamily="34" charset="0"/>
                <a:ea typeface="Calibri" pitchFamily="34" charset="-122"/>
                <a:cs typeface="Calibri" pitchFamily="34" charset="-120"/>
              </a:rPr>
              <a:t>Saytu Mbeund  ·  FloodGuardAI  ·  flood.yaataldigital.com</a:t>
            </a:r>
            <a:endParaRPr lang="en-US" sz="900" dirty="0"/>
          </a:p>
        </p:txBody>
      </p:sp>
      <p:sp>
        <p:nvSpPr>
          <p:cNvPr id="34" name="Text 32"/>
          <p:cNvSpPr/>
          <p:nvPr/>
        </p:nvSpPr>
        <p:spPr>
          <a:xfrm>
            <a:off x="8503920" y="6537960"/>
            <a:ext cx="2286000" cy="320040"/>
          </a:xfrm>
          <a:prstGeom prst="rect">
            <a:avLst/>
          </a:prstGeom>
          <a:noFill/>
        </p:spPr>
        <p:txBody>
          <a:bodyPr wrap="square" lIns="0" tIns="0" rIns="0" bIns="0" rtlCol="0" anchor="ctr"/>
          <a:lstStyle/>
          <a:p>
            <a:pPr marL="0" indent="0" algn="r">
              <a:buNone/>
            </a:pPr>
            <a:r>
              <a:rPr lang="en-US" sz="900" i="1" dirty="0">
                <a:solidFill>
                  <a:srgbClr val="F59E0B"/>
                </a:solidFill>
                <a:latin typeface="Calibri" pitchFamily="34" charset="0"/>
                <a:ea typeface="Calibri" pitchFamily="34" charset="-122"/>
                <a:cs typeface="Calibri" pitchFamily="34" charset="-120"/>
              </a:rPr>
              <a:t>▸ ADAMA</a:t>
            </a:r>
            <a:endParaRPr lang="en-US" sz="900" dirty="0"/>
          </a:p>
        </p:txBody>
      </p:sp>
      <p:sp>
        <p:nvSpPr>
          <p:cNvPr id="35" name="Text 33"/>
          <p:cNvSpPr/>
          <p:nvPr/>
        </p:nvSpPr>
        <p:spPr>
          <a:xfrm>
            <a:off x="11064240" y="6537960"/>
            <a:ext cx="640080" cy="320040"/>
          </a:xfrm>
          <a:prstGeom prst="rect">
            <a:avLst/>
          </a:prstGeom>
          <a:noFill/>
        </p:spPr>
        <p:txBody>
          <a:bodyPr wrap="square" lIns="0" tIns="0" rIns="0" bIns="0" rtlCol="0" anchor="ctr"/>
          <a:lstStyle/>
          <a:p>
            <a:pPr marL="0" indent="0" algn="r">
              <a:buNone/>
            </a:pPr>
            <a:r>
              <a:rPr lang="en-US" sz="900" dirty="0">
                <a:solidFill>
                  <a:srgbClr val="F8FAFC"/>
                </a:solidFill>
                <a:latin typeface="Calibri" pitchFamily="34" charset="0"/>
                <a:ea typeface="Calibri" pitchFamily="34" charset="-122"/>
                <a:cs typeface="Calibri" pitchFamily="34" charset="-120"/>
              </a:rPr>
              <a:t>3 / 12</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548640" y="411480"/>
            <a:ext cx="7315200" cy="320040"/>
          </a:xfrm>
          <a:prstGeom prst="rect">
            <a:avLst/>
          </a:prstGeom>
          <a:noFill/>
        </p:spPr>
        <p:txBody>
          <a:bodyPr wrap="square" lIns="0" tIns="0" rIns="0" bIns="0" rtlCol="0" anchor="ctr"/>
          <a:lstStyle/>
          <a:p>
            <a:pPr marL="0" indent="0">
              <a:buNone/>
            </a:pPr>
            <a:r>
              <a:rPr lang="en-US" sz="1100" b="1" kern="0" spc="400" dirty="0">
                <a:solidFill>
                  <a:srgbClr val="1565C0"/>
                </a:solidFill>
                <a:latin typeface="Calibri" pitchFamily="34" charset="0"/>
                <a:ea typeface="Calibri" pitchFamily="34" charset="-122"/>
                <a:cs typeface="Calibri" pitchFamily="34" charset="-120"/>
              </a:rPr>
              <a:t>VUE D'ENSEMBLE DU SYSTÈME</a:t>
            </a:r>
            <a:endParaRPr lang="en-US" sz="1100" dirty="0"/>
          </a:p>
        </p:txBody>
      </p:sp>
      <p:sp>
        <p:nvSpPr>
          <p:cNvPr id="3" name="Text 1"/>
          <p:cNvSpPr/>
          <p:nvPr/>
        </p:nvSpPr>
        <p:spPr>
          <a:xfrm>
            <a:off x="548640" y="713232"/>
            <a:ext cx="10058400" cy="777240"/>
          </a:xfrm>
          <a:prstGeom prst="rect">
            <a:avLst/>
          </a:prstGeom>
          <a:noFill/>
        </p:spPr>
        <p:txBody>
          <a:bodyPr wrap="square" lIns="0" tIns="0" rIns="0" bIns="0" rtlCol="0" anchor="ctr"/>
          <a:lstStyle/>
          <a:p>
            <a:pPr marL="0" indent="0">
              <a:buNone/>
            </a:pPr>
            <a:r>
              <a:rPr lang="en-US" sz="3000" b="1" dirty="0">
                <a:solidFill>
                  <a:srgbClr val="0D47A1"/>
                </a:solidFill>
                <a:latin typeface="Georgia" panose="02040502050405090303" pitchFamily="34" charset="0"/>
                <a:ea typeface="Georgia" panose="02040502050405090303" pitchFamily="34" charset="-122"/>
                <a:cs typeface="Georgia" panose="02040502050405090303" pitchFamily="34" charset="-120"/>
              </a:rPr>
              <a:t>Une architecture hybride en 3 composantes</a:t>
            </a:r>
            <a:endParaRPr lang="en-US" sz="3000" dirty="0"/>
          </a:p>
        </p:txBody>
      </p:sp>
      <p:sp>
        <p:nvSpPr>
          <p:cNvPr id="4" name="Shape 2"/>
          <p:cNvSpPr/>
          <p:nvPr/>
        </p:nvSpPr>
        <p:spPr>
          <a:xfrm>
            <a:off x="548640" y="1517904"/>
            <a:ext cx="164592" cy="164592"/>
          </a:xfrm>
          <a:prstGeom prst="ellipse">
            <a:avLst/>
          </a:prstGeom>
          <a:solidFill>
            <a:srgbClr val="F59E0B"/>
          </a:solidFill>
          <a:ln w="12700">
            <a:solidFill>
              <a:srgbClr val="F59E0B"/>
            </a:solidFill>
            <a:prstDash val="solid"/>
          </a:ln>
        </p:spPr>
      </p:sp>
      <p:sp>
        <p:nvSpPr>
          <p:cNvPr id="5" name="Shape 3"/>
          <p:cNvSpPr/>
          <p:nvPr/>
        </p:nvSpPr>
        <p:spPr>
          <a:xfrm>
            <a:off x="777240" y="1517904"/>
            <a:ext cx="164592" cy="164592"/>
          </a:xfrm>
          <a:prstGeom prst="ellipse">
            <a:avLst/>
          </a:prstGeom>
          <a:solidFill>
            <a:srgbClr val="1565C0"/>
          </a:solidFill>
          <a:ln w="12700">
            <a:solidFill>
              <a:srgbClr val="1565C0"/>
            </a:solidFill>
            <a:prstDash val="solid"/>
          </a:ln>
        </p:spPr>
      </p:sp>
      <p:sp>
        <p:nvSpPr>
          <p:cNvPr id="6" name="Shape 4"/>
          <p:cNvSpPr/>
          <p:nvPr/>
        </p:nvSpPr>
        <p:spPr>
          <a:xfrm>
            <a:off x="1005840" y="1517904"/>
            <a:ext cx="164592" cy="164592"/>
          </a:xfrm>
          <a:prstGeom prst="ellipse">
            <a:avLst/>
          </a:prstGeom>
          <a:solidFill>
            <a:srgbClr val="E2E8F0"/>
          </a:solidFill>
          <a:ln w="12700">
            <a:solidFill>
              <a:srgbClr val="E2E8F0"/>
            </a:solidFill>
            <a:prstDash val="solid"/>
          </a:ln>
        </p:spPr>
      </p:sp>
      <p:sp>
        <p:nvSpPr>
          <p:cNvPr id="7" name="Shape 5"/>
          <p:cNvSpPr/>
          <p:nvPr/>
        </p:nvSpPr>
        <p:spPr>
          <a:xfrm>
            <a:off x="9692640" y="411480"/>
            <a:ext cx="1920240" cy="411480"/>
          </a:xfrm>
          <a:prstGeom prst="roundRect">
            <a:avLst>
              <a:gd name="adj" fmla="val 11111"/>
            </a:avLst>
          </a:prstGeom>
          <a:solidFill>
            <a:srgbClr val="0891B2"/>
          </a:solidFill>
          <a:ln w="12700">
            <a:solidFill>
              <a:srgbClr val="0891B2"/>
            </a:solidFill>
            <a:prstDash val="solid"/>
          </a:ln>
        </p:spPr>
      </p:sp>
      <p:sp>
        <p:nvSpPr>
          <p:cNvPr id="8" name="Text 6"/>
          <p:cNvSpPr/>
          <p:nvPr/>
        </p:nvSpPr>
        <p:spPr>
          <a:xfrm>
            <a:off x="9692640" y="411480"/>
            <a:ext cx="1920240" cy="411480"/>
          </a:xfrm>
          <a:prstGeom prst="rect">
            <a:avLst/>
          </a:prstGeom>
          <a:noFill/>
        </p:spPr>
        <p:txBody>
          <a:bodyPr wrap="square" lIns="0" tIns="0" rIns="0" bIns="0" rtlCol="0" anchor="ctr"/>
          <a:lstStyle/>
          <a:p>
            <a:pPr marL="0" indent="0" algn="ctr">
              <a:buNone/>
            </a:pPr>
            <a:r>
              <a:rPr lang="en-US" sz="1000" b="1" kern="0" spc="200" dirty="0">
                <a:solidFill>
                  <a:srgbClr val="FFFFFF"/>
                </a:solidFill>
                <a:latin typeface="Calibri" pitchFamily="34" charset="0"/>
                <a:ea typeface="Calibri" pitchFamily="34" charset="-122"/>
                <a:cs typeface="Calibri" pitchFamily="34" charset="-120"/>
              </a:rPr>
              <a:t>ADAMA  ·  ARCHITECTURE</a:t>
            </a:r>
            <a:endParaRPr lang="en-US" sz="1000" dirty="0"/>
          </a:p>
        </p:txBody>
      </p:sp>
      <p:sp>
        <p:nvSpPr>
          <p:cNvPr id="9" name="Shape 7"/>
          <p:cNvSpPr/>
          <p:nvPr/>
        </p:nvSpPr>
        <p:spPr>
          <a:xfrm>
            <a:off x="548640" y="1920240"/>
            <a:ext cx="3520440" cy="1097280"/>
          </a:xfrm>
          <a:prstGeom prst="rect">
            <a:avLst/>
          </a:prstGeom>
          <a:solidFill>
            <a:srgbClr val="FFFFFF"/>
          </a:solidFill>
          <a:ln w="12700">
            <a:solidFill>
              <a:srgbClr val="E2E8F0"/>
            </a:solidFill>
            <a:prstDash val="solid"/>
          </a:ln>
          <a:effectLst>
            <a:outerShdw blurRad="101600" dist="25400" dir="5400000" algn="bl" rotWithShape="0">
              <a:srgbClr val="000000">
                <a:alpha val="10000"/>
              </a:srgbClr>
            </a:outerShdw>
          </a:effectLst>
        </p:spPr>
      </p:sp>
      <p:sp>
        <p:nvSpPr>
          <p:cNvPr id="10" name="Shape 8"/>
          <p:cNvSpPr/>
          <p:nvPr/>
        </p:nvSpPr>
        <p:spPr>
          <a:xfrm>
            <a:off x="548640" y="1920240"/>
            <a:ext cx="91440" cy="1097280"/>
          </a:xfrm>
          <a:prstGeom prst="rect">
            <a:avLst/>
          </a:prstGeom>
          <a:solidFill>
            <a:srgbClr val="1565C0"/>
          </a:solidFill>
          <a:ln w="12700">
            <a:solidFill>
              <a:srgbClr val="1565C0"/>
            </a:solidFill>
            <a:prstDash val="solid"/>
          </a:ln>
        </p:spPr>
      </p:sp>
      <p:sp>
        <p:nvSpPr>
          <p:cNvPr id="11" name="Shape 9"/>
          <p:cNvSpPr/>
          <p:nvPr/>
        </p:nvSpPr>
        <p:spPr>
          <a:xfrm>
            <a:off x="777240" y="2194560"/>
            <a:ext cx="548640" cy="548640"/>
          </a:xfrm>
          <a:prstGeom prst="ellipse">
            <a:avLst/>
          </a:prstGeom>
          <a:solidFill>
            <a:srgbClr val="E3F2FD"/>
          </a:solidFill>
          <a:ln w="12700">
            <a:solidFill>
              <a:srgbClr val="E3F2FD"/>
            </a:solidFill>
            <a:prstDash val="solid"/>
          </a:ln>
        </p:spPr>
      </p:sp>
      <p:pic>
        <p:nvPicPr>
          <p:cNvPr id="12" name="Image 0" descr="preencoded.png"/>
          <p:cNvPicPr>
            <a:picLocks noChangeAspect="1"/>
          </p:cNvPicPr>
          <p:nvPr/>
        </p:nvPicPr>
        <p:blipFill>
          <a:blip r:embed="rId1"/>
          <a:stretch>
            <a:fillRect/>
          </a:stretch>
        </p:blipFill>
        <p:spPr>
          <a:xfrm>
            <a:off x="868680" y="2286000"/>
            <a:ext cx="365760" cy="365760"/>
          </a:xfrm>
          <a:prstGeom prst="rect">
            <a:avLst/>
          </a:prstGeom>
        </p:spPr>
      </p:pic>
      <p:sp>
        <p:nvSpPr>
          <p:cNvPr id="13" name="Text 10"/>
          <p:cNvSpPr/>
          <p:nvPr/>
        </p:nvSpPr>
        <p:spPr>
          <a:xfrm>
            <a:off x="1463040" y="1920240"/>
            <a:ext cx="2514600" cy="1097280"/>
          </a:xfrm>
          <a:prstGeom prst="rect">
            <a:avLst/>
          </a:prstGeom>
          <a:noFill/>
        </p:spPr>
        <p:txBody>
          <a:bodyPr wrap="square" lIns="0" tIns="0" rIns="0" bIns="0" rtlCol="0" anchor="ctr"/>
          <a:lstStyle/>
          <a:p>
            <a:pPr marL="0" indent="0">
              <a:buNone/>
            </a:pPr>
            <a:r>
              <a:rPr lang="en-US" sz="1300" b="1" dirty="0">
                <a:solidFill>
                  <a:srgbClr val="0D47A1"/>
                </a:solidFill>
                <a:latin typeface="Calibri" pitchFamily="34" charset="0"/>
                <a:ea typeface="Calibri" pitchFamily="34" charset="-122"/>
                <a:cs typeface="Calibri" pitchFamily="34" charset="-120"/>
              </a:rPr>
              <a:t>Données météo</a:t>
            </a:r>
            <a:endParaRPr lang="en-US" sz="1300" dirty="0"/>
          </a:p>
          <a:p>
            <a:pPr marL="0" indent="0">
              <a:buNone/>
            </a:pPr>
            <a:r>
              <a:rPr lang="en-US" sz="1000" dirty="0">
                <a:solidFill>
                  <a:srgbClr val="475569"/>
                </a:solidFill>
                <a:latin typeface="Calibri" pitchFamily="34" charset="0"/>
                <a:ea typeface="Calibri" pitchFamily="34" charset="-122"/>
                <a:cs typeface="Calibri" pitchFamily="34" charset="-120"/>
              </a:rPr>
              <a:t>Réanalyses météo 2005-2025 (6 zones du Sénégal)</a:t>
            </a:r>
            <a:endParaRPr lang="en-US" sz="1300" dirty="0"/>
          </a:p>
        </p:txBody>
      </p:sp>
      <p:sp>
        <p:nvSpPr>
          <p:cNvPr id="14" name="Shape 11"/>
          <p:cNvSpPr/>
          <p:nvPr/>
        </p:nvSpPr>
        <p:spPr>
          <a:xfrm>
            <a:off x="4206240" y="1920240"/>
            <a:ext cx="3520440" cy="1097280"/>
          </a:xfrm>
          <a:prstGeom prst="rect">
            <a:avLst/>
          </a:prstGeom>
          <a:solidFill>
            <a:srgbClr val="FFFFFF"/>
          </a:solidFill>
          <a:ln w="12700">
            <a:solidFill>
              <a:srgbClr val="E2E8F0"/>
            </a:solidFill>
            <a:prstDash val="solid"/>
          </a:ln>
          <a:effectLst>
            <a:outerShdw blurRad="101600" dist="25400" dir="5400000" algn="bl" rotWithShape="0">
              <a:srgbClr val="000000">
                <a:alpha val="10000"/>
              </a:srgbClr>
            </a:outerShdw>
          </a:effectLst>
        </p:spPr>
      </p:sp>
      <p:sp>
        <p:nvSpPr>
          <p:cNvPr id="15" name="Shape 12"/>
          <p:cNvSpPr/>
          <p:nvPr/>
        </p:nvSpPr>
        <p:spPr>
          <a:xfrm>
            <a:off x="4206240" y="1920240"/>
            <a:ext cx="91440" cy="1097280"/>
          </a:xfrm>
          <a:prstGeom prst="rect">
            <a:avLst/>
          </a:prstGeom>
          <a:solidFill>
            <a:srgbClr val="1565C0"/>
          </a:solidFill>
          <a:ln w="12700">
            <a:solidFill>
              <a:srgbClr val="1565C0"/>
            </a:solidFill>
            <a:prstDash val="solid"/>
          </a:ln>
        </p:spPr>
      </p:sp>
      <p:sp>
        <p:nvSpPr>
          <p:cNvPr id="16" name="Shape 13"/>
          <p:cNvSpPr/>
          <p:nvPr/>
        </p:nvSpPr>
        <p:spPr>
          <a:xfrm>
            <a:off x="4434840" y="2194560"/>
            <a:ext cx="548640" cy="548640"/>
          </a:xfrm>
          <a:prstGeom prst="ellipse">
            <a:avLst/>
          </a:prstGeom>
          <a:solidFill>
            <a:srgbClr val="E3F2FD"/>
          </a:solidFill>
          <a:ln w="12700">
            <a:solidFill>
              <a:srgbClr val="E3F2FD"/>
            </a:solidFill>
            <a:prstDash val="solid"/>
          </a:ln>
        </p:spPr>
      </p:sp>
      <p:pic>
        <p:nvPicPr>
          <p:cNvPr id="17" name="Image 1" descr="preencoded.png"/>
          <p:cNvPicPr>
            <a:picLocks noChangeAspect="1"/>
          </p:cNvPicPr>
          <p:nvPr/>
        </p:nvPicPr>
        <p:blipFill>
          <a:blip r:embed="rId2"/>
          <a:stretch>
            <a:fillRect/>
          </a:stretch>
        </p:blipFill>
        <p:spPr>
          <a:xfrm>
            <a:off x="4526280" y="2286000"/>
            <a:ext cx="365760" cy="365760"/>
          </a:xfrm>
          <a:prstGeom prst="rect">
            <a:avLst/>
          </a:prstGeom>
        </p:spPr>
      </p:pic>
      <p:sp>
        <p:nvSpPr>
          <p:cNvPr id="18" name="Text 14"/>
          <p:cNvSpPr/>
          <p:nvPr/>
        </p:nvSpPr>
        <p:spPr>
          <a:xfrm>
            <a:off x="5120640" y="1920240"/>
            <a:ext cx="2514600" cy="1097280"/>
          </a:xfrm>
          <a:prstGeom prst="rect">
            <a:avLst/>
          </a:prstGeom>
          <a:noFill/>
        </p:spPr>
        <p:txBody>
          <a:bodyPr wrap="square" lIns="0" tIns="0" rIns="0" bIns="0" rtlCol="0" anchor="ctr"/>
          <a:lstStyle/>
          <a:p>
            <a:pPr marL="0" indent="0">
              <a:buNone/>
            </a:pPr>
            <a:r>
              <a:rPr lang="en-US" sz="1300" b="1" dirty="0">
                <a:solidFill>
                  <a:srgbClr val="0D47A1"/>
                </a:solidFill>
                <a:latin typeface="Calibri" pitchFamily="34" charset="0"/>
                <a:ea typeface="Calibri" pitchFamily="34" charset="-122"/>
                <a:cs typeface="Calibri" pitchFamily="34" charset="-120"/>
              </a:rPr>
              <a:t>Images citoyennes</a:t>
            </a:r>
            <a:endParaRPr lang="en-US" sz="1300" dirty="0"/>
          </a:p>
          <a:p>
            <a:pPr marL="0" indent="0">
              <a:buNone/>
            </a:pPr>
            <a:r>
              <a:rPr lang="en-US" sz="1000" dirty="0">
                <a:solidFill>
                  <a:srgbClr val="475569"/>
                </a:solidFill>
                <a:latin typeface="Calibri" pitchFamily="34" charset="0"/>
                <a:ea typeface="Calibri" pitchFamily="34" charset="-122"/>
                <a:cs typeface="Calibri" pitchFamily="34" charset="-120"/>
              </a:rPr>
              <a:t>Photos GPS via app mobile / web</a:t>
            </a:r>
            <a:endParaRPr lang="en-US" sz="1300" dirty="0"/>
          </a:p>
        </p:txBody>
      </p:sp>
      <p:sp>
        <p:nvSpPr>
          <p:cNvPr id="19" name="Shape 15"/>
          <p:cNvSpPr/>
          <p:nvPr/>
        </p:nvSpPr>
        <p:spPr>
          <a:xfrm>
            <a:off x="7863840" y="1920240"/>
            <a:ext cx="3520440" cy="1097280"/>
          </a:xfrm>
          <a:prstGeom prst="rect">
            <a:avLst/>
          </a:prstGeom>
          <a:solidFill>
            <a:srgbClr val="FFFFFF"/>
          </a:solidFill>
          <a:ln w="12700">
            <a:solidFill>
              <a:srgbClr val="E2E8F0"/>
            </a:solidFill>
            <a:prstDash val="solid"/>
          </a:ln>
          <a:effectLst>
            <a:outerShdw blurRad="101600" dist="25400" dir="5400000" algn="bl" rotWithShape="0">
              <a:srgbClr val="000000">
                <a:alpha val="10000"/>
              </a:srgbClr>
            </a:outerShdw>
          </a:effectLst>
        </p:spPr>
      </p:sp>
      <p:sp>
        <p:nvSpPr>
          <p:cNvPr id="20" name="Shape 16"/>
          <p:cNvSpPr/>
          <p:nvPr/>
        </p:nvSpPr>
        <p:spPr>
          <a:xfrm>
            <a:off x="7863840" y="1920240"/>
            <a:ext cx="91440" cy="1097280"/>
          </a:xfrm>
          <a:prstGeom prst="rect">
            <a:avLst/>
          </a:prstGeom>
          <a:solidFill>
            <a:srgbClr val="1565C0"/>
          </a:solidFill>
          <a:ln w="12700">
            <a:solidFill>
              <a:srgbClr val="1565C0"/>
            </a:solidFill>
            <a:prstDash val="solid"/>
          </a:ln>
        </p:spPr>
      </p:sp>
      <p:sp>
        <p:nvSpPr>
          <p:cNvPr id="21" name="Shape 17"/>
          <p:cNvSpPr/>
          <p:nvPr/>
        </p:nvSpPr>
        <p:spPr>
          <a:xfrm>
            <a:off x="8092440" y="2194560"/>
            <a:ext cx="548640" cy="548640"/>
          </a:xfrm>
          <a:prstGeom prst="ellipse">
            <a:avLst/>
          </a:prstGeom>
          <a:solidFill>
            <a:srgbClr val="E3F2FD"/>
          </a:solidFill>
          <a:ln w="12700">
            <a:solidFill>
              <a:srgbClr val="E3F2FD"/>
            </a:solidFill>
            <a:prstDash val="solid"/>
          </a:ln>
        </p:spPr>
      </p:sp>
      <p:pic>
        <p:nvPicPr>
          <p:cNvPr id="22" name="Image 2" descr="preencoded.png"/>
          <p:cNvPicPr>
            <a:picLocks noChangeAspect="1"/>
          </p:cNvPicPr>
          <p:nvPr/>
        </p:nvPicPr>
        <p:blipFill>
          <a:blip r:embed="rId3"/>
          <a:stretch>
            <a:fillRect/>
          </a:stretch>
        </p:blipFill>
        <p:spPr>
          <a:xfrm>
            <a:off x="8183880" y="2286000"/>
            <a:ext cx="365760" cy="365760"/>
          </a:xfrm>
          <a:prstGeom prst="rect">
            <a:avLst/>
          </a:prstGeom>
        </p:spPr>
      </p:pic>
      <p:sp>
        <p:nvSpPr>
          <p:cNvPr id="23" name="Text 18"/>
          <p:cNvSpPr/>
          <p:nvPr/>
        </p:nvSpPr>
        <p:spPr>
          <a:xfrm>
            <a:off x="8778240" y="1920240"/>
            <a:ext cx="2514600" cy="1097280"/>
          </a:xfrm>
          <a:prstGeom prst="rect">
            <a:avLst/>
          </a:prstGeom>
          <a:noFill/>
        </p:spPr>
        <p:txBody>
          <a:bodyPr wrap="square" lIns="0" tIns="0" rIns="0" bIns="0" rtlCol="0" anchor="ctr"/>
          <a:lstStyle/>
          <a:p>
            <a:pPr marL="0" indent="0">
              <a:buNone/>
            </a:pPr>
            <a:r>
              <a:rPr lang="en-US" sz="1300" b="1" dirty="0">
                <a:solidFill>
                  <a:srgbClr val="0D47A1"/>
                </a:solidFill>
                <a:latin typeface="Calibri" pitchFamily="34" charset="0"/>
                <a:ea typeface="Calibri" pitchFamily="34" charset="-122"/>
                <a:cs typeface="Calibri" pitchFamily="34" charset="-120"/>
              </a:rPr>
              <a:t>Données géo</a:t>
            </a:r>
            <a:endParaRPr lang="en-US" sz="1300" dirty="0"/>
          </a:p>
          <a:p>
            <a:pPr marL="0" indent="0">
              <a:buNone/>
            </a:pPr>
            <a:r>
              <a:rPr lang="en-US" sz="1000" dirty="0">
                <a:solidFill>
                  <a:srgbClr val="475569"/>
                </a:solidFill>
                <a:latin typeface="Calibri" pitchFamily="34" charset="0"/>
                <a:ea typeface="Calibri" pitchFamily="34" charset="-122"/>
                <a:cs typeface="Calibri" pitchFamily="34" charset="-120"/>
              </a:rPr>
              <a:t>Shapefiles, zones inondables, bassins</a:t>
            </a:r>
            <a:endParaRPr lang="en-US" sz="1300" dirty="0"/>
          </a:p>
        </p:txBody>
      </p:sp>
      <p:sp>
        <p:nvSpPr>
          <p:cNvPr id="24" name="Shape 19"/>
          <p:cNvSpPr/>
          <p:nvPr/>
        </p:nvSpPr>
        <p:spPr>
          <a:xfrm>
            <a:off x="2263140" y="3108960"/>
            <a:ext cx="91440" cy="320040"/>
          </a:xfrm>
          <a:prstGeom prst="rect">
            <a:avLst/>
          </a:prstGeom>
          <a:solidFill>
            <a:srgbClr val="94A3B8"/>
          </a:solidFill>
          <a:ln w="12700">
            <a:solidFill>
              <a:srgbClr val="94A3B8"/>
            </a:solidFill>
            <a:prstDash val="solid"/>
          </a:ln>
        </p:spPr>
      </p:sp>
      <p:sp>
        <p:nvSpPr>
          <p:cNvPr id="25" name="Shape 20"/>
          <p:cNvSpPr/>
          <p:nvPr/>
        </p:nvSpPr>
        <p:spPr>
          <a:xfrm>
            <a:off x="5920740" y="3108960"/>
            <a:ext cx="91440" cy="320040"/>
          </a:xfrm>
          <a:prstGeom prst="rect">
            <a:avLst/>
          </a:prstGeom>
          <a:solidFill>
            <a:srgbClr val="94A3B8"/>
          </a:solidFill>
          <a:ln w="12700">
            <a:solidFill>
              <a:srgbClr val="94A3B8"/>
            </a:solidFill>
            <a:prstDash val="solid"/>
          </a:ln>
        </p:spPr>
      </p:sp>
      <p:sp>
        <p:nvSpPr>
          <p:cNvPr id="26" name="Shape 21"/>
          <p:cNvSpPr/>
          <p:nvPr/>
        </p:nvSpPr>
        <p:spPr>
          <a:xfrm>
            <a:off x="9578340" y="3108960"/>
            <a:ext cx="91440" cy="320040"/>
          </a:xfrm>
          <a:prstGeom prst="rect">
            <a:avLst/>
          </a:prstGeom>
          <a:solidFill>
            <a:srgbClr val="94A3B8"/>
          </a:solidFill>
          <a:ln w="12700">
            <a:solidFill>
              <a:srgbClr val="94A3B8"/>
            </a:solidFill>
            <a:prstDash val="solid"/>
          </a:ln>
        </p:spPr>
      </p:sp>
      <p:sp>
        <p:nvSpPr>
          <p:cNvPr id="27" name="Shape 22"/>
          <p:cNvSpPr/>
          <p:nvPr/>
        </p:nvSpPr>
        <p:spPr>
          <a:xfrm>
            <a:off x="548640" y="3520440"/>
            <a:ext cx="11064240" cy="1417320"/>
          </a:xfrm>
          <a:prstGeom prst="rect">
            <a:avLst/>
          </a:prstGeom>
          <a:solidFill>
            <a:srgbClr val="0D47A1"/>
          </a:solidFill>
          <a:ln w="12700">
            <a:solidFill>
              <a:srgbClr val="0D47A1"/>
            </a:solidFill>
            <a:prstDash val="solid"/>
          </a:ln>
          <a:effectLst>
            <a:outerShdw blurRad="101600" dist="25400" dir="5400000" algn="bl" rotWithShape="0">
              <a:srgbClr val="000000">
                <a:alpha val="10000"/>
              </a:srgbClr>
            </a:outerShdw>
          </a:effectLst>
        </p:spPr>
      </p:sp>
      <p:sp>
        <p:nvSpPr>
          <p:cNvPr id="28" name="Shape 23"/>
          <p:cNvSpPr/>
          <p:nvPr/>
        </p:nvSpPr>
        <p:spPr>
          <a:xfrm>
            <a:off x="548640" y="3520440"/>
            <a:ext cx="11064240" cy="365760"/>
          </a:xfrm>
          <a:prstGeom prst="rect">
            <a:avLst/>
          </a:prstGeom>
          <a:solidFill>
            <a:srgbClr val="F59E0B"/>
          </a:solidFill>
          <a:ln w="12700">
            <a:solidFill>
              <a:srgbClr val="F59E0B"/>
            </a:solidFill>
            <a:prstDash val="solid"/>
          </a:ln>
        </p:spPr>
      </p:sp>
      <p:sp>
        <p:nvSpPr>
          <p:cNvPr id="29" name="Text 24"/>
          <p:cNvSpPr/>
          <p:nvPr/>
        </p:nvSpPr>
        <p:spPr>
          <a:xfrm>
            <a:off x="548640" y="3520440"/>
            <a:ext cx="11064240" cy="365760"/>
          </a:xfrm>
          <a:prstGeom prst="rect">
            <a:avLst/>
          </a:prstGeom>
          <a:noFill/>
        </p:spPr>
        <p:txBody>
          <a:bodyPr wrap="square" lIns="0" tIns="0" rIns="0" bIns="0" rtlCol="0" anchor="ctr"/>
          <a:lstStyle/>
          <a:p>
            <a:pPr marL="0" indent="0" algn="ctr">
              <a:buNone/>
            </a:pPr>
            <a:r>
              <a:rPr lang="en-US" sz="1100" b="1" kern="0" spc="400" dirty="0">
                <a:solidFill>
                  <a:srgbClr val="0D47A1"/>
                </a:solidFill>
                <a:latin typeface="Calibri" pitchFamily="34" charset="0"/>
                <a:ea typeface="Calibri" pitchFamily="34" charset="-122"/>
                <a:cs typeface="Calibri" pitchFamily="34" charset="-120"/>
              </a:rPr>
              <a:t>MOTEUR D'INTELLIGENCE ARTIFICIELLE</a:t>
            </a:r>
            <a:endParaRPr lang="en-US" sz="1100" dirty="0"/>
          </a:p>
        </p:txBody>
      </p:sp>
      <p:sp>
        <p:nvSpPr>
          <p:cNvPr id="30" name="Shape 25"/>
          <p:cNvSpPr/>
          <p:nvPr/>
        </p:nvSpPr>
        <p:spPr>
          <a:xfrm>
            <a:off x="777240" y="4069080"/>
            <a:ext cx="731520" cy="731520"/>
          </a:xfrm>
          <a:prstGeom prst="ellipse">
            <a:avLst/>
          </a:prstGeom>
          <a:solidFill>
            <a:srgbClr val="1565C0"/>
          </a:solidFill>
          <a:ln w="12700">
            <a:solidFill>
              <a:srgbClr val="1565C0"/>
            </a:solidFill>
            <a:prstDash val="solid"/>
          </a:ln>
        </p:spPr>
      </p:sp>
      <p:pic>
        <p:nvPicPr>
          <p:cNvPr id="31" name="Image 3" descr="preencoded.png"/>
          <p:cNvPicPr>
            <a:picLocks noChangeAspect="1"/>
          </p:cNvPicPr>
          <p:nvPr/>
        </p:nvPicPr>
        <p:blipFill>
          <a:blip r:embed="rId4"/>
          <a:stretch>
            <a:fillRect/>
          </a:stretch>
        </p:blipFill>
        <p:spPr>
          <a:xfrm>
            <a:off x="914400" y="4206240"/>
            <a:ext cx="457200" cy="457200"/>
          </a:xfrm>
          <a:prstGeom prst="rect">
            <a:avLst/>
          </a:prstGeom>
        </p:spPr>
      </p:pic>
      <p:sp>
        <p:nvSpPr>
          <p:cNvPr id="32" name="Text 26"/>
          <p:cNvSpPr/>
          <p:nvPr/>
        </p:nvSpPr>
        <p:spPr>
          <a:xfrm>
            <a:off x="1645920" y="4023360"/>
            <a:ext cx="4434840" cy="914400"/>
          </a:xfrm>
          <a:prstGeom prst="rect">
            <a:avLst/>
          </a:prstGeom>
          <a:noFill/>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Random Forest</a:t>
            </a:r>
            <a:endParaRPr lang="en-US" sz="1400" dirty="0"/>
          </a:p>
          <a:p>
            <a:pPr marL="0" indent="0">
              <a:buNone/>
            </a:pPr>
            <a:r>
              <a:rPr lang="en-US" sz="1100" dirty="0">
                <a:solidFill>
                  <a:srgbClr val="42A5F5"/>
                </a:solidFill>
                <a:latin typeface="Calibri" pitchFamily="34" charset="0"/>
                <a:ea typeface="Calibri" pitchFamily="34" charset="-122"/>
                <a:cs typeface="Calibri" pitchFamily="34" charset="-120"/>
              </a:rPr>
              <a:t>Prédiction risque météo  ·  AUC = 1,000  ·  Recall = 100 %</a:t>
            </a:r>
            <a:endParaRPr lang="en-US" sz="1400" dirty="0"/>
          </a:p>
        </p:txBody>
      </p:sp>
      <p:sp>
        <p:nvSpPr>
          <p:cNvPr id="33" name="Shape 27"/>
          <p:cNvSpPr/>
          <p:nvPr/>
        </p:nvSpPr>
        <p:spPr>
          <a:xfrm>
            <a:off x="6263640" y="4069080"/>
            <a:ext cx="731520" cy="731520"/>
          </a:xfrm>
          <a:prstGeom prst="ellipse">
            <a:avLst/>
          </a:prstGeom>
          <a:solidFill>
            <a:srgbClr val="1565C0"/>
          </a:solidFill>
          <a:ln w="12700">
            <a:solidFill>
              <a:srgbClr val="1565C0"/>
            </a:solidFill>
            <a:prstDash val="solid"/>
          </a:ln>
        </p:spPr>
      </p:sp>
      <p:pic>
        <p:nvPicPr>
          <p:cNvPr id="34" name="Image 4" descr="preencoded.png"/>
          <p:cNvPicPr>
            <a:picLocks noChangeAspect="1"/>
          </p:cNvPicPr>
          <p:nvPr/>
        </p:nvPicPr>
        <p:blipFill>
          <a:blip r:embed="rId5"/>
          <a:stretch>
            <a:fillRect/>
          </a:stretch>
        </p:blipFill>
        <p:spPr>
          <a:xfrm>
            <a:off x="6400800" y="4206240"/>
            <a:ext cx="457200" cy="457200"/>
          </a:xfrm>
          <a:prstGeom prst="rect">
            <a:avLst/>
          </a:prstGeom>
        </p:spPr>
      </p:pic>
      <p:sp>
        <p:nvSpPr>
          <p:cNvPr id="35" name="Text 28"/>
          <p:cNvSpPr/>
          <p:nvPr/>
        </p:nvSpPr>
        <p:spPr>
          <a:xfrm>
            <a:off x="7132320" y="4023360"/>
            <a:ext cx="4434840" cy="914400"/>
          </a:xfrm>
          <a:prstGeom prst="rect">
            <a:avLst/>
          </a:prstGeom>
          <a:noFill/>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ConvNeXt-Tiny</a:t>
            </a:r>
            <a:endParaRPr lang="en-US" sz="1400" dirty="0"/>
          </a:p>
          <a:p>
            <a:pPr marL="0" indent="0">
              <a:buNone/>
            </a:pPr>
            <a:r>
              <a:rPr lang="en-US" sz="1100" dirty="0">
                <a:solidFill>
                  <a:srgbClr val="42A5F5"/>
                </a:solidFill>
                <a:latin typeface="Calibri" pitchFamily="34" charset="0"/>
                <a:ea typeface="Calibri" pitchFamily="34" charset="-122"/>
                <a:cs typeface="Calibri" pitchFamily="34" charset="-120"/>
              </a:rPr>
              <a:t>Validation visuelle  ·  F1 = 96,48 %  ·  0 fausse alerte</a:t>
            </a:r>
            <a:endParaRPr lang="en-US" sz="1400" dirty="0"/>
          </a:p>
        </p:txBody>
      </p:sp>
      <p:sp>
        <p:nvSpPr>
          <p:cNvPr id="36" name="Shape 29"/>
          <p:cNvSpPr/>
          <p:nvPr/>
        </p:nvSpPr>
        <p:spPr>
          <a:xfrm>
            <a:off x="6035040" y="5029200"/>
            <a:ext cx="91440" cy="320040"/>
          </a:xfrm>
          <a:prstGeom prst="rect">
            <a:avLst/>
          </a:prstGeom>
          <a:solidFill>
            <a:srgbClr val="94A3B8"/>
          </a:solidFill>
          <a:ln w="12700">
            <a:solidFill>
              <a:srgbClr val="94A3B8"/>
            </a:solidFill>
            <a:prstDash val="solid"/>
          </a:ln>
        </p:spPr>
      </p:sp>
      <p:sp>
        <p:nvSpPr>
          <p:cNvPr id="37" name="Shape 30"/>
          <p:cNvSpPr/>
          <p:nvPr/>
        </p:nvSpPr>
        <p:spPr>
          <a:xfrm>
            <a:off x="548640" y="5440680"/>
            <a:ext cx="11064240" cy="777240"/>
          </a:xfrm>
          <a:prstGeom prst="rect">
            <a:avLst/>
          </a:prstGeom>
          <a:solidFill>
            <a:srgbClr val="059669"/>
          </a:solidFill>
          <a:ln w="12700">
            <a:solidFill>
              <a:srgbClr val="059669"/>
            </a:solidFill>
            <a:prstDash val="solid"/>
          </a:ln>
          <a:effectLst>
            <a:outerShdw blurRad="101600" dist="25400" dir="5400000" algn="bl" rotWithShape="0">
              <a:srgbClr val="000000">
                <a:alpha val="10000"/>
              </a:srgbClr>
            </a:outerShdw>
          </a:effectLst>
        </p:spPr>
      </p:sp>
      <p:pic>
        <p:nvPicPr>
          <p:cNvPr id="38" name="Image 5" descr="preencoded.png"/>
          <p:cNvPicPr>
            <a:picLocks noChangeAspect="1"/>
          </p:cNvPicPr>
          <p:nvPr/>
        </p:nvPicPr>
        <p:blipFill>
          <a:blip r:embed="rId6"/>
          <a:stretch>
            <a:fillRect/>
          </a:stretch>
        </p:blipFill>
        <p:spPr>
          <a:xfrm>
            <a:off x="777240" y="5577840"/>
            <a:ext cx="502920" cy="502920"/>
          </a:xfrm>
          <a:prstGeom prst="rect">
            <a:avLst/>
          </a:prstGeom>
        </p:spPr>
      </p:pic>
      <p:sp>
        <p:nvSpPr>
          <p:cNvPr id="39" name="Text 31"/>
          <p:cNvSpPr/>
          <p:nvPr/>
        </p:nvSpPr>
        <p:spPr>
          <a:xfrm>
            <a:off x="1417320" y="5440680"/>
            <a:ext cx="10058400" cy="777240"/>
          </a:xfrm>
          <a:prstGeom prst="rect">
            <a:avLst/>
          </a:prstGeom>
          <a:noFill/>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Plateforme FloodGuardAI  </a:t>
            </a:r>
            <a:r>
              <a:rPr lang="en-US" sz="1100" dirty="0">
                <a:solidFill>
                  <a:srgbClr val="ECFDF5"/>
                </a:solidFill>
                <a:latin typeface="Calibri" pitchFamily="34" charset="0"/>
                <a:ea typeface="Calibri" pitchFamily="34" charset="-122"/>
                <a:cs typeface="Calibri" pitchFamily="34" charset="-120"/>
              </a:rPr>
              <a:t>·  Carte temps réel · alertes ciblées · console admin · API ouverte · numéros utiles</a:t>
            </a:r>
            <a:endParaRPr lang="en-US" sz="1400" dirty="0"/>
          </a:p>
        </p:txBody>
      </p:sp>
      <p:sp>
        <p:nvSpPr>
          <p:cNvPr id="40" name="Shape 32"/>
          <p:cNvSpPr/>
          <p:nvPr/>
        </p:nvSpPr>
        <p:spPr>
          <a:xfrm>
            <a:off x="0" y="6537960"/>
            <a:ext cx="12161520" cy="320040"/>
          </a:xfrm>
          <a:prstGeom prst="rect">
            <a:avLst/>
          </a:prstGeom>
          <a:solidFill>
            <a:srgbClr val="0D47A1"/>
          </a:solidFill>
          <a:ln w="12700">
            <a:solidFill>
              <a:srgbClr val="0D47A1"/>
            </a:solidFill>
            <a:prstDash val="solid"/>
          </a:ln>
        </p:spPr>
      </p:sp>
      <p:sp>
        <p:nvSpPr>
          <p:cNvPr id="41" name="Text 33"/>
          <p:cNvSpPr/>
          <p:nvPr/>
        </p:nvSpPr>
        <p:spPr>
          <a:xfrm>
            <a:off x="457200" y="6537960"/>
            <a:ext cx="7315200" cy="320040"/>
          </a:xfrm>
          <a:prstGeom prst="rect">
            <a:avLst/>
          </a:prstGeom>
          <a:noFill/>
        </p:spPr>
        <p:txBody>
          <a:bodyPr wrap="square" lIns="0" tIns="0" rIns="0" bIns="0" rtlCol="0" anchor="ctr"/>
          <a:lstStyle/>
          <a:p>
            <a:pPr marL="0" indent="0" algn="l">
              <a:buNone/>
            </a:pPr>
            <a:r>
              <a:rPr lang="en-US" sz="900" dirty="0">
                <a:solidFill>
                  <a:srgbClr val="F8FAFC"/>
                </a:solidFill>
                <a:latin typeface="Calibri" pitchFamily="34" charset="0"/>
                <a:ea typeface="Calibri" pitchFamily="34" charset="-122"/>
                <a:cs typeface="Calibri" pitchFamily="34" charset="-120"/>
              </a:rPr>
              <a:t>Saytu Mbeund  ·  FloodGuardAI  ·  flood.yaataldigital.com</a:t>
            </a:r>
            <a:endParaRPr lang="en-US" sz="900" dirty="0"/>
          </a:p>
        </p:txBody>
      </p:sp>
      <p:sp>
        <p:nvSpPr>
          <p:cNvPr id="42" name="Text 34"/>
          <p:cNvSpPr/>
          <p:nvPr/>
        </p:nvSpPr>
        <p:spPr>
          <a:xfrm>
            <a:off x="8503920" y="6537960"/>
            <a:ext cx="2286000" cy="320040"/>
          </a:xfrm>
          <a:prstGeom prst="rect">
            <a:avLst/>
          </a:prstGeom>
          <a:noFill/>
        </p:spPr>
        <p:txBody>
          <a:bodyPr wrap="square" lIns="0" tIns="0" rIns="0" bIns="0" rtlCol="0" anchor="ctr"/>
          <a:lstStyle/>
          <a:p>
            <a:pPr marL="0" indent="0" algn="r">
              <a:buNone/>
            </a:pPr>
            <a:r>
              <a:rPr lang="en-US" sz="900" i="1" dirty="0">
                <a:solidFill>
                  <a:srgbClr val="F59E0B"/>
                </a:solidFill>
                <a:latin typeface="Calibri" pitchFamily="34" charset="0"/>
                <a:ea typeface="Calibri" pitchFamily="34" charset="-122"/>
                <a:cs typeface="Calibri" pitchFamily="34" charset="-120"/>
              </a:rPr>
              <a:t>▸ ADAMA</a:t>
            </a:r>
            <a:endParaRPr lang="en-US" sz="900" dirty="0"/>
          </a:p>
        </p:txBody>
      </p:sp>
      <p:sp>
        <p:nvSpPr>
          <p:cNvPr id="43" name="Text 35"/>
          <p:cNvSpPr/>
          <p:nvPr/>
        </p:nvSpPr>
        <p:spPr>
          <a:xfrm>
            <a:off x="11064240" y="6537960"/>
            <a:ext cx="640080" cy="320040"/>
          </a:xfrm>
          <a:prstGeom prst="rect">
            <a:avLst/>
          </a:prstGeom>
          <a:noFill/>
        </p:spPr>
        <p:txBody>
          <a:bodyPr wrap="square" lIns="0" tIns="0" rIns="0" bIns="0" rtlCol="0" anchor="ctr"/>
          <a:lstStyle/>
          <a:p>
            <a:pPr marL="0" indent="0" algn="r">
              <a:buNone/>
            </a:pPr>
            <a:r>
              <a:rPr lang="en-US" sz="900" dirty="0">
                <a:solidFill>
                  <a:srgbClr val="F8FAFC"/>
                </a:solidFill>
                <a:latin typeface="Calibri" pitchFamily="34" charset="0"/>
                <a:ea typeface="Calibri" pitchFamily="34" charset="-122"/>
                <a:cs typeface="Calibri" pitchFamily="34" charset="-120"/>
              </a:rPr>
              <a:t>4 / 12</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548640" y="411480"/>
            <a:ext cx="7315200" cy="320040"/>
          </a:xfrm>
          <a:prstGeom prst="rect">
            <a:avLst/>
          </a:prstGeom>
          <a:noFill/>
        </p:spPr>
        <p:txBody>
          <a:bodyPr wrap="square" lIns="0" tIns="0" rIns="0" bIns="0" rtlCol="0" anchor="ctr"/>
          <a:lstStyle/>
          <a:p>
            <a:pPr marL="0" indent="0">
              <a:buNone/>
            </a:pPr>
            <a:r>
              <a:rPr lang="en-US" sz="1100" b="1" kern="0" spc="400" dirty="0">
                <a:solidFill>
                  <a:srgbClr val="1565C0"/>
                </a:solidFill>
                <a:latin typeface="Calibri" pitchFamily="34" charset="0"/>
                <a:ea typeface="Calibri" pitchFamily="34" charset="-122"/>
                <a:cs typeface="Calibri" pitchFamily="34" charset="-120"/>
              </a:rPr>
              <a:t>ANTICIPATION 24-48H</a:t>
            </a:r>
            <a:endParaRPr lang="en-US" sz="1100" dirty="0"/>
          </a:p>
        </p:txBody>
      </p:sp>
      <p:sp>
        <p:nvSpPr>
          <p:cNvPr id="3" name="Text 1"/>
          <p:cNvSpPr/>
          <p:nvPr/>
        </p:nvSpPr>
        <p:spPr>
          <a:xfrm>
            <a:off x="548640" y="713232"/>
            <a:ext cx="10058400" cy="777240"/>
          </a:xfrm>
          <a:prstGeom prst="rect">
            <a:avLst/>
          </a:prstGeom>
          <a:noFill/>
        </p:spPr>
        <p:txBody>
          <a:bodyPr wrap="square" lIns="0" tIns="0" rIns="0" bIns="0" rtlCol="0" anchor="ctr"/>
          <a:lstStyle/>
          <a:p>
            <a:pPr marL="0" indent="0">
              <a:buNone/>
            </a:pPr>
            <a:r>
              <a:rPr lang="en-US" sz="3000" b="1" dirty="0">
                <a:solidFill>
                  <a:srgbClr val="0D47A1"/>
                </a:solidFill>
                <a:latin typeface="Georgia" panose="02040502050405090303" pitchFamily="34" charset="0"/>
                <a:ea typeface="Georgia" panose="02040502050405090303" pitchFamily="34" charset="-122"/>
                <a:cs typeface="Georgia" panose="02040502050405090303" pitchFamily="34" charset="-120"/>
              </a:rPr>
              <a:t>Composante 1 — Prédiction météo (Random Forest)</a:t>
            </a:r>
            <a:endParaRPr lang="en-US" sz="3000" dirty="0"/>
          </a:p>
        </p:txBody>
      </p:sp>
      <p:sp>
        <p:nvSpPr>
          <p:cNvPr id="4" name="Shape 2"/>
          <p:cNvSpPr/>
          <p:nvPr/>
        </p:nvSpPr>
        <p:spPr>
          <a:xfrm>
            <a:off x="548640" y="1517904"/>
            <a:ext cx="164592" cy="164592"/>
          </a:xfrm>
          <a:prstGeom prst="ellipse">
            <a:avLst/>
          </a:prstGeom>
          <a:solidFill>
            <a:srgbClr val="F59E0B"/>
          </a:solidFill>
          <a:ln w="12700">
            <a:solidFill>
              <a:srgbClr val="F59E0B"/>
            </a:solidFill>
            <a:prstDash val="solid"/>
          </a:ln>
        </p:spPr>
      </p:sp>
      <p:sp>
        <p:nvSpPr>
          <p:cNvPr id="5" name="Shape 3"/>
          <p:cNvSpPr/>
          <p:nvPr/>
        </p:nvSpPr>
        <p:spPr>
          <a:xfrm>
            <a:off x="777240" y="1517904"/>
            <a:ext cx="164592" cy="164592"/>
          </a:xfrm>
          <a:prstGeom prst="ellipse">
            <a:avLst/>
          </a:prstGeom>
          <a:solidFill>
            <a:srgbClr val="1565C0"/>
          </a:solidFill>
          <a:ln w="12700">
            <a:solidFill>
              <a:srgbClr val="1565C0"/>
            </a:solidFill>
            <a:prstDash val="solid"/>
          </a:ln>
        </p:spPr>
      </p:sp>
      <p:sp>
        <p:nvSpPr>
          <p:cNvPr id="6" name="Shape 4"/>
          <p:cNvSpPr/>
          <p:nvPr/>
        </p:nvSpPr>
        <p:spPr>
          <a:xfrm>
            <a:off x="1005840" y="1517904"/>
            <a:ext cx="164592" cy="164592"/>
          </a:xfrm>
          <a:prstGeom prst="ellipse">
            <a:avLst/>
          </a:prstGeom>
          <a:solidFill>
            <a:srgbClr val="E2E8F0"/>
          </a:solidFill>
          <a:ln w="12700">
            <a:solidFill>
              <a:srgbClr val="E2E8F0"/>
            </a:solidFill>
            <a:prstDash val="solid"/>
          </a:ln>
        </p:spPr>
      </p:sp>
      <p:sp>
        <p:nvSpPr>
          <p:cNvPr id="7" name="Shape 5"/>
          <p:cNvSpPr/>
          <p:nvPr/>
        </p:nvSpPr>
        <p:spPr>
          <a:xfrm>
            <a:off x="9692640" y="411480"/>
            <a:ext cx="1920240" cy="411480"/>
          </a:xfrm>
          <a:prstGeom prst="roundRect">
            <a:avLst>
              <a:gd name="adj" fmla="val 11111"/>
            </a:avLst>
          </a:prstGeom>
          <a:solidFill>
            <a:srgbClr val="0891B2"/>
          </a:solidFill>
          <a:ln w="12700">
            <a:solidFill>
              <a:srgbClr val="0891B2"/>
            </a:solidFill>
            <a:prstDash val="solid"/>
          </a:ln>
        </p:spPr>
      </p:sp>
      <p:sp>
        <p:nvSpPr>
          <p:cNvPr id="8" name="Text 6"/>
          <p:cNvSpPr/>
          <p:nvPr/>
        </p:nvSpPr>
        <p:spPr>
          <a:xfrm>
            <a:off x="9692640" y="411480"/>
            <a:ext cx="1920240" cy="411480"/>
          </a:xfrm>
          <a:prstGeom prst="rect">
            <a:avLst/>
          </a:prstGeom>
          <a:noFill/>
        </p:spPr>
        <p:txBody>
          <a:bodyPr wrap="square" lIns="0" tIns="0" rIns="0" bIns="0" rtlCol="0" anchor="ctr"/>
          <a:lstStyle/>
          <a:p>
            <a:pPr marL="0" indent="0" algn="ctr">
              <a:buNone/>
            </a:pPr>
            <a:r>
              <a:rPr lang="en-US" sz="1000" b="1" kern="0" spc="200" dirty="0">
                <a:solidFill>
                  <a:srgbClr val="FFFFFF"/>
                </a:solidFill>
                <a:latin typeface="Calibri" pitchFamily="34" charset="0"/>
                <a:ea typeface="Calibri" pitchFamily="34" charset="-122"/>
                <a:cs typeface="Calibri" pitchFamily="34" charset="-120"/>
              </a:rPr>
              <a:t>ADAMA  ·  MODÈLE 1</a:t>
            </a:r>
            <a:endParaRPr lang="en-US" sz="1000" dirty="0"/>
          </a:p>
        </p:txBody>
      </p:sp>
      <p:sp>
        <p:nvSpPr>
          <p:cNvPr id="9" name="Text 7"/>
          <p:cNvSpPr/>
          <p:nvPr/>
        </p:nvSpPr>
        <p:spPr>
          <a:xfrm>
            <a:off x="548640" y="2011680"/>
            <a:ext cx="5852160" cy="457200"/>
          </a:xfrm>
          <a:prstGeom prst="rect">
            <a:avLst/>
          </a:prstGeom>
          <a:noFill/>
        </p:spPr>
        <p:txBody>
          <a:bodyPr wrap="square" lIns="0" tIns="0" rIns="0" bIns="0" rtlCol="0" anchor="ctr"/>
          <a:lstStyle/>
          <a:p>
            <a:pPr marL="0" indent="0">
              <a:buNone/>
            </a:pPr>
            <a:r>
              <a:rPr lang="en-US" sz="1400" b="1" i="1" dirty="0">
                <a:solidFill>
                  <a:srgbClr val="1565C0"/>
                </a:solidFill>
                <a:latin typeface="Georgia" panose="02040502050405090303" pitchFamily="34" charset="0"/>
                <a:ea typeface="Georgia" panose="02040502050405090303" pitchFamily="34" charset="-122"/>
                <a:cs typeface="Georgia" panose="02040502050405090303" pitchFamily="34" charset="-120"/>
              </a:rPr>
              <a:t>Anticiper les épisodes critiques à partir de 20 ans de réanalyses horaires.</a:t>
            </a:r>
            <a:endParaRPr lang="en-US" sz="1400" dirty="0"/>
          </a:p>
        </p:txBody>
      </p:sp>
      <p:sp>
        <p:nvSpPr>
          <p:cNvPr id="10" name="Text 8"/>
          <p:cNvSpPr/>
          <p:nvPr/>
        </p:nvSpPr>
        <p:spPr>
          <a:xfrm>
            <a:off x="548640" y="2514600"/>
            <a:ext cx="5852160" cy="1280160"/>
          </a:xfrm>
          <a:prstGeom prst="rect">
            <a:avLst/>
          </a:prstGeom>
          <a:noFill/>
        </p:spPr>
        <p:txBody>
          <a:bodyPr wrap="square" lIns="0" tIns="0" rIns="0" bIns="0" rtlCol="0" anchor="ctr"/>
          <a:lstStyle/>
          <a:p>
            <a:pPr marL="0" indent="0">
              <a:buNone/>
            </a:pPr>
            <a:r>
              <a:rPr lang="en-US" sz="1200" dirty="0">
                <a:solidFill>
                  <a:srgbClr val="475569"/>
                </a:solidFill>
                <a:latin typeface="Calibri" pitchFamily="34" charset="0"/>
                <a:ea typeface="Calibri" pitchFamily="34" charset="-122"/>
                <a:cs typeface="Calibri" pitchFamily="34" charset="-120"/>
              </a:rPr>
              <a:t>Modèle Random Forest entraîné sur 20 ans de réanalyses météo (2005-2025), couvrant 6 zones représentatives du Sénégal (Dakar, Touba, Kaolack, Kolda, Matam, Tambacounda). Validation croisée temporelle stricte (TimeSeriesSplit, 5 folds).</a:t>
            </a:r>
            <a:endParaRPr lang="en-US" sz="1200" dirty="0"/>
          </a:p>
        </p:txBody>
      </p:sp>
      <p:sp>
        <p:nvSpPr>
          <p:cNvPr id="11" name="Text 9"/>
          <p:cNvSpPr/>
          <p:nvPr/>
        </p:nvSpPr>
        <p:spPr>
          <a:xfrm>
            <a:off x="548640" y="3840480"/>
            <a:ext cx="5852160" cy="365760"/>
          </a:xfrm>
          <a:prstGeom prst="rect">
            <a:avLst/>
          </a:prstGeom>
          <a:noFill/>
        </p:spPr>
        <p:txBody>
          <a:bodyPr wrap="square" lIns="0" tIns="0" rIns="0" bIns="0" rtlCol="0" anchor="ctr"/>
          <a:lstStyle/>
          <a:p>
            <a:pPr marL="0" indent="0">
              <a:buNone/>
            </a:pPr>
            <a:r>
              <a:rPr lang="en-US" sz="1200" b="1" dirty="0">
                <a:solidFill>
                  <a:srgbClr val="0D47A1"/>
                </a:solidFill>
                <a:latin typeface="Calibri" pitchFamily="34" charset="0"/>
                <a:ea typeface="Calibri" pitchFamily="34" charset="-122"/>
                <a:cs typeface="Calibri" pitchFamily="34" charset="-120"/>
              </a:rPr>
              <a:t>Importance des variables (Gini)</a:t>
            </a:r>
            <a:endParaRPr lang="en-US" sz="1200" dirty="0"/>
          </a:p>
        </p:txBody>
      </p:sp>
      <p:sp>
        <p:nvSpPr>
          <p:cNvPr id="12" name="Text 10"/>
          <p:cNvSpPr/>
          <p:nvPr/>
        </p:nvSpPr>
        <p:spPr>
          <a:xfrm>
            <a:off x="548640" y="4251960"/>
            <a:ext cx="1554480" cy="320040"/>
          </a:xfrm>
          <a:prstGeom prst="rect">
            <a:avLst/>
          </a:prstGeom>
          <a:noFill/>
        </p:spPr>
        <p:txBody>
          <a:bodyPr wrap="square" lIns="0" tIns="0" rIns="0" bIns="0" rtlCol="0" anchor="ctr"/>
          <a:lstStyle/>
          <a:p>
            <a:pPr marL="0" indent="0">
              <a:buNone/>
            </a:pPr>
            <a:r>
              <a:rPr lang="en-US" sz="1000" dirty="0">
                <a:solidFill>
                  <a:srgbClr val="475569"/>
                </a:solidFill>
                <a:latin typeface="Calibri" pitchFamily="34" charset="0"/>
                <a:ea typeface="Calibri" pitchFamily="34" charset="-122"/>
                <a:cs typeface="Calibri" pitchFamily="34" charset="-120"/>
              </a:rPr>
              <a:t>precip_3d_sum</a:t>
            </a:r>
            <a:endParaRPr lang="en-US" sz="1000" dirty="0"/>
          </a:p>
        </p:txBody>
      </p:sp>
      <p:sp>
        <p:nvSpPr>
          <p:cNvPr id="13" name="Shape 11"/>
          <p:cNvSpPr/>
          <p:nvPr/>
        </p:nvSpPr>
        <p:spPr>
          <a:xfrm>
            <a:off x="2194560" y="4297680"/>
            <a:ext cx="3474720" cy="228600"/>
          </a:xfrm>
          <a:prstGeom prst="rect">
            <a:avLst/>
          </a:prstGeom>
          <a:solidFill>
            <a:srgbClr val="E2E8F0"/>
          </a:solidFill>
          <a:ln w="12700">
            <a:solidFill>
              <a:srgbClr val="E2E8F0"/>
            </a:solidFill>
            <a:prstDash val="solid"/>
          </a:ln>
        </p:spPr>
      </p:sp>
      <p:sp>
        <p:nvSpPr>
          <p:cNvPr id="14" name="Shape 12"/>
          <p:cNvSpPr/>
          <p:nvPr/>
        </p:nvSpPr>
        <p:spPr>
          <a:xfrm>
            <a:off x="2194560" y="4297680"/>
            <a:ext cx="3314883" cy="228600"/>
          </a:xfrm>
          <a:prstGeom prst="rect">
            <a:avLst/>
          </a:prstGeom>
          <a:solidFill>
            <a:srgbClr val="F59E0B"/>
          </a:solidFill>
          <a:ln w="12700">
            <a:solidFill>
              <a:srgbClr val="F59E0B"/>
            </a:solidFill>
            <a:prstDash val="solid"/>
          </a:ln>
        </p:spPr>
      </p:sp>
      <p:sp>
        <p:nvSpPr>
          <p:cNvPr id="15" name="Text 13"/>
          <p:cNvSpPr/>
          <p:nvPr/>
        </p:nvSpPr>
        <p:spPr>
          <a:xfrm>
            <a:off x="5715000" y="4251960"/>
            <a:ext cx="731520" cy="320040"/>
          </a:xfrm>
          <a:prstGeom prst="rect">
            <a:avLst/>
          </a:prstGeom>
          <a:noFill/>
        </p:spPr>
        <p:txBody>
          <a:bodyPr wrap="square" lIns="0" tIns="0" rIns="0" bIns="0" rtlCol="0" anchor="ctr"/>
          <a:lstStyle/>
          <a:p>
            <a:pPr marL="0" indent="0">
              <a:buNone/>
            </a:pPr>
            <a:r>
              <a:rPr lang="en-US" sz="1000" b="1" dirty="0">
                <a:solidFill>
                  <a:srgbClr val="0D47A1"/>
                </a:solidFill>
                <a:latin typeface="Calibri" pitchFamily="34" charset="0"/>
                <a:ea typeface="Calibri" pitchFamily="34" charset="-122"/>
                <a:cs typeface="Calibri" pitchFamily="34" charset="-120"/>
              </a:rPr>
              <a:t>47.7 %</a:t>
            </a:r>
            <a:endParaRPr lang="en-US" sz="1000" dirty="0"/>
          </a:p>
        </p:txBody>
      </p:sp>
      <p:sp>
        <p:nvSpPr>
          <p:cNvPr id="16" name="Text 14"/>
          <p:cNvSpPr/>
          <p:nvPr/>
        </p:nvSpPr>
        <p:spPr>
          <a:xfrm>
            <a:off x="548640" y="4617720"/>
            <a:ext cx="1554480" cy="320040"/>
          </a:xfrm>
          <a:prstGeom prst="rect">
            <a:avLst/>
          </a:prstGeom>
          <a:noFill/>
        </p:spPr>
        <p:txBody>
          <a:bodyPr wrap="square" lIns="0" tIns="0" rIns="0" bIns="0" rtlCol="0" anchor="ctr"/>
          <a:lstStyle/>
          <a:p>
            <a:pPr marL="0" indent="0">
              <a:buNone/>
            </a:pPr>
            <a:r>
              <a:rPr lang="en-US" sz="1000" dirty="0">
                <a:solidFill>
                  <a:srgbClr val="475569"/>
                </a:solidFill>
                <a:latin typeface="Calibri" pitchFamily="34" charset="0"/>
                <a:ea typeface="Calibri" pitchFamily="34" charset="-122"/>
                <a:cs typeface="Calibri" pitchFamily="34" charset="-120"/>
              </a:rPr>
              <a:t>precip_24h</a:t>
            </a:r>
            <a:endParaRPr lang="en-US" sz="1000" dirty="0"/>
          </a:p>
        </p:txBody>
      </p:sp>
      <p:sp>
        <p:nvSpPr>
          <p:cNvPr id="17" name="Shape 15"/>
          <p:cNvSpPr/>
          <p:nvPr/>
        </p:nvSpPr>
        <p:spPr>
          <a:xfrm>
            <a:off x="2194560" y="4663440"/>
            <a:ext cx="3474720" cy="228600"/>
          </a:xfrm>
          <a:prstGeom prst="rect">
            <a:avLst/>
          </a:prstGeom>
          <a:solidFill>
            <a:srgbClr val="E2E8F0"/>
          </a:solidFill>
          <a:ln w="12700">
            <a:solidFill>
              <a:srgbClr val="E2E8F0"/>
            </a:solidFill>
            <a:prstDash val="solid"/>
          </a:ln>
        </p:spPr>
      </p:sp>
      <p:sp>
        <p:nvSpPr>
          <p:cNvPr id="18" name="Shape 16"/>
          <p:cNvSpPr/>
          <p:nvPr/>
        </p:nvSpPr>
        <p:spPr>
          <a:xfrm>
            <a:off x="2194560" y="4663440"/>
            <a:ext cx="1271748" cy="228600"/>
          </a:xfrm>
          <a:prstGeom prst="rect">
            <a:avLst/>
          </a:prstGeom>
          <a:solidFill>
            <a:srgbClr val="1565C0"/>
          </a:solidFill>
          <a:ln w="12700">
            <a:solidFill>
              <a:srgbClr val="1565C0"/>
            </a:solidFill>
            <a:prstDash val="solid"/>
          </a:ln>
        </p:spPr>
      </p:sp>
      <p:sp>
        <p:nvSpPr>
          <p:cNvPr id="19" name="Text 17"/>
          <p:cNvSpPr/>
          <p:nvPr/>
        </p:nvSpPr>
        <p:spPr>
          <a:xfrm>
            <a:off x="5715000" y="4617720"/>
            <a:ext cx="731520" cy="320040"/>
          </a:xfrm>
          <a:prstGeom prst="rect">
            <a:avLst/>
          </a:prstGeom>
          <a:noFill/>
        </p:spPr>
        <p:txBody>
          <a:bodyPr wrap="square" lIns="0" tIns="0" rIns="0" bIns="0" rtlCol="0" anchor="ctr"/>
          <a:lstStyle/>
          <a:p>
            <a:pPr marL="0" indent="0">
              <a:buNone/>
            </a:pPr>
            <a:r>
              <a:rPr lang="en-US" sz="1000" b="1" dirty="0">
                <a:solidFill>
                  <a:srgbClr val="0D47A1"/>
                </a:solidFill>
                <a:latin typeface="Calibri" pitchFamily="34" charset="0"/>
                <a:ea typeface="Calibri" pitchFamily="34" charset="-122"/>
                <a:cs typeface="Calibri" pitchFamily="34" charset="-120"/>
              </a:rPr>
              <a:t>18.3 %</a:t>
            </a:r>
            <a:endParaRPr lang="en-US" sz="1000" dirty="0"/>
          </a:p>
        </p:txBody>
      </p:sp>
      <p:sp>
        <p:nvSpPr>
          <p:cNvPr id="20" name="Text 18"/>
          <p:cNvSpPr/>
          <p:nvPr/>
        </p:nvSpPr>
        <p:spPr>
          <a:xfrm>
            <a:off x="548640" y="4983480"/>
            <a:ext cx="1554480" cy="320040"/>
          </a:xfrm>
          <a:prstGeom prst="rect">
            <a:avLst/>
          </a:prstGeom>
          <a:noFill/>
        </p:spPr>
        <p:txBody>
          <a:bodyPr wrap="square" lIns="0" tIns="0" rIns="0" bIns="0" rtlCol="0" anchor="ctr"/>
          <a:lstStyle/>
          <a:p>
            <a:pPr marL="0" indent="0">
              <a:buNone/>
            </a:pPr>
            <a:r>
              <a:rPr lang="en-US" sz="1000" dirty="0">
                <a:solidFill>
                  <a:srgbClr val="475569"/>
                </a:solidFill>
                <a:latin typeface="Calibri" pitchFamily="34" charset="0"/>
                <a:ea typeface="Calibri" pitchFamily="34" charset="-122"/>
                <a:cs typeface="Calibri" pitchFamily="34" charset="-120"/>
              </a:rPr>
              <a:t>humidity_72h</a:t>
            </a:r>
            <a:endParaRPr lang="en-US" sz="1000" dirty="0"/>
          </a:p>
        </p:txBody>
      </p:sp>
      <p:sp>
        <p:nvSpPr>
          <p:cNvPr id="21" name="Shape 19"/>
          <p:cNvSpPr/>
          <p:nvPr/>
        </p:nvSpPr>
        <p:spPr>
          <a:xfrm>
            <a:off x="2194560" y="5029200"/>
            <a:ext cx="3474720" cy="228600"/>
          </a:xfrm>
          <a:prstGeom prst="rect">
            <a:avLst/>
          </a:prstGeom>
          <a:solidFill>
            <a:srgbClr val="E2E8F0"/>
          </a:solidFill>
          <a:ln w="12700">
            <a:solidFill>
              <a:srgbClr val="E2E8F0"/>
            </a:solidFill>
            <a:prstDash val="solid"/>
          </a:ln>
        </p:spPr>
      </p:sp>
      <p:sp>
        <p:nvSpPr>
          <p:cNvPr id="22" name="Shape 20"/>
          <p:cNvSpPr/>
          <p:nvPr/>
        </p:nvSpPr>
        <p:spPr>
          <a:xfrm>
            <a:off x="2194560" y="5029200"/>
            <a:ext cx="868680" cy="228600"/>
          </a:xfrm>
          <a:prstGeom prst="rect">
            <a:avLst/>
          </a:prstGeom>
          <a:solidFill>
            <a:srgbClr val="1565C0"/>
          </a:solidFill>
          <a:ln w="12700">
            <a:solidFill>
              <a:srgbClr val="1565C0"/>
            </a:solidFill>
            <a:prstDash val="solid"/>
          </a:ln>
        </p:spPr>
      </p:sp>
      <p:sp>
        <p:nvSpPr>
          <p:cNvPr id="23" name="Text 21"/>
          <p:cNvSpPr/>
          <p:nvPr/>
        </p:nvSpPr>
        <p:spPr>
          <a:xfrm>
            <a:off x="5715000" y="4983480"/>
            <a:ext cx="731520" cy="320040"/>
          </a:xfrm>
          <a:prstGeom prst="rect">
            <a:avLst/>
          </a:prstGeom>
          <a:noFill/>
        </p:spPr>
        <p:txBody>
          <a:bodyPr wrap="square" lIns="0" tIns="0" rIns="0" bIns="0" rtlCol="0" anchor="ctr"/>
          <a:lstStyle/>
          <a:p>
            <a:pPr marL="0" indent="0">
              <a:buNone/>
            </a:pPr>
            <a:r>
              <a:rPr lang="en-US" sz="1000" b="1" dirty="0">
                <a:solidFill>
                  <a:srgbClr val="0D47A1"/>
                </a:solidFill>
                <a:latin typeface="Calibri" pitchFamily="34" charset="0"/>
                <a:ea typeface="Calibri" pitchFamily="34" charset="-122"/>
                <a:cs typeface="Calibri" pitchFamily="34" charset="-120"/>
              </a:rPr>
              <a:t>12.5 %</a:t>
            </a:r>
            <a:endParaRPr lang="en-US" sz="1000" dirty="0"/>
          </a:p>
        </p:txBody>
      </p:sp>
      <p:sp>
        <p:nvSpPr>
          <p:cNvPr id="24" name="Text 22"/>
          <p:cNvSpPr/>
          <p:nvPr/>
        </p:nvSpPr>
        <p:spPr>
          <a:xfrm>
            <a:off x="548640" y="5349240"/>
            <a:ext cx="1554480" cy="320040"/>
          </a:xfrm>
          <a:prstGeom prst="rect">
            <a:avLst/>
          </a:prstGeom>
          <a:noFill/>
        </p:spPr>
        <p:txBody>
          <a:bodyPr wrap="square" lIns="0" tIns="0" rIns="0" bIns="0" rtlCol="0" anchor="ctr"/>
          <a:lstStyle/>
          <a:p>
            <a:pPr marL="0" indent="0">
              <a:buNone/>
            </a:pPr>
            <a:r>
              <a:rPr lang="en-US" sz="1000" dirty="0">
                <a:solidFill>
                  <a:srgbClr val="475569"/>
                </a:solidFill>
                <a:latin typeface="Calibri" pitchFamily="34" charset="0"/>
                <a:ea typeface="Calibri" pitchFamily="34" charset="-122"/>
                <a:cs typeface="Calibri" pitchFamily="34" charset="-120"/>
              </a:rPr>
              <a:t>temp_max_3d</a:t>
            </a:r>
            <a:endParaRPr lang="en-US" sz="1000" dirty="0"/>
          </a:p>
        </p:txBody>
      </p:sp>
      <p:sp>
        <p:nvSpPr>
          <p:cNvPr id="25" name="Shape 23"/>
          <p:cNvSpPr/>
          <p:nvPr/>
        </p:nvSpPr>
        <p:spPr>
          <a:xfrm>
            <a:off x="2194560" y="5394960"/>
            <a:ext cx="3474720" cy="228600"/>
          </a:xfrm>
          <a:prstGeom prst="rect">
            <a:avLst/>
          </a:prstGeom>
          <a:solidFill>
            <a:srgbClr val="E2E8F0"/>
          </a:solidFill>
          <a:ln w="12700">
            <a:solidFill>
              <a:srgbClr val="E2E8F0"/>
            </a:solidFill>
            <a:prstDash val="solid"/>
          </a:ln>
        </p:spPr>
      </p:sp>
      <p:sp>
        <p:nvSpPr>
          <p:cNvPr id="26" name="Shape 24"/>
          <p:cNvSpPr/>
          <p:nvPr/>
        </p:nvSpPr>
        <p:spPr>
          <a:xfrm>
            <a:off x="2194560" y="5394960"/>
            <a:ext cx="639348" cy="228600"/>
          </a:xfrm>
          <a:prstGeom prst="rect">
            <a:avLst/>
          </a:prstGeom>
          <a:solidFill>
            <a:srgbClr val="1565C0"/>
          </a:solidFill>
          <a:ln w="12700">
            <a:solidFill>
              <a:srgbClr val="1565C0"/>
            </a:solidFill>
            <a:prstDash val="solid"/>
          </a:ln>
        </p:spPr>
      </p:sp>
      <p:sp>
        <p:nvSpPr>
          <p:cNvPr id="27" name="Text 25"/>
          <p:cNvSpPr/>
          <p:nvPr/>
        </p:nvSpPr>
        <p:spPr>
          <a:xfrm>
            <a:off x="5715000" y="5349240"/>
            <a:ext cx="731520" cy="320040"/>
          </a:xfrm>
          <a:prstGeom prst="rect">
            <a:avLst/>
          </a:prstGeom>
          <a:noFill/>
        </p:spPr>
        <p:txBody>
          <a:bodyPr wrap="square" lIns="0" tIns="0" rIns="0" bIns="0" rtlCol="0" anchor="ctr"/>
          <a:lstStyle/>
          <a:p>
            <a:pPr marL="0" indent="0">
              <a:buNone/>
            </a:pPr>
            <a:r>
              <a:rPr lang="en-US" sz="1000" b="1" dirty="0">
                <a:solidFill>
                  <a:srgbClr val="0D47A1"/>
                </a:solidFill>
                <a:latin typeface="Calibri" pitchFamily="34" charset="0"/>
                <a:ea typeface="Calibri" pitchFamily="34" charset="-122"/>
                <a:cs typeface="Calibri" pitchFamily="34" charset="-120"/>
              </a:rPr>
              <a:t>9.2 %</a:t>
            </a:r>
            <a:endParaRPr lang="en-US" sz="1000" dirty="0"/>
          </a:p>
        </p:txBody>
      </p:sp>
      <p:sp>
        <p:nvSpPr>
          <p:cNvPr id="28" name="Text 26"/>
          <p:cNvSpPr/>
          <p:nvPr/>
        </p:nvSpPr>
        <p:spPr>
          <a:xfrm>
            <a:off x="548640" y="5715000"/>
            <a:ext cx="1554480" cy="320040"/>
          </a:xfrm>
          <a:prstGeom prst="rect">
            <a:avLst/>
          </a:prstGeom>
          <a:noFill/>
        </p:spPr>
        <p:txBody>
          <a:bodyPr wrap="square" lIns="0" tIns="0" rIns="0" bIns="0" rtlCol="0" anchor="ctr"/>
          <a:lstStyle/>
          <a:p>
            <a:pPr marL="0" indent="0">
              <a:buNone/>
            </a:pPr>
            <a:r>
              <a:rPr lang="en-US" sz="1000" dirty="0">
                <a:solidFill>
                  <a:srgbClr val="475569"/>
                </a:solidFill>
                <a:latin typeface="Calibri" pitchFamily="34" charset="0"/>
                <a:ea typeface="Calibri" pitchFamily="34" charset="-122"/>
                <a:cs typeface="Calibri" pitchFamily="34" charset="-120"/>
              </a:rPr>
              <a:t>wind_max</a:t>
            </a:r>
            <a:endParaRPr lang="en-US" sz="1000" dirty="0"/>
          </a:p>
        </p:txBody>
      </p:sp>
      <p:sp>
        <p:nvSpPr>
          <p:cNvPr id="29" name="Shape 27"/>
          <p:cNvSpPr/>
          <p:nvPr/>
        </p:nvSpPr>
        <p:spPr>
          <a:xfrm>
            <a:off x="2194560" y="5760720"/>
            <a:ext cx="3474720" cy="228600"/>
          </a:xfrm>
          <a:prstGeom prst="rect">
            <a:avLst/>
          </a:prstGeom>
          <a:solidFill>
            <a:srgbClr val="E2E8F0"/>
          </a:solidFill>
          <a:ln w="12700">
            <a:solidFill>
              <a:srgbClr val="E2E8F0"/>
            </a:solidFill>
            <a:prstDash val="solid"/>
          </a:ln>
        </p:spPr>
      </p:sp>
      <p:sp>
        <p:nvSpPr>
          <p:cNvPr id="30" name="Shape 28"/>
          <p:cNvSpPr/>
          <p:nvPr/>
        </p:nvSpPr>
        <p:spPr>
          <a:xfrm>
            <a:off x="2194560" y="5760720"/>
            <a:ext cx="423916" cy="228600"/>
          </a:xfrm>
          <a:prstGeom prst="rect">
            <a:avLst/>
          </a:prstGeom>
          <a:solidFill>
            <a:srgbClr val="1565C0"/>
          </a:solidFill>
          <a:ln w="12700">
            <a:solidFill>
              <a:srgbClr val="1565C0"/>
            </a:solidFill>
            <a:prstDash val="solid"/>
          </a:ln>
        </p:spPr>
      </p:sp>
      <p:sp>
        <p:nvSpPr>
          <p:cNvPr id="31" name="Text 29"/>
          <p:cNvSpPr/>
          <p:nvPr/>
        </p:nvSpPr>
        <p:spPr>
          <a:xfrm>
            <a:off x="5715000" y="5715000"/>
            <a:ext cx="731520" cy="320040"/>
          </a:xfrm>
          <a:prstGeom prst="rect">
            <a:avLst/>
          </a:prstGeom>
          <a:noFill/>
        </p:spPr>
        <p:txBody>
          <a:bodyPr wrap="square" lIns="0" tIns="0" rIns="0" bIns="0" rtlCol="0" anchor="ctr"/>
          <a:lstStyle/>
          <a:p>
            <a:pPr marL="0" indent="0">
              <a:buNone/>
            </a:pPr>
            <a:r>
              <a:rPr lang="en-US" sz="1000" b="1" dirty="0">
                <a:solidFill>
                  <a:srgbClr val="0D47A1"/>
                </a:solidFill>
                <a:latin typeface="Calibri" pitchFamily="34" charset="0"/>
                <a:ea typeface="Calibri" pitchFamily="34" charset="-122"/>
                <a:cs typeface="Calibri" pitchFamily="34" charset="-120"/>
              </a:rPr>
              <a:t>6.1 %</a:t>
            </a:r>
            <a:endParaRPr lang="en-US" sz="1000" dirty="0"/>
          </a:p>
        </p:txBody>
      </p:sp>
      <p:sp>
        <p:nvSpPr>
          <p:cNvPr id="32" name="Shape 30"/>
          <p:cNvSpPr/>
          <p:nvPr/>
        </p:nvSpPr>
        <p:spPr>
          <a:xfrm>
            <a:off x="6858000" y="2011680"/>
            <a:ext cx="4754880" cy="4160520"/>
          </a:xfrm>
          <a:prstGeom prst="rect">
            <a:avLst/>
          </a:prstGeom>
          <a:solidFill>
            <a:srgbClr val="0D47A1"/>
          </a:solidFill>
          <a:ln w="12700">
            <a:solidFill>
              <a:srgbClr val="0D47A1"/>
            </a:solidFill>
            <a:prstDash val="solid"/>
          </a:ln>
          <a:effectLst>
            <a:outerShdw blurRad="101600" dist="25400" dir="5400000" algn="bl" rotWithShape="0">
              <a:srgbClr val="000000">
                <a:alpha val="10000"/>
              </a:srgbClr>
            </a:outerShdw>
          </a:effectLst>
        </p:spPr>
      </p:sp>
      <p:sp>
        <p:nvSpPr>
          <p:cNvPr id="33" name="Shape 31"/>
          <p:cNvSpPr/>
          <p:nvPr/>
        </p:nvSpPr>
        <p:spPr>
          <a:xfrm>
            <a:off x="6858000" y="2011680"/>
            <a:ext cx="4754880" cy="457200"/>
          </a:xfrm>
          <a:prstGeom prst="rect">
            <a:avLst/>
          </a:prstGeom>
          <a:solidFill>
            <a:srgbClr val="F59E0B"/>
          </a:solidFill>
          <a:ln w="12700">
            <a:solidFill>
              <a:srgbClr val="F59E0B"/>
            </a:solidFill>
            <a:prstDash val="solid"/>
          </a:ln>
        </p:spPr>
      </p:sp>
      <p:sp>
        <p:nvSpPr>
          <p:cNvPr id="34" name="Text 32"/>
          <p:cNvSpPr/>
          <p:nvPr/>
        </p:nvSpPr>
        <p:spPr>
          <a:xfrm>
            <a:off x="6858000" y="2011680"/>
            <a:ext cx="4754880" cy="457200"/>
          </a:xfrm>
          <a:prstGeom prst="rect">
            <a:avLst/>
          </a:prstGeom>
          <a:noFill/>
        </p:spPr>
        <p:txBody>
          <a:bodyPr wrap="square" lIns="0" tIns="0" rIns="0" bIns="0" rtlCol="0" anchor="ctr"/>
          <a:lstStyle/>
          <a:p>
            <a:pPr marL="0" indent="0" algn="ctr">
              <a:buNone/>
            </a:pPr>
            <a:r>
              <a:rPr lang="en-US" sz="1000" b="1" kern="0" spc="200" dirty="0">
                <a:solidFill>
                  <a:srgbClr val="0D47A1"/>
                </a:solidFill>
                <a:latin typeface="Calibri" pitchFamily="34" charset="0"/>
                <a:ea typeface="Calibri" pitchFamily="34" charset="-122"/>
                <a:cs typeface="Calibri" pitchFamily="34" charset="-120"/>
              </a:rPr>
              <a:t>RÉSULTATS — TEST 2023-2025 (2 202 OBSERVATIONS)</a:t>
            </a:r>
            <a:endParaRPr lang="en-US" sz="1000" dirty="0"/>
          </a:p>
        </p:txBody>
      </p:sp>
      <p:sp>
        <p:nvSpPr>
          <p:cNvPr id="35" name="Text 33"/>
          <p:cNvSpPr/>
          <p:nvPr/>
        </p:nvSpPr>
        <p:spPr>
          <a:xfrm>
            <a:off x="7040880" y="2697480"/>
            <a:ext cx="2011680" cy="502920"/>
          </a:xfrm>
          <a:prstGeom prst="rect">
            <a:avLst/>
          </a:prstGeom>
          <a:noFill/>
        </p:spPr>
        <p:txBody>
          <a:bodyPr wrap="square" lIns="0" tIns="0" rIns="0" bIns="0" rtlCol="0" anchor="ctr"/>
          <a:lstStyle/>
          <a:p>
            <a:pPr marL="0" indent="0">
              <a:buNone/>
            </a:pPr>
            <a:r>
              <a:rPr lang="en-US" sz="2800" b="1" dirty="0">
                <a:solidFill>
                  <a:srgbClr val="F59E0B"/>
                </a:solidFill>
                <a:latin typeface="Georgia" panose="02040502050405090303" pitchFamily="34" charset="0"/>
                <a:ea typeface="Georgia" panose="02040502050405090303" pitchFamily="34" charset="-122"/>
                <a:cs typeface="Georgia" panose="02040502050405090303" pitchFamily="34" charset="-120"/>
              </a:rPr>
              <a:t>1,000</a:t>
            </a:r>
            <a:endParaRPr lang="en-US" sz="2800" dirty="0"/>
          </a:p>
        </p:txBody>
      </p:sp>
      <p:sp>
        <p:nvSpPr>
          <p:cNvPr id="36" name="Text 34"/>
          <p:cNvSpPr/>
          <p:nvPr/>
        </p:nvSpPr>
        <p:spPr>
          <a:xfrm>
            <a:off x="9098280" y="2697480"/>
            <a:ext cx="2468880" cy="502920"/>
          </a:xfrm>
          <a:prstGeom prst="rect">
            <a:avLst/>
          </a:prstGeom>
          <a:noFill/>
        </p:spPr>
        <p:txBody>
          <a:bodyPr wrap="square" lIns="0" tIns="0" rIns="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AUC-ROC</a:t>
            </a:r>
            <a:endParaRPr lang="en-US" sz="1100" dirty="0"/>
          </a:p>
        </p:txBody>
      </p:sp>
      <p:sp>
        <p:nvSpPr>
          <p:cNvPr id="37" name="Shape 35"/>
          <p:cNvSpPr/>
          <p:nvPr/>
        </p:nvSpPr>
        <p:spPr>
          <a:xfrm>
            <a:off x="7040880" y="3337560"/>
            <a:ext cx="4434840" cy="0"/>
          </a:xfrm>
          <a:prstGeom prst="line">
            <a:avLst/>
          </a:prstGeom>
          <a:noFill/>
          <a:ln w="6350">
            <a:solidFill>
              <a:srgbClr val="1565C0"/>
            </a:solidFill>
            <a:prstDash val="solid"/>
          </a:ln>
        </p:spPr>
      </p:sp>
      <p:sp>
        <p:nvSpPr>
          <p:cNvPr id="38" name="Text 36"/>
          <p:cNvSpPr/>
          <p:nvPr/>
        </p:nvSpPr>
        <p:spPr>
          <a:xfrm>
            <a:off x="7040880" y="3547872"/>
            <a:ext cx="2011680" cy="502920"/>
          </a:xfrm>
          <a:prstGeom prst="rect">
            <a:avLst/>
          </a:prstGeom>
          <a:noFill/>
        </p:spPr>
        <p:txBody>
          <a:bodyPr wrap="square" lIns="0" tIns="0" rIns="0" bIns="0" rtlCol="0" anchor="ctr"/>
          <a:lstStyle/>
          <a:p>
            <a:pPr marL="0" indent="0">
              <a:buNone/>
            </a:pPr>
            <a:r>
              <a:rPr lang="en-US" sz="2800" b="1" dirty="0">
                <a:solidFill>
                  <a:srgbClr val="F59E0B"/>
                </a:solidFill>
                <a:latin typeface="Georgia" panose="02040502050405090303" pitchFamily="34" charset="0"/>
                <a:ea typeface="Georgia" panose="02040502050405090303" pitchFamily="34" charset="-122"/>
                <a:cs typeface="Georgia" panose="02040502050405090303" pitchFamily="34" charset="-120"/>
              </a:rPr>
              <a:t>100 %</a:t>
            </a:r>
            <a:endParaRPr lang="en-US" sz="2800" dirty="0"/>
          </a:p>
        </p:txBody>
      </p:sp>
      <p:sp>
        <p:nvSpPr>
          <p:cNvPr id="39" name="Text 37"/>
          <p:cNvSpPr/>
          <p:nvPr/>
        </p:nvSpPr>
        <p:spPr>
          <a:xfrm>
            <a:off x="9098280" y="3547872"/>
            <a:ext cx="2468880" cy="502920"/>
          </a:xfrm>
          <a:prstGeom prst="rect">
            <a:avLst/>
          </a:prstGeom>
          <a:noFill/>
        </p:spPr>
        <p:txBody>
          <a:bodyPr wrap="square" lIns="0" tIns="0" rIns="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Rappel (zéro faux négatif)</a:t>
            </a:r>
            <a:endParaRPr lang="en-US" sz="1100" dirty="0"/>
          </a:p>
        </p:txBody>
      </p:sp>
      <p:sp>
        <p:nvSpPr>
          <p:cNvPr id="40" name="Shape 38"/>
          <p:cNvSpPr/>
          <p:nvPr/>
        </p:nvSpPr>
        <p:spPr>
          <a:xfrm>
            <a:off x="7040880" y="4187952"/>
            <a:ext cx="4434840" cy="0"/>
          </a:xfrm>
          <a:prstGeom prst="line">
            <a:avLst/>
          </a:prstGeom>
          <a:noFill/>
          <a:ln w="6350">
            <a:solidFill>
              <a:srgbClr val="1565C0"/>
            </a:solidFill>
            <a:prstDash val="solid"/>
          </a:ln>
        </p:spPr>
      </p:sp>
      <p:sp>
        <p:nvSpPr>
          <p:cNvPr id="41" name="Text 39"/>
          <p:cNvSpPr/>
          <p:nvPr/>
        </p:nvSpPr>
        <p:spPr>
          <a:xfrm>
            <a:off x="7040880" y="4398264"/>
            <a:ext cx="2011680" cy="502920"/>
          </a:xfrm>
          <a:prstGeom prst="rect">
            <a:avLst/>
          </a:prstGeom>
          <a:noFill/>
        </p:spPr>
        <p:txBody>
          <a:bodyPr wrap="square" lIns="0" tIns="0" rIns="0" bIns="0" rtlCol="0" anchor="ctr"/>
          <a:lstStyle/>
          <a:p>
            <a:pPr marL="0" indent="0">
              <a:buNone/>
            </a:pPr>
            <a:r>
              <a:rPr lang="en-US" sz="2800" b="1" dirty="0">
                <a:solidFill>
                  <a:srgbClr val="F59E0B"/>
                </a:solidFill>
                <a:latin typeface="Georgia" panose="02040502050405090303" pitchFamily="34" charset="0"/>
                <a:ea typeface="Georgia" panose="02040502050405090303" pitchFamily="34" charset="-122"/>
                <a:cs typeface="Georgia" panose="02040502050405090303" pitchFamily="34" charset="-120"/>
              </a:rPr>
              <a:t>99,5 %</a:t>
            </a:r>
            <a:endParaRPr lang="en-US" sz="2800" dirty="0"/>
          </a:p>
        </p:txBody>
      </p:sp>
      <p:sp>
        <p:nvSpPr>
          <p:cNvPr id="42" name="Text 40"/>
          <p:cNvSpPr/>
          <p:nvPr/>
        </p:nvSpPr>
        <p:spPr>
          <a:xfrm>
            <a:off x="9098280" y="4398264"/>
            <a:ext cx="2468880" cy="502920"/>
          </a:xfrm>
          <a:prstGeom prst="rect">
            <a:avLst/>
          </a:prstGeom>
          <a:noFill/>
        </p:spPr>
        <p:txBody>
          <a:bodyPr wrap="square" lIns="0" tIns="0" rIns="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Précision</a:t>
            </a:r>
            <a:endParaRPr lang="en-US" sz="1100" dirty="0"/>
          </a:p>
        </p:txBody>
      </p:sp>
      <p:sp>
        <p:nvSpPr>
          <p:cNvPr id="43" name="Shape 41"/>
          <p:cNvSpPr/>
          <p:nvPr/>
        </p:nvSpPr>
        <p:spPr>
          <a:xfrm>
            <a:off x="7040880" y="5038344"/>
            <a:ext cx="4434840" cy="0"/>
          </a:xfrm>
          <a:prstGeom prst="line">
            <a:avLst/>
          </a:prstGeom>
          <a:noFill/>
          <a:ln w="6350">
            <a:solidFill>
              <a:srgbClr val="1565C0"/>
            </a:solidFill>
            <a:prstDash val="solid"/>
          </a:ln>
        </p:spPr>
      </p:sp>
      <p:sp>
        <p:nvSpPr>
          <p:cNvPr id="44" name="Text 42"/>
          <p:cNvSpPr/>
          <p:nvPr/>
        </p:nvSpPr>
        <p:spPr>
          <a:xfrm>
            <a:off x="7040880" y="5248656"/>
            <a:ext cx="2011680" cy="502920"/>
          </a:xfrm>
          <a:prstGeom prst="rect">
            <a:avLst/>
          </a:prstGeom>
          <a:noFill/>
        </p:spPr>
        <p:txBody>
          <a:bodyPr wrap="square" lIns="0" tIns="0" rIns="0" bIns="0" rtlCol="0" anchor="ctr"/>
          <a:lstStyle/>
          <a:p>
            <a:pPr marL="0" indent="0">
              <a:buNone/>
            </a:pPr>
            <a:r>
              <a:rPr lang="en-US" sz="2800" b="1" dirty="0">
                <a:solidFill>
                  <a:srgbClr val="F59E0B"/>
                </a:solidFill>
                <a:latin typeface="Georgia" panose="02040502050405090303" pitchFamily="34" charset="0"/>
                <a:ea typeface="Georgia" panose="02040502050405090303" pitchFamily="34" charset="-122"/>
                <a:cs typeface="Georgia" panose="02040502050405090303" pitchFamily="34" charset="-120"/>
              </a:rPr>
              <a:t>0,9999</a:t>
            </a:r>
            <a:endParaRPr lang="en-US" sz="2800" dirty="0"/>
          </a:p>
        </p:txBody>
      </p:sp>
      <p:sp>
        <p:nvSpPr>
          <p:cNvPr id="45" name="Text 43"/>
          <p:cNvSpPr/>
          <p:nvPr/>
        </p:nvSpPr>
        <p:spPr>
          <a:xfrm>
            <a:off x="9098280" y="5248656"/>
            <a:ext cx="2468880" cy="502920"/>
          </a:xfrm>
          <a:prstGeom prst="rect">
            <a:avLst/>
          </a:prstGeom>
          <a:noFill/>
        </p:spPr>
        <p:txBody>
          <a:bodyPr wrap="square" lIns="0" tIns="0" rIns="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AUC moyen sur 5 folds (TimeSeriesSplit)</a:t>
            </a:r>
            <a:endParaRPr lang="en-US" sz="1100" dirty="0"/>
          </a:p>
        </p:txBody>
      </p:sp>
      <p:sp>
        <p:nvSpPr>
          <p:cNvPr id="46" name="Shape 44"/>
          <p:cNvSpPr/>
          <p:nvPr/>
        </p:nvSpPr>
        <p:spPr>
          <a:xfrm>
            <a:off x="0" y="6537960"/>
            <a:ext cx="12161520" cy="320040"/>
          </a:xfrm>
          <a:prstGeom prst="rect">
            <a:avLst/>
          </a:prstGeom>
          <a:solidFill>
            <a:srgbClr val="0D47A1"/>
          </a:solidFill>
          <a:ln w="12700">
            <a:solidFill>
              <a:srgbClr val="0D47A1"/>
            </a:solidFill>
            <a:prstDash val="solid"/>
          </a:ln>
        </p:spPr>
      </p:sp>
      <p:sp>
        <p:nvSpPr>
          <p:cNvPr id="47" name="Text 45"/>
          <p:cNvSpPr/>
          <p:nvPr/>
        </p:nvSpPr>
        <p:spPr>
          <a:xfrm>
            <a:off x="457200" y="6537960"/>
            <a:ext cx="7315200" cy="320040"/>
          </a:xfrm>
          <a:prstGeom prst="rect">
            <a:avLst/>
          </a:prstGeom>
          <a:noFill/>
        </p:spPr>
        <p:txBody>
          <a:bodyPr wrap="square" lIns="0" tIns="0" rIns="0" bIns="0" rtlCol="0" anchor="ctr"/>
          <a:lstStyle/>
          <a:p>
            <a:pPr marL="0" indent="0" algn="l">
              <a:buNone/>
            </a:pPr>
            <a:r>
              <a:rPr lang="en-US" sz="900" dirty="0">
                <a:solidFill>
                  <a:srgbClr val="F8FAFC"/>
                </a:solidFill>
                <a:latin typeface="Calibri" pitchFamily="34" charset="0"/>
                <a:ea typeface="Calibri" pitchFamily="34" charset="-122"/>
                <a:cs typeface="Calibri" pitchFamily="34" charset="-120"/>
              </a:rPr>
              <a:t>Saytu Mbeund  ·  FloodGuardAI  ·  flood.yaataldigital.com</a:t>
            </a:r>
            <a:endParaRPr lang="en-US" sz="900" dirty="0"/>
          </a:p>
        </p:txBody>
      </p:sp>
      <p:sp>
        <p:nvSpPr>
          <p:cNvPr id="48" name="Text 46"/>
          <p:cNvSpPr/>
          <p:nvPr/>
        </p:nvSpPr>
        <p:spPr>
          <a:xfrm>
            <a:off x="8503920" y="6537960"/>
            <a:ext cx="2286000" cy="320040"/>
          </a:xfrm>
          <a:prstGeom prst="rect">
            <a:avLst/>
          </a:prstGeom>
          <a:noFill/>
        </p:spPr>
        <p:txBody>
          <a:bodyPr wrap="square" lIns="0" tIns="0" rIns="0" bIns="0" rtlCol="0" anchor="ctr"/>
          <a:lstStyle/>
          <a:p>
            <a:pPr marL="0" indent="0" algn="r">
              <a:buNone/>
            </a:pPr>
            <a:r>
              <a:rPr lang="en-US" sz="900" i="1" dirty="0">
                <a:solidFill>
                  <a:srgbClr val="F59E0B"/>
                </a:solidFill>
                <a:latin typeface="Calibri" pitchFamily="34" charset="0"/>
                <a:ea typeface="Calibri" pitchFamily="34" charset="-122"/>
                <a:cs typeface="Calibri" pitchFamily="34" charset="-120"/>
              </a:rPr>
              <a:t>▸ ADAMA</a:t>
            </a:r>
            <a:endParaRPr lang="en-US" sz="900" dirty="0"/>
          </a:p>
        </p:txBody>
      </p:sp>
      <p:sp>
        <p:nvSpPr>
          <p:cNvPr id="49" name="Text 47"/>
          <p:cNvSpPr/>
          <p:nvPr/>
        </p:nvSpPr>
        <p:spPr>
          <a:xfrm>
            <a:off x="11064240" y="6537960"/>
            <a:ext cx="640080" cy="320040"/>
          </a:xfrm>
          <a:prstGeom prst="rect">
            <a:avLst/>
          </a:prstGeom>
          <a:noFill/>
        </p:spPr>
        <p:txBody>
          <a:bodyPr wrap="square" lIns="0" tIns="0" rIns="0" bIns="0" rtlCol="0" anchor="ctr"/>
          <a:lstStyle/>
          <a:p>
            <a:pPr marL="0" indent="0" algn="r">
              <a:buNone/>
            </a:pPr>
            <a:r>
              <a:rPr lang="en-US" sz="900" dirty="0">
                <a:solidFill>
                  <a:srgbClr val="F8FAFC"/>
                </a:solidFill>
                <a:latin typeface="Calibri" pitchFamily="34" charset="0"/>
                <a:ea typeface="Calibri" pitchFamily="34" charset="-122"/>
                <a:cs typeface="Calibri" pitchFamily="34" charset="-120"/>
              </a:rPr>
              <a:t>5 / 12</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548640" y="411480"/>
            <a:ext cx="7315200" cy="320040"/>
          </a:xfrm>
          <a:prstGeom prst="rect">
            <a:avLst/>
          </a:prstGeom>
          <a:noFill/>
        </p:spPr>
        <p:txBody>
          <a:bodyPr wrap="square" lIns="0" tIns="0" rIns="0" bIns="0" rtlCol="0" anchor="ctr"/>
          <a:lstStyle/>
          <a:p>
            <a:pPr marL="0" indent="0">
              <a:buNone/>
            </a:pPr>
            <a:r>
              <a:rPr lang="en-US" sz="1100" b="1" kern="0" spc="400" dirty="0">
                <a:solidFill>
                  <a:srgbClr val="1565C0"/>
                </a:solidFill>
                <a:latin typeface="Calibri" pitchFamily="34" charset="0"/>
                <a:ea typeface="Calibri" pitchFamily="34" charset="-122"/>
                <a:cs typeface="Calibri" pitchFamily="34" charset="-120"/>
              </a:rPr>
              <a:t>VALIDATION PAR IMAGE</a:t>
            </a:r>
            <a:endParaRPr lang="en-US" sz="1100" dirty="0"/>
          </a:p>
        </p:txBody>
      </p:sp>
      <p:sp>
        <p:nvSpPr>
          <p:cNvPr id="3" name="Text 1"/>
          <p:cNvSpPr/>
          <p:nvPr/>
        </p:nvSpPr>
        <p:spPr>
          <a:xfrm>
            <a:off x="548640" y="713232"/>
            <a:ext cx="10058400" cy="777240"/>
          </a:xfrm>
          <a:prstGeom prst="rect">
            <a:avLst/>
          </a:prstGeom>
          <a:noFill/>
        </p:spPr>
        <p:txBody>
          <a:bodyPr wrap="square" lIns="0" tIns="0" rIns="0" bIns="0" rtlCol="0" anchor="ctr"/>
          <a:lstStyle/>
          <a:p>
            <a:pPr marL="0" indent="0">
              <a:buNone/>
            </a:pPr>
            <a:r>
              <a:rPr lang="en-US" sz="3000" b="1" dirty="0">
                <a:solidFill>
                  <a:srgbClr val="0D47A1"/>
                </a:solidFill>
                <a:latin typeface="Georgia" panose="02040502050405090303" pitchFamily="34" charset="0"/>
                <a:ea typeface="Georgia" panose="02040502050405090303" pitchFamily="34" charset="-122"/>
                <a:cs typeface="Georgia" panose="02040502050405090303" pitchFamily="34" charset="-120"/>
              </a:rPr>
              <a:t>Composante 2 — Détection visuelle (ConvNeXt-Tiny)</a:t>
            </a:r>
            <a:endParaRPr lang="en-US" sz="3000" dirty="0"/>
          </a:p>
        </p:txBody>
      </p:sp>
      <p:sp>
        <p:nvSpPr>
          <p:cNvPr id="4" name="Shape 2"/>
          <p:cNvSpPr/>
          <p:nvPr/>
        </p:nvSpPr>
        <p:spPr>
          <a:xfrm>
            <a:off x="548640" y="1517904"/>
            <a:ext cx="164592" cy="164592"/>
          </a:xfrm>
          <a:prstGeom prst="ellipse">
            <a:avLst/>
          </a:prstGeom>
          <a:solidFill>
            <a:srgbClr val="F59E0B"/>
          </a:solidFill>
          <a:ln w="12700">
            <a:solidFill>
              <a:srgbClr val="F59E0B"/>
            </a:solidFill>
            <a:prstDash val="solid"/>
          </a:ln>
        </p:spPr>
      </p:sp>
      <p:sp>
        <p:nvSpPr>
          <p:cNvPr id="5" name="Shape 3"/>
          <p:cNvSpPr/>
          <p:nvPr/>
        </p:nvSpPr>
        <p:spPr>
          <a:xfrm>
            <a:off x="777240" y="1517904"/>
            <a:ext cx="164592" cy="164592"/>
          </a:xfrm>
          <a:prstGeom prst="ellipse">
            <a:avLst/>
          </a:prstGeom>
          <a:solidFill>
            <a:srgbClr val="1565C0"/>
          </a:solidFill>
          <a:ln w="12700">
            <a:solidFill>
              <a:srgbClr val="1565C0"/>
            </a:solidFill>
            <a:prstDash val="solid"/>
          </a:ln>
        </p:spPr>
      </p:sp>
      <p:sp>
        <p:nvSpPr>
          <p:cNvPr id="6" name="Shape 4"/>
          <p:cNvSpPr/>
          <p:nvPr/>
        </p:nvSpPr>
        <p:spPr>
          <a:xfrm>
            <a:off x="1005840" y="1517904"/>
            <a:ext cx="164592" cy="164592"/>
          </a:xfrm>
          <a:prstGeom prst="ellipse">
            <a:avLst/>
          </a:prstGeom>
          <a:solidFill>
            <a:srgbClr val="E2E8F0"/>
          </a:solidFill>
          <a:ln w="12700">
            <a:solidFill>
              <a:srgbClr val="E2E8F0"/>
            </a:solidFill>
            <a:prstDash val="solid"/>
          </a:ln>
        </p:spPr>
      </p:sp>
      <p:sp>
        <p:nvSpPr>
          <p:cNvPr id="7" name="Shape 5"/>
          <p:cNvSpPr/>
          <p:nvPr/>
        </p:nvSpPr>
        <p:spPr>
          <a:xfrm>
            <a:off x="9692640" y="411480"/>
            <a:ext cx="1920240" cy="411480"/>
          </a:xfrm>
          <a:prstGeom prst="roundRect">
            <a:avLst>
              <a:gd name="adj" fmla="val 11111"/>
            </a:avLst>
          </a:prstGeom>
          <a:solidFill>
            <a:srgbClr val="0891B2"/>
          </a:solidFill>
          <a:ln w="12700">
            <a:solidFill>
              <a:srgbClr val="0891B2"/>
            </a:solidFill>
            <a:prstDash val="solid"/>
          </a:ln>
        </p:spPr>
      </p:sp>
      <p:sp>
        <p:nvSpPr>
          <p:cNvPr id="8" name="Text 6"/>
          <p:cNvSpPr/>
          <p:nvPr/>
        </p:nvSpPr>
        <p:spPr>
          <a:xfrm>
            <a:off x="9692640" y="411480"/>
            <a:ext cx="1920240" cy="411480"/>
          </a:xfrm>
          <a:prstGeom prst="rect">
            <a:avLst/>
          </a:prstGeom>
          <a:noFill/>
        </p:spPr>
        <p:txBody>
          <a:bodyPr wrap="square" lIns="0" tIns="0" rIns="0" bIns="0" rtlCol="0" anchor="ctr"/>
          <a:lstStyle/>
          <a:p>
            <a:pPr marL="0" indent="0" algn="ctr">
              <a:buNone/>
            </a:pPr>
            <a:r>
              <a:rPr lang="en-US" sz="1000" b="1" kern="0" spc="200" dirty="0">
                <a:solidFill>
                  <a:srgbClr val="FFFFFF"/>
                </a:solidFill>
                <a:latin typeface="Calibri" pitchFamily="34" charset="0"/>
                <a:ea typeface="Calibri" pitchFamily="34" charset="-122"/>
                <a:cs typeface="Calibri" pitchFamily="34" charset="-120"/>
              </a:rPr>
              <a:t>ADAMA  ·  MODÈLE 2</a:t>
            </a:r>
            <a:endParaRPr lang="en-US" sz="1000" dirty="0"/>
          </a:p>
        </p:txBody>
      </p:sp>
      <p:sp>
        <p:nvSpPr>
          <p:cNvPr id="9" name="Text 7"/>
          <p:cNvSpPr/>
          <p:nvPr/>
        </p:nvSpPr>
        <p:spPr>
          <a:xfrm>
            <a:off x="548640" y="2011680"/>
            <a:ext cx="11064240" cy="457200"/>
          </a:xfrm>
          <a:prstGeom prst="rect">
            <a:avLst/>
          </a:prstGeom>
          <a:noFill/>
        </p:spPr>
        <p:txBody>
          <a:bodyPr wrap="square" lIns="0" tIns="0" rIns="0" bIns="0" rtlCol="0" anchor="ctr"/>
          <a:lstStyle/>
          <a:p>
            <a:pPr marL="0" indent="0">
              <a:buNone/>
            </a:pPr>
            <a:r>
              <a:rPr lang="en-US" sz="1400" b="1" i="1" dirty="0">
                <a:solidFill>
                  <a:srgbClr val="1565C0"/>
                </a:solidFill>
                <a:latin typeface="Georgia" panose="02040502050405090303" pitchFamily="34" charset="0"/>
                <a:ea typeface="Georgia" panose="02040502050405090303" pitchFamily="34" charset="-122"/>
                <a:cs typeface="Georgia" panose="02040502050405090303" pitchFamily="34" charset="-120"/>
              </a:rPr>
              <a:t>Valider chaque signalement citoyen en moins de 2 secondes — sans aucune fausse alerte.</a:t>
            </a:r>
            <a:endParaRPr lang="en-US" sz="1400" dirty="0"/>
          </a:p>
        </p:txBody>
      </p:sp>
      <p:sp>
        <p:nvSpPr>
          <p:cNvPr id="10" name="Text 8"/>
          <p:cNvSpPr/>
          <p:nvPr/>
        </p:nvSpPr>
        <p:spPr>
          <a:xfrm>
            <a:off x="548640" y="2606040"/>
            <a:ext cx="5943600" cy="365760"/>
          </a:xfrm>
          <a:prstGeom prst="rect">
            <a:avLst/>
          </a:prstGeom>
          <a:noFill/>
        </p:spPr>
        <p:txBody>
          <a:bodyPr wrap="square" lIns="0" tIns="0" rIns="0" bIns="0" rtlCol="0" anchor="ctr"/>
          <a:lstStyle/>
          <a:p>
            <a:pPr marL="0" indent="0">
              <a:buNone/>
            </a:pPr>
            <a:r>
              <a:rPr lang="en-US" sz="1200" b="1" dirty="0">
                <a:solidFill>
                  <a:srgbClr val="0D47A1"/>
                </a:solidFill>
                <a:latin typeface="Calibri" pitchFamily="34" charset="0"/>
                <a:ea typeface="Calibri" pitchFamily="34" charset="-122"/>
                <a:cs typeface="Calibri" pitchFamily="34" charset="-120"/>
              </a:rPr>
              <a:t>Comparaison de 4 architectures CNN (F1-Score)</a:t>
            </a:r>
            <a:endParaRPr lang="en-US" sz="1200" dirty="0"/>
          </a:p>
        </p:txBody>
      </p:sp>
      <p:sp>
        <p:nvSpPr>
          <p:cNvPr id="11" name="Text 9"/>
          <p:cNvSpPr/>
          <p:nvPr/>
        </p:nvSpPr>
        <p:spPr>
          <a:xfrm>
            <a:off x="548640" y="3108960"/>
            <a:ext cx="2103120" cy="411480"/>
          </a:xfrm>
          <a:prstGeom prst="rect">
            <a:avLst/>
          </a:prstGeom>
          <a:noFill/>
        </p:spPr>
        <p:txBody>
          <a:bodyPr wrap="square" lIns="0" tIns="0" rIns="0" bIns="0" rtlCol="0" anchor="ctr"/>
          <a:lstStyle/>
          <a:p>
            <a:pPr marL="0" indent="0">
              <a:buNone/>
            </a:pPr>
            <a:r>
              <a:rPr lang="en-US" sz="1100" dirty="0">
                <a:solidFill>
                  <a:srgbClr val="475569"/>
                </a:solidFill>
                <a:latin typeface="Calibri" pitchFamily="34" charset="0"/>
                <a:ea typeface="Calibri" pitchFamily="34" charset="-122"/>
                <a:cs typeface="Calibri" pitchFamily="34" charset="-120"/>
              </a:rPr>
              <a:t>ResNet-18 (baseline)</a:t>
            </a:r>
            <a:endParaRPr lang="en-US" sz="1100" dirty="0"/>
          </a:p>
        </p:txBody>
      </p:sp>
      <p:sp>
        <p:nvSpPr>
          <p:cNvPr id="12" name="Shape 10"/>
          <p:cNvSpPr/>
          <p:nvPr/>
        </p:nvSpPr>
        <p:spPr>
          <a:xfrm>
            <a:off x="2743200" y="3182112"/>
            <a:ext cx="3200400" cy="274320"/>
          </a:xfrm>
          <a:prstGeom prst="rect">
            <a:avLst/>
          </a:prstGeom>
          <a:solidFill>
            <a:srgbClr val="E2E8F0"/>
          </a:solidFill>
          <a:ln w="12700">
            <a:solidFill>
              <a:srgbClr val="E2E8F0"/>
            </a:solidFill>
            <a:prstDash val="solid"/>
          </a:ln>
        </p:spPr>
      </p:sp>
      <p:sp>
        <p:nvSpPr>
          <p:cNvPr id="13" name="Shape 11"/>
          <p:cNvSpPr/>
          <p:nvPr/>
        </p:nvSpPr>
        <p:spPr>
          <a:xfrm>
            <a:off x="2743200" y="3182112"/>
            <a:ext cx="2553919" cy="274320"/>
          </a:xfrm>
          <a:prstGeom prst="rect">
            <a:avLst/>
          </a:prstGeom>
          <a:solidFill>
            <a:srgbClr val="94A3B8"/>
          </a:solidFill>
          <a:ln w="12700">
            <a:solidFill>
              <a:srgbClr val="94A3B8"/>
            </a:solidFill>
            <a:prstDash val="solid"/>
          </a:ln>
        </p:spPr>
      </p:sp>
      <p:sp>
        <p:nvSpPr>
          <p:cNvPr id="14" name="Text 12"/>
          <p:cNvSpPr/>
          <p:nvPr/>
        </p:nvSpPr>
        <p:spPr>
          <a:xfrm>
            <a:off x="5989320" y="3108960"/>
            <a:ext cx="777240" cy="411480"/>
          </a:xfrm>
          <a:prstGeom prst="rect">
            <a:avLst/>
          </a:prstGeom>
          <a:noFill/>
        </p:spPr>
        <p:txBody>
          <a:bodyPr wrap="square" lIns="0" tIns="0" rIns="0" bIns="0" rtlCol="0" anchor="ctr"/>
          <a:lstStyle/>
          <a:p>
            <a:pPr marL="0" indent="0">
              <a:buNone/>
            </a:pPr>
            <a:r>
              <a:rPr lang="en-US" sz="1100" b="1" dirty="0">
                <a:solidFill>
                  <a:srgbClr val="0D47A1"/>
                </a:solidFill>
                <a:latin typeface="Calibri" pitchFamily="34" charset="0"/>
                <a:ea typeface="Calibri" pitchFamily="34" charset="-122"/>
                <a:cs typeface="Calibri" pitchFamily="34" charset="-120"/>
              </a:rPr>
              <a:t>79.80 %</a:t>
            </a:r>
            <a:endParaRPr lang="en-US" sz="1100" dirty="0"/>
          </a:p>
        </p:txBody>
      </p:sp>
      <p:sp>
        <p:nvSpPr>
          <p:cNvPr id="15" name="Text 13"/>
          <p:cNvSpPr/>
          <p:nvPr/>
        </p:nvSpPr>
        <p:spPr>
          <a:xfrm>
            <a:off x="548640" y="3611880"/>
            <a:ext cx="2103120" cy="411480"/>
          </a:xfrm>
          <a:prstGeom prst="rect">
            <a:avLst/>
          </a:prstGeom>
          <a:noFill/>
        </p:spPr>
        <p:txBody>
          <a:bodyPr wrap="square" lIns="0" tIns="0" rIns="0" bIns="0" rtlCol="0" anchor="ctr"/>
          <a:lstStyle/>
          <a:p>
            <a:pPr marL="0" indent="0">
              <a:buNone/>
            </a:pPr>
            <a:r>
              <a:rPr lang="en-US" sz="1100" dirty="0">
                <a:solidFill>
                  <a:srgbClr val="475569"/>
                </a:solidFill>
                <a:latin typeface="Calibri" pitchFamily="34" charset="0"/>
                <a:ea typeface="Calibri" pitchFamily="34" charset="-122"/>
                <a:cs typeface="Calibri" pitchFamily="34" charset="-120"/>
              </a:rPr>
              <a:t>EfficientNet-B3</a:t>
            </a:r>
            <a:endParaRPr lang="en-US" sz="1100" dirty="0"/>
          </a:p>
        </p:txBody>
      </p:sp>
      <p:sp>
        <p:nvSpPr>
          <p:cNvPr id="16" name="Shape 14"/>
          <p:cNvSpPr/>
          <p:nvPr/>
        </p:nvSpPr>
        <p:spPr>
          <a:xfrm>
            <a:off x="2743200" y="3685032"/>
            <a:ext cx="3200400" cy="274320"/>
          </a:xfrm>
          <a:prstGeom prst="rect">
            <a:avLst/>
          </a:prstGeom>
          <a:solidFill>
            <a:srgbClr val="E2E8F0"/>
          </a:solidFill>
          <a:ln w="12700">
            <a:solidFill>
              <a:srgbClr val="E2E8F0"/>
            </a:solidFill>
            <a:prstDash val="solid"/>
          </a:ln>
        </p:spPr>
      </p:sp>
      <p:sp>
        <p:nvSpPr>
          <p:cNvPr id="17" name="Shape 15"/>
          <p:cNvSpPr/>
          <p:nvPr/>
        </p:nvSpPr>
        <p:spPr>
          <a:xfrm>
            <a:off x="2743200" y="3685032"/>
            <a:ext cx="2891561" cy="274320"/>
          </a:xfrm>
          <a:prstGeom prst="rect">
            <a:avLst/>
          </a:prstGeom>
          <a:solidFill>
            <a:srgbClr val="1565C0"/>
          </a:solidFill>
          <a:ln w="12700">
            <a:solidFill>
              <a:srgbClr val="1565C0"/>
            </a:solidFill>
            <a:prstDash val="solid"/>
          </a:ln>
        </p:spPr>
      </p:sp>
      <p:sp>
        <p:nvSpPr>
          <p:cNvPr id="18" name="Text 16"/>
          <p:cNvSpPr/>
          <p:nvPr/>
        </p:nvSpPr>
        <p:spPr>
          <a:xfrm>
            <a:off x="5989320" y="3611880"/>
            <a:ext cx="777240" cy="411480"/>
          </a:xfrm>
          <a:prstGeom prst="rect">
            <a:avLst/>
          </a:prstGeom>
          <a:noFill/>
        </p:spPr>
        <p:txBody>
          <a:bodyPr wrap="square" lIns="0" tIns="0" rIns="0" bIns="0" rtlCol="0" anchor="ctr"/>
          <a:lstStyle/>
          <a:p>
            <a:pPr marL="0" indent="0">
              <a:buNone/>
            </a:pPr>
            <a:r>
              <a:rPr lang="en-US" sz="1100" b="1" dirty="0">
                <a:solidFill>
                  <a:srgbClr val="0D47A1"/>
                </a:solidFill>
                <a:latin typeface="Calibri" pitchFamily="34" charset="0"/>
                <a:ea typeface="Calibri" pitchFamily="34" charset="-122"/>
                <a:cs typeface="Calibri" pitchFamily="34" charset="-120"/>
              </a:rPr>
              <a:t>90.35 %</a:t>
            </a:r>
            <a:endParaRPr lang="en-US" sz="1100" dirty="0"/>
          </a:p>
        </p:txBody>
      </p:sp>
      <p:sp>
        <p:nvSpPr>
          <p:cNvPr id="19" name="Text 17"/>
          <p:cNvSpPr/>
          <p:nvPr/>
        </p:nvSpPr>
        <p:spPr>
          <a:xfrm>
            <a:off x="548640" y="4114800"/>
            <a:ext cx="2103120" cy="411480"/>
          </a:xfrm>
          <a:prstGeom prst="rect">
            <a:avLst/>
          </a:prstGeom>
          <a:noFill/>
        </p:spPr>
        <p:txBody>
          <a:bodyPr wrap="square" lIns="0" tIns="0" rIns="0" bIns="0" rtlCol="0" anchor="ctr"/>
          <a:lstStyle/>
          <a:p>
            <a:pPr marL="0" indent="0">
              <a:buNone/>
            </a:pPr>
            <a:r>
              <a:rPr lang="en-US" sz="1100" dirty="0">
                <a:solidFill>
                  <a:srgbClr val="475569"/>
                </a:solidFill>
                <a:latin typeface="Calibri" pitchFamily="34" charset="0"/>
                <a:ea typeface="Calibri" pitchFamily="34" charset="-122"/>
                <a:cs typeface="Calibri" pitchFamily="34" charset="-120"/>
              </a:rPr>
              <a:t>Swin-Tiny</a:t>
            </a:r>
            <a:endParaRPr lang="en-US" sz="1100" dirty="0"/>
          </a:p>
        </p:txBody>
      </p:sp>
      <p:sp>
        <p:nvSpPr>
          <p:cNvPr id="20" name="Shape 18"/>
          <p:cNvSpPr/>
          <p:nvPr/>
        </p:nvSpPr>
        <p:spPr>
          <a:xfrm>
            <a:off x="2743200" y="4187952"/>
            <a:ext cx="3200400" cy="274320"/>
          </a:xfrm>
          <a:prstGeom prst="rect">
            <a:avLst/>
          </a:prstGeom>
          <a:solidFill>
            <a:srgbClr val="E2E8F0"/>
          </a:solidFill>
          <a:ln w="12700">
            <a:solidFill>
              <a:srgbClr val="E2E8F0"/>
            </a:solidFill>
            <a:prstDash val="solid"/>
          </a:ln>
        </p:spPr>
      </p:sp>
      <p:sp>
        <p:nvSpPr>
          <p:cNvPr id="21" name="Shape 19"/>
          <p:cNvSpPr/>
          <p:nvPr/>
        </p:nvSpPr>
        <p:spPr>
          <a:xfrm>
            <a:off x="2743200" y="4187952"/>
            <a:ext cx="3057982" cy="274320"/>
          </a:xfrm>
          <a:prstGeom prst="rect">
            <a:avLst/>
          </a:prstGeom>
          <a:solidFill>
            <a:srgbClr val="1565C0"/>
          </a:solidFill>
          <a:ln w="12700">
            <a:solidFill>
              <a:srgbClr val="1565C0"/>
            </a:solidFill>
            <a:prstDash val="solid"/>
          </a:ln>
        </p:spPr>
      </p:sp>
      <p:sp>
        <p:nvSpPr>
          <p:cNvPr id="22" name="Text 20"/>
          <p:cNvSpPr/>
          <p:nvPr/>
        </p:nvSpPr>
        <p:spPr>
          <a:xfrm>
            <a:off x="5989320" y="4114800"/>
            <a:ext cx="777240" cy="411480"/>
          </a:xfrm>
          <a:prstGeom prst="rect">
            <a:avLst/>
          </a:prstGeom>
          <a:noFill/>
        </p:spPr>
        <p:txBody>
          <a:bodyPr wrap="square" lIns="0" tIns="0" rIns="0" bIns="0" rtlCol="0" anchor="ctr"/>
          <a:lstStyle/>
          <a:p>
            <a:pPr marL="0" indent="0">
              <a:buNone/>
            </a:pPr>
            <a:r>
              <a:rPr lang="en-US" sz="1100" b="1" dirty="0">
                <a:solidFill>
                  <a:srgbClr val="0D47A1"/>
                </a:solidFill>
                <a:latin typeface="Calibri" pitchFamily="34" charset="0"/>
                <a:ea typeface="Calibri" pitchFamily="34" charset="-122"/>
                <a:cs typeface="Calibri" pitchFamily="34" charset="-120"/>
              </a:rPr>
              <a:t>95.55 %</a:t>
            </a:r>
            <a:endParaRPr lang="en-US" sz="1100" dirty="0"/>
          </a:p>
        </p:txBody>
      </p:sp>
      <p:sp>
        <p:nvSpPr>
          <p:cNvPr id="23" name="Text 21"/>
          <p:cNvSpPr/>
          <p:nvPr/>
        </p:nvSpPr>
        <p:spPr>
          <a:xfrm>
            <a:off x="548640" y="4617720"/>
            <a:ext cx="2103120" cy="411480"/>
          </a:xfrm>
          <a:prstGeom prst="rect">
            <a:avLst/>
          </a:prstGeom>
          <a:noFill/>
        </p:spPr>
        <p:txBody>
          <a:bodyPr wrap="square" lIns="0" tIns="0" rIns="0" bIns="0" rtlCol="0" anchor="ctr"/>
          <a:lstStyle/>
          <a:p>
            <a:pPr marL="0" indent="0">
              <a:buNone/>
            </a:pPr>
            <a:r>
              <a:rPr lang="en-US" sz="1100" b="1" dirty="0">
                <a:solidFill>
                  <a:srgbClr val="0D47A1"/>
                </a:solidFill>
                <a:latin typeface="Calibri" pitchFamily="34" charset="0"/>
                <a:ea typeface="Calibri" pitchFamily="34" charset="-122"/>
                <a:cs typeface="Calibri" pitchFamily="34" charset="-120"/>
              </a:rPr>
              <a:t>ConvNeXt-Tiny  ★</a:t>
            </a:r>
            <a:endParaRPr lang="en-US" sz="1100" dirty="0"/>
          </a:p>
        </p:txBody>
      </p:sp>
      <p:sp>
        <p:nvSpPr>
          <p:cNvPr id="24" name="Shape 22"/>
          <p:cNvSpPr/>
          <p:nvPr/>
        </p:nvSpPr>
        <p:spPr>
          <a:xfrm>
            <a:off x="2743200" y="4690872"/>
            <a:ext cx="3200400" cy="274320"/>
          </a:xfrm>
          <a:prstGeom prst="rect">
            <a:avLst/>
          </a:prstGeom>
          <a:solidFill>
            <a:srgbClr val="E2E8F0"/>
          </a:solidFill>
          <a:ln w="12700">
            <a:solidFill>
              <a:srgbClr val="E2E8F0"/>
            </a:solidFill>
            <a:prstDash val="solid"/>
          </a:ln>
        </p:spPr>
      </p:sp>
      <p:sp>
        <p:nvSpPr>
          <p:cNvPr id="25" name="Shape 23"/>
          <p:cNvSpPr/>
          <p:nvPr/>
        </p:nvSpPr>
        <p:spPr>
          <a:xfrm>
            <a:off x="2743200" y="4690872"/>
            <a:ext cx="3087746" cy="274320"/>
          </a:xfrm>
          <a:prstGeom prst="rect">
            <a:avLst/>
          </a:prstGeom>
          <a:solidFill>
            <a:srgbClr val="F59E0B"/>
          </a:solidFill>
          <a:ln w="12700">
            <a:solidFill>
              <a:srgbClr val="F59E0B"/>
            </a:solidFill>
            <a:prstDash val="solid"/>
          </a:ln>
        </p:spPr>
      </p:sp>
      <p:sp>
        <p:nvSpPr>
          <p:cNvPr id="26" name="Text 24"/>
          <p:cNvSpPr/>
          <p:nvPr/>
        </p:nvSpPr>
        <p:spPr>
          <a:xfrm>
            <a:off x="5989320" y="4617720"/>
            <a:ext cx="777240" cy="411480"/>
          </a:xfrm>
          <a:prstGeom prst="rect">
            <a:avLst/>
          </a:prstGeom>
          <a:noFill/>
        </p:spPr>
        <p:txBody>
          <a:bodyPr wrap="square" lIns="0" tIns="0" rIns="0" bIns="0" rtlCol="0" anchor="ctr"/>
          <a:lstStyle/>
          <a:p>
            <a:pPr marL="0" indent="0">
              <a:buNone/>
            </a:pPr>
            <a:r>
              <a:rPr lang="en-US" sz="1100" b="1" dirty="0">
                <a:solidFill>
                  <a:srgbClr val="0D47A1"/>
                </a:solidFill>
                <a:latin typeface="Calibri" pitchFamily="34" charset="0"/>
                <a:ea typeface="Calibri" pitchFamily="34" charset="-122"/>
                <a:cs typeface="Calibri" pitchFamily="34" charset="-120"/>
              </a:rPr>
              <a:t>96.48 %</a:t>
            </a:r>
            <a:endParaRPr lang="en-US" sz="1100" dirty="0"/>
          </a:p>
        </p:txBody>
      </p:sp>
      <p:sp>
        <p:nvSpPr>
          <p:cNvPr id="27" name="Text 25"/>
          <p:cNvSpPr/>
          <p:nvPr/>
        </p:nvSpPr>
        <p:spPr>
          <a:xfrm>
            <a:off x="548640" y="5349240"/>
            <a:ext cx="6263640" cy="777240"/>
          </a:xfrm>
          <a:prstGeom prst="rect">
            <a:avLst/>
          </a:prstGeom>
          <a:noFill/>
        </p:spPr>
        <p:txBody>
          <a:bodyPr wrap="square" lIns="0" tIns="0" rIns="0" bIns="0" rtlCol="0" anchor="ctr"/>
          <a:lstStyle/>
          <a:p>
            <a:pPr marL="0" indent="0">
              <a:buNone/>
            </a:pPr>
            <a:r>
              <a:rPr lang="en-US" sz="1100" i="1" dirty="0">
                <a:solidFill>
                  <a:srgbClr val="475569"/>
                </a:solidFill>
                <a:latin typeface="Calibri" pitchFamily="34" charset="0"/>
                <a:ea typeface="Calibri" pitchFamily="34" charset="-122"/>
                <a:cs typeface="Calibri" pitchFamily="34" charset="-120"/>
              </a:rPr>
              <a:t>ConvNeXt-Tiny est la première évaluation publiée de cette architecture pour la détection d'inondations en Afrique subsaharienne.</a:t>
            </a:r>
            <a:endParaRPr lang="en-US" sz="1100" dirty="0"/>
          </a:p>
        </p:txBody>
      </p:sp>
      <p:sp>
        <p:nvSpPr>
          <p:cNvPr id="28" name="Shape 26"/>
          <p:cNvSpPr/>
          <p:nvPr/>
        </p:nvSpPr>
        <p:spPr>
          <a:xfrm>
            <a:off x="7040880" y="2606040"/>
            <a:ext cx="4572000" cy="3520440"/>
          </a:xfrm>
          <a:prstGeom prst="rect">
            <a:avLst/>
          </a:prstGeom>
          <a:solidFill>
            <a:srgbClr val="0D47A1"/>
          </a:solidFill>
          <a:ln w="12700">
            <a:solidFill>
              <a:srgbClr val="0D47A1"/>
            </a:solidFill>
            <a:prstDash val="solid"/>
          </a:ln>
          <a:effectLst>
            <a:outerShdw blurRad="101600" dist="25400" dir="5400000" algn="bl" rotWithShape="0">
              <a:srgbClr val="000000">
                <a:alpha val="10000"/>
              </a:srgbClr>
            </a:outerShdw>
          </a:effectLst>
        </p:spPr>
      </p:sp>
      <p:sp>
        <p:nvSpPr>
          <p:cNvPr id="29" name="Shape 27"/>
          <p:cNvSpPr/>
          <p:nvPr/>
        </p:nvSpPr>
        <p:spPr>
          <a:xfrm>
            <a:off x="7040880" y="2606040"/>
            <a:ext cx="4572000" cy="457200"/>
          </a:xfrm>
          <a:prstGeom prst="rect">
            <a:avLst/>
          </a:prstGeom>
          <a:solidFill>
            <a:srgbClr val="F59E0B"/>
          </a:solidFill>
          <a:ln w="12700">
            <a:solidFill>
              <a:srgbClr val="F59E0B"/>
            </a:solidFill>
            <a:prstDash val="solid"/>
          </a:ln>
        </p:spPr>
      </p:sp>
      <p:sp>
        <p:nvSpPr>
          <p:cNvPr id="30" name="Text 28"/>
          <p:cNvSpPr/>
          <p:nvPr/>
        </p:nvSpPr>
        <p:spPr>
          <a:xfrm>
            <a:off x="7040880" y="2606040"/>
            <a:ext cx="4572000" cy="457200"/>
          </a:xfrm>
          <a:prstGeom prst="rect">
            <a:avLst/>
          </a:prstGeom>
          <a:noFill/>
        </p:spPr>
        <p:txBody>
          <a:bodyPr wrap="square" lIns="0" tIns="0" rIns="0" bIns="0" rtlCol="0" anchor="ctr"/>
          <a:lstStyle/>
          <a:p>
            <a:pPr marL="0" indent="0" algn="ctr">
              <a:buNone/>
            </a:pPr>
            <a:r>
              <a:rPr lang="en-US" sz="1100" b="1" kern="0" spc="200" dirty="0">
                <a:solidFill>
                  <a:srgbClr val="0D47A1"/>
                </a:solidFill>
                <a:latin typeface="Calibri" pitchFamily="34" charset="0"/>
                <a:ea typeface="Calibri" pitchFamily="34" charset="-122"/>
                <a:cs typeface="Calibri" pitchFamily="34" charset="-120"/>
              </a:rPr>
              <a:t>CONVNEXT-TINY — MODÈLE RETENU</a:t>
            </a:r>
            <a:endParaRPr lang="en-US" sz="1100" dirty="0"/>
          </a:p>
        </p:txBody>
      </p:sp>
      <p:sp>
        <p:nvSpPr>
          <p:cNvPr id="31" name="Text 29"/>
          <p:cNvSpPr/>
          <p:nvPr/>
        </p:nvSpPr>
        <p:spPr>
          <a:xfrm>
            <a:off x="7223760" y="3246120"/>
            <a:ext cx="1645920" cy="502920"/>
          </a:xfrm>
          <a:prstGeom prst="rect">
            <a:avLst/>
          </a:prstGeom>
          <a:noFill/>
        </p:spPr>
        <p:txBody>
          <a:bodyPr wrap="square" lIns="0" tIns="0" rIns="0" bIns="0" rtlCol="0" anchor="ctr"/>
          <a:lstStyle/>
          <a:p>
            <a:pPr marL="0" indent="0">
              <a:buNone/>
            </a:pPr>
            <a:r>
              <a:rPr lang="en-US" sz="2200" b="1" dirty="0">
                <a:solidFill>
                  <a:srgbClr val="F59E0B"/>
                </a:solidFill>
                <a:latin typeface="Georgia" panose="02040502050405090303" pitchFamily="34" charset="0"/>
                <a:ea typeface="Georgia" panose="02040502050405090303" pitchFamily="34" charset="-122"/>
                <a:cs typeface="Georgia" panose="02040502050405090303" pitchFamily="34" charset="-120"/>
              </a:rPr>
              <a:t>96,48 %</a:t>
            </a:r>
            <a:endParaRPr lang="en-US" sz="2200" dirty="0"/>
          </a:p>
        </p:txBody>
      </p:sp>
      <p:sp>
        <p:nvSpPr>
          <p:cNvPr id="32" name="Text 30"/>
          <p:cNvSpPr/>
          <p:nvPr/>
        </p:nvSpPr>
        <p:spPr>
          <a:xfrm>
            <a:off x="8869680" y="3246120"/>
            <a:ext cx="2697480" cy="502920"/>
          </a:xfrm>
          <a:prstGeom prst="rect">
            <a:avLst/>
          </a:prstGeom>
          <a:noFill/>
        </p:spPr>
        <p:txBody>
          <a:bodyPr wrap="square" lIns="0" tIns="0" rIns="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F1-Score sur 113 images de validation</a:t>
            </a:r>
            <a:endParaRPr lang="en-US" sz="1100" dirty="0"/>
          </a:p>
        </p:txBody>
      </p:sp>
      <p:sp>
        <p:nvSpPr>
          <p:cNvPr id="33" name="Text 31"/>
          <p:cNvSpPr/>
          <p:nvPr/>
        </p:nvSpPr>
        <p:spPr>
          <a:xfrm>
            <a:off x="7223760" y="3959352"/>
            <a:ext cx="1645920" cy="502920"/>
          </a:xfrm>
          <a:prstGeom prst="rect">
            <a:avLst/>
          </a:prstGeom>
          <a:noFill/>
        </p:spPr>
        <p:txBody>
          <a:bodyPr wrap="square" lIns="0" tIns="0" rIns="0" bIns="0" rtlCol="0" anchor="ctr"/>
          <a:lstStyle/>
          <a:p>
            <a:pPr marL="0" indent="0">
              <a:buNone/>
            </a:pPr>
            <a:r>
              <a:rPr lang="en-US" sz="2200" b="1" dirty="0">
                <a:solidFill>
                  <a:srgbClr val="F59E0B"/>
                </a:solidFill>
                <a:latin typeface="Georgia" panose="02040502050405090303" pitchFamily="34" charset="0"/>
                <a:ea typeface="Georgia" panose="02040502050405090303" pitchFamily="34" charset="-122"/>
                <a:cs typeface="Georgia" panose="02040502050405090303" pitchFamily="34" charset="-120"/>
              </a:rPr>
              <a:t>100 %</a:t>
            </a:r>
            <a:endParaRPr lang="en-US" sz="2200" dirty="0"/>
          </a:p>
        </p:txBody>
      </p:sp>
      <p:sp>
        <p:nvSpPr>
          <p:cNvPr id="34" name="Text 32"/>
          <p:cNvSpPr/>
          <p:nvPr/>
        </p:nvSpPr>
        <p:spPr>
          <a:xfrm>
            <a:off x="8869680" y="3959352"/>
            <a:ext cx="2697480" cy="502920"/>
          </a:xfrm>
          <a:prstGeom prst="rect">
            <a:avLst/>
          </a:prstGeom>
          <a:noFill/>
        </p:spPr>
        <p:txBody>
          <a:bodyPr wrap="square" lIns="0" tIns="0" rIns="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Précision inondation (FP = 0)</a:t>
            </a:r>
            <a:endParaRPr lang="en-US" sz="1100" dirty="0"/>
          </a:p>
        </p:txBody>
      </p:sp>
      <p:sp>
        <p:nvSpPr>
          <p:cNvPr id="35" name="Text 33"/>
          <p:cNvSpPr/>
          <p:nvPr/>
        </p:nvSpPr>
        <p:spPr>
          <a:xfrm>
            <a:off x="7223760" y="4672584"/>
            <a:ext cx="1645920" cy="502920"/>
          </a:xfrm>
          <a:prstGeom prst="rect">
            <a:avLst/>
          </a:prstGeom>
          <a:noFill/>
        </p:spPr>
        <p:txBody>
          <a:bodyPr wrap="square" lIns="0" tIns="0" rIns="0" bIns="0" rtlCol="0" anchor="ctr"/>
          <a:lstStyle/>
          <a:p>
            <a:pPr marL="0" indent="0">
              <a:buNone/>
            </a:pPr>
            <a:r>
              <a:rPr lang="en-US" sz="2200" b="1" dirty="0">
                <a:solidFill>
                  <a:srgbClr val="F59E0B"/>
                </a:solidFill>
                <a:latin typeface="Georgia" panose="02040502050405090303" pitchFamily="34" charset="0"/>
                <a:ea typeface="Georgia" panose="02040502050405090303" pitchFamily="34" charset="-122"/>
                <a:cs typeface="Georgia" panose="02040502050405090303" pitchFamily="34" charset="-120"/>
              </a:rPr>
              <a:t>0,988</a:t>
            </a:r>
            <a:endParaRPr lang="en-US" sz="2200" dirty="0"/>
          </a:p>
        </p:txBody>
      </p:sp>
      <p:sp>
        <p:nvSpPr>
          <p:cNvPr id="36" name="Text 34"/>
          <p:cNvSpPr/>
          <p:nvPr/>
        </p:nvSpPr>
        <p:spPr>
          <a:xfrm>
            <a:off x="8869680" y="4672584"/>
            <a:ext cx="2697480" cy="502920"/>
          </a:xfrm>
          <a:prstGeom prst="rect">
            <a:avLst/>
          </a:prstGeom>
          <a:noFill/>
        </p:spPr>
        <p:txBody>
          <a:bodyPr wrap="square" lIns="0" tIns="0" rIns="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AUC-ROC</a:t>
            </a:r>
            <a:endParaRPr lang="en-US" sz="1100" dirty="0"/>
          </a:p>
        </p:txBody>
      </p:sp>
      <p:sp>
        <p:nvSpPr>
          <p:cNvPr id="37" name="Text 35"/>
          <p:cNvSpPr/>
          <p:nvPr/>
        </p:nvSpPr>
        <p:spPr>
          <a:xfrm>
            <a:off x="7223760" y="5385816"/>
            <a:ext cx="1645920" cy="502920"/>
          </a:xfrm>
          <a:prstGeom prst="rect">
            <a:avLst/>
          </a:prstGeom>
          <a:noFill/>
        </p:spPr>
        <p:txBody>
          <a:bodyPr wrap="square" lIns="0" tIns="0" rIns="0" bIns="0" rtlCol="0" anchor="ctr"/>
          <a:lstStyle/>
          <a:p>
            <a:pPr marL="0" indent="0">
              <a:buNone/>
            </a:pPr>
            <a:r>
              <a:rPr lang="en-US" sz="2200" b="1" dirty="0">
                <a:solidFill>
                  <a:srgbClr val="F59E0B"/>
                </a:solidFill>
                <a:latin typeface="Georgia" panose="02040502050405090303" pitchFamily="34" charset="0"/>
                <a:ea typeface="Georgia" panose="02040502050405090303" pitchFamily="34" charset="-122"/>
                <a:cs typeface="Georgia" panose="02040502050405090303" pitchFamily="34" charset="-120"/>
              </a:rPr>
              <a:t>27,8 M</a:t>
            </a:r>
            <a:endParaRPr lang="en-US" sz="2200" dirty="0"/>
          </a:p>
        </p:txBody>
      </p:sp>
      <p:sp>
        <p:nvSpPr>
          <p:cNvPr id="38" name="Text 36"/>
          <p:cNvSpPr/>
          <p:nvPr/>
        </p:nvSpPr>
        <p:spPr>
          <a:xfrm>
            <a:off x="8869680" y="5385816"/>
            <a:ext cx="2697480" cy="502920"/>
          </a:xfrm>
          <a:prstGeom prst="rect">
            <a:avLst/>
          </a:prstGeom>
          <a:noFill/>
        </p:spPr>
        <p:txBody>
          <a:bodyPr wrap="square" lIns="0" tIns="0" rIns="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paramètres entraînables</a:t>
            </a:r>
            <a:endParaRPr lang="en-US" sz="1100" dirty="0"/>
          </a:p>
        </p:txBody>
      </p:sp>
      <p:sp>
        <p:nvSpPr>
          <p:cNvPr id="39" name="Shape 37"/>
          <p:cNvSpPr/>
          <p:nvPr/>
        </p:nvSpPr>
        <p:spPr>
          <a:xfrm>
            <a:off x="0" y="6537960"/>
            <a:ext cx="12161520" cy="320040"/>
          </a:xfrm>
          <a:prstGeom prst="rect">
            <a:avLst/>
          </a:prstGeom>
          <a:solidFill>
            <a:srgbClr val="0D47A1"/>
          </a:solidFill>
          <a:ln w="12700">
            <a:solidFill>
              <a:srgbClr val="0D47A1"/>
            </a:solidFill>
            <a:prstDash val="solid"/>
          </a:ln>
        </p:spPr>
      </p:sp>
      <p:sp>
        <p:nvSpPr>
          <p:cNvPr id="40" name="Text 38"/>
          <p:cNvSpPr/>
          <p:nvPr/>
        </p:nvSpPr>
        <p:spPr>
          <a:xfrm>
            <a:off x="457200" y="6537960"/>
            <a:ext cx="7315200" cy="320040"/>
          </a:xfrm>
          <a:prstGeom prst="rect">
            <a:avLst/>
          </a:prstGeom>
          <a:noFill/>
        </p:spPr>
        <p:txBody>
          <a:bodyPr wrap="square" lIns="0" tIns="0" rIns="0" bIns="0" rtlCol="0" anchor="ctr"/>
          <a:lstStyle/>
          <a:p>
            <a:pPr marL="0" indent="0" algn="l">
              <a:buNone/>
            </a:pPr>
            <a:r>
              <a:rPr lang="en-US" sz="900" dirty="0">
                <a:solidFill>
                  <a:srgbClr val="F8FAFC"/>
                </a:solidFill>
                <a:latin typeface="Calibri" pitchFamily="34" charset="0"/>
                <a:ea typeface="Calibri" pitchFamily="34" charset="-122"/>
                <a:cs typeface="Calibri" pitchFamily="34" charset="-120"/>
              </a:rPr>
              <a:t>Saytu Mbeund  ·  FloodGuardAI  ·  flood.yaataldigital.com</a:t>
            </a:r>
            <a:endParaRPr lang="en-US" sz="900" dirty="0"/>
          </a:p>
        </p:txBody>
      </p:sp>
      <p:sp>
        <p:nvSpPr>
          <p:cNvPr id="41" name="Text 39"/>
          <p:cNvSpPr/>
          <p:nvPr/>
        </p:nvSpPr>
        <p:spPr>
          <a:xfrm>
            <a:off x="8503920" y="6537960"/>
            <a:ext cx="2286000" cy="320040"/>
          </a:xfrm>
          <a:prstGeom prst="rect">
            <a:avLst/>
          </a:prstGeom>
          <a:noFill/>
        </p:spPr>
        <p:txBody>
          <a:bodyPr wrap="square" lIns="0" tIns="0" rIns="0" bIns="0" rtlCol="0" anchor="ctr"/>
          <a:lstStyle/>
          <a:p>
            <a:pPr marL="0" indent="0" algn="r">
              <a:buNone/>
            </a:pPr>
            <a:r>
              <a:rPr lang="en-US" sz="900" i="1" dirty="0">
                <a:solidFill>
                  <a:srgbClr val="F59E0B"/>
                </a:solidFill>
                <a:latin typeface="Calibri" pitchFamily="34" charset="0"/>
                <a:ea typeface="Calibri" pitchFamily="34" charset="-122"/>
                <a:cs typeface="Calibri" pitchFamily="34" charset="-120"/>
              </a:rPr>
              <a:t>▸ ADAMA</a:t>
            </a:r>
            <a:endParaRPr lang="en-US" sz="900" dirty="0"/>
          </a:p>
        </p:txBody>
      </p:sp>
      <p:sp>
        <p:nvSpPr>
          <p:cNvPr id="42" name="Text 40"/>
          <p:cNvSpPr/>
          <p:nvPr/>
        </p:nvSpPr>
        <p:spPr>
          <a:xfrm>
            <a:off x="11064240" y="6537960"/>
            <a:ext cx="640080" cy="320040"/>
          </a:xfrm>
          <a:prstGeom prst="rect">
            <a:avLst/>
          </a:prstGeom>
          <a:noFill/>
        </p:spPr>
        <p:txBody>
          <a:bodyPr wrap="square" lIns="0" tIns="0" rIns="0" bIns="0" rtlCol="0" anchor="ctr"/>
          <a:lstStyle/>
          <a:p>
            <a:pPr marL="0" indent="0" algn="r">
              <a:buNone/>
            </a:pPr>
            <a:r>
              <a:rPr lang="en-US" sz="900" dirty="0">
                <a:solidFill>
                  <a:srgbClr val="F8FAFC"/>
                </a:solidFill>
                <a:latin typeface="Calibri" pitchFamily="34" charset="0"/>
                <a:ea typeface="Calibri" pitchFamily="34" charset="-122"/>
                <a:cs typeface="Calibri" pitchFamily="34" charset="-120"/>
              </a:rPr>
              <a:t>6 / 12</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548640" y="411480"/>
            <a:ext cx="7315200" cy="320040"/>
          </a:xfrm>
          <a:prstGeom prst="rect">
            <a:avLst/>
          </a:prstGeom>
          <a:noFill/>
        </p:spPr>
        <p:txBody>
          <a:bodyPr wrap="square" lIns="0" tIns="0" rIns="0" bIns="0" rtlCol="0" anchor="ctr"/>
          <a:lstStyle/>
          <a:p>
            <a:pPr marL="0" indent="0">
              <a:buNone/>
            </a:pPr>
            <a:r>
              <a:rPr lang="en-US" sz="1100" b="1" kern="0" spc="400" dirty="0">
                <a:solidFill>
                  <a:srgbClr val="1565C0"/>
                </a:solidFill>
                <a:latin typeface="Calibri" pitchFamily="34" charset="0"/>
                <a:ea typeface="Calibri" pitchFamily="34" charset="-122"/>
                <a:cs typeface="Calibri" pitchFamily="34" charset="-120"/>
              </a:rPr>
              <a:t>COMPOSANTE 3</a:t>
            </a:r>
            <a:endParaRPr lang="en-US" sz="1100" dirty="0"/>
          </a:p>
        </p:txBody>
      </p:sp>
      <p:sp>
        <p:nvSpPr>
          <p:cNvPr id="3" name="Text 1"/>
          <p:cNvSpPr/>
          <p:nvPr/>
        </p:nvSpPr>
        <p:spPr>
          <a:xfrm>
            <a:off x="548640" y="713232"/>
            <a:ext cx="10058400" cy="777240"/>
          </a:xfrm>
          <a:prstGeom prst="rect">
            <a:avLst/>
          </a:prstGeom>
          <a:noFill/>
        </p:spPr>
        <p:txBody>
          <a:bodyPr wrap="square" lIns="0" tIns="0" rIns="0" bIns="0" rtlCol="0" anchor="ctr"/>
          <a:lstStyle/>
          <a:p>
            <a:pPr marL="0" indent="0">
              <a:buNone/>
            </a:pPr>
            <a:r>
              <a:rPr lang="en-US" sz="3000" b="1" dirty="0">
                <a:solidFill>
                  <a:srgbClr val="0D47A1"/>
                </a:solidFill>
                <a:latin typeface="Georgia" panose="02040502050405090303" pitchFamily="34" charset="0"/>
                <a:ea typeface="Georgia" panose="02040502050405090303" pitchFamily="34" charset="-122"/>
                <a:cs typeface="Georgia" panose="02040502050405090303" pitchFamily="34" charset="-120"/>
              </a:rPr>
              <a:t>FloodGuardAI : la plateforme en production</a:t>
            </a:r>
            <a:endParaRPr lang="en-US" sz="3000" dirty="0"/>
          </a:p>
        </p:txBody>
      </p:sp>
      <p:sp>
        <p:nvSpPr>
          <p:cNvPr id="4" name="Shape 2"/>
          <p:cNvSpPr/>
          <p:nvPr/>
        </p:nvSpPr>
        <p:spPr>
          <a:xfrm>
            <a:off x="548640" y="1517904"/>
            <a:ext cx="164592" cy="164592"/>
          </a:xfrm>
          <a:prstGeom prst="ellipse">
            <a:avLst/>
          </a:prstGeom>
          <a:solidFill>
            <a:srgbClr val="F59E0B"/>
          </a:solidFill>
          <a:ln w="12700">
            <a:solidFill>
              <a:srgbClr val="F59E0B"/>
            </a:solidFill>
            <a:prstDash val="solid"/>
          </a:ln>
        </p:spPr>
      </p:sp>
      <p:sp>
        <p:nvSpPr>
          <p:cNvPr id="5" name="Shape 3"/>
          <p:cNvSpPr/>
          <p:nvPr/>
        </p:nvSpPr>
        <p:spPr>
          <a:xfrm>
            <a:off x="777240" y="1517904"/>
            <a:ext cx="164592" cy="164592"/>
          </a:xfrm>
          <a:prstGeom prst="ellipse">
            <a:avLst/>
          </a:prstGeom>
          <a:solidFill>
            <a:srgbClr val="1565C0"/>
          </a:solidFill>
          <a:ln w="12700">
            <a:solidFill>
              <a:srgbClr val="1565C0"/>
            </a:solidFill>
            <a:prstDash val="solid"/>
          </a:ln>
        </p:spPr>
      </p:sp>
      <p:sp>
        <p:nvSpPr>
          <p:cNvPr id="6" name="Shape 4"/>
          <p:cNvSpPr/>
          <p:nvPr/>
        </p:nvSpPr>
        <p:spPr>
          <a:xfrm>
            <a:off x="1005840" y="1517904"/>
            <a:ext cx="164592" cy="164592"/>
          </a:xfrm>
          <a:prstGeom prst="ellipse">
            <a:avLst/>
          </a:prstGeom>
          <a:solidFill>
            <a:srgbClr val="E2E8F0"/>
          </a:solidFill>
          <a:ln w="12700">
            <a:solidFill>
              <a:srgbClr val="E2E8F0"/>
            </a:solidFill>
            <a:prstDash val="solid"/>
          </a:ln>
        </p:spPr>
      </p:sp>
      <p:sp>
        <p:nvSpPr>
          <p:cNvPr id="7" name="Shape 5"/>
          <p:cNvSpPr/>
          <p:nvPr/>
        </p:nvSpPr>
        <p:spPr>
          <a:xfrm>
            <a:off x="9107170" y="411480"/>
            <a:ext cx="2597785" cy="411480"/>
          </a:xfrm>
          <a:prstGeom prst="roundRect">
            <a:avLst>
              <a:gd name="adj" fmla="val 11111"/>
            </a:avLst>
          </a:prstGeom>
          <a:solidFill>
            <a:srgbClr val="0891B2"/>
          </a:solidFill>
          <a:ln w="12700">
            <a:solidFill>
              <a:srgbClr val="0891B2"/>
            </a:solidFill>
            <a:prstDash val="solid"/>
          </a:ln>
        </p:spPr>
      </p:sp>
      <p:sp>
        <p:nvSpPr>
          <p:cNvPr id="8" name="Text 6"/>
          <p:cNvSpPr/>
          <p:nvPr/>
        </p:nvSpPr>
        <p:spPr>
          <a:xfrm>
            <a:off x="9326880" y="411480"/>
            <a:ext cx="2286000" cy="411480"/>
          </a:xfrm>
          <a:prstGeom prst="rect">
            <a:avLst/>
          </a:prstGeom>
          <a:noFill/>
        </p:spPr>
        <p:txBody>
          <a:bodyPr wrap="square" lIns="0" tIns="0" rIns="0" bIns="0" rtlCol="0" anchor="ctr"/>
          <a:lstStyle/>
          <a:p>
            <a:pPr marL="0" indent="0" algn="ctr">
              <a:buNone/>
            </a:pPr>
            <a:r>
              <a:rPr lang="en-US" sz="1000" b="1" kern="0" spc="200" dirty="0">
                <a:solidFill>
                  <a:srgbClr val="FFFFFF"/>
                </a:solidFill>
                <a:latin typeface="Calibri" pitchFamily="34" charset="0"/>
                <a:ea typeface="Calibri" pitchFamily="34" charset="-122"/>
                <a:cs typeface="Calibri" pitchFamily="34" charset="-120"/>
              </a:rPr>
              <a:t>ADAMA  ·  PLATEFORME</a:t>
            </a:r>
            <a:endParaRPr lang="en-US" sz="1000" dirty="0"/>
          </a:p>
        </p:txBody>
      </p:sp>
      <p:sp>
        <p:nvSpPr>
          <p:cNvPr id="9" name="Shape 7"/>
          <p:cNvSpPr/>
          <p:nvPr/>
        </p:nvSpPr>
        <p:spPr>
          <a:xfrm>
            <a:off x="548640" y="1874520"/>
            <a:ext cx="11064240" cy="548640"/>
          </a:xfrm>
          <a:prstGeom prst="rect">
            <a:avLst/>
          </a:prstGeom>
          <a:solidFill>
            <a:srgbClr val="059669"/>
          </a:solidFill>
          <a:ln w="12700">
            <a:solidFill>
              <a:srgbClr val="059669"/>
            </a:solidFill>
            <a:prstDash val="solid"/>
          </a:ln>
        </p:spPr>
      </p:sp>
      <p:pic>
        <p:nvPicPr>
          <p:cNvPr id="10" name="Image 0" descr="preencoded.png"/>
          <p:cNvPicPr>
            <a:picLocks noChangeAspect="1"/>
          </p:cNvPicPr>
          <p:nvPr/>
        </p:nvPicPr>
        <p:blipFill>
          <a:blip r:embed="rId1"/>
          <a:stretch>
            <a:fillRect/>
          </a:stretch>
        </p:blipFill>
        <p:spPr>
          <a:xfrm>
            <a:off x="731520" y="1993392"/>
            <a:ext cx="320040" cy="320040"/>
          </a:xfrm>
          <a:prstGeom prst="rect">
            <a:avLst/>
          </a:prstGeom>
        </p:spPr>
      </p:pic>
      <p:sp>
        <p:nvSpPr>
          <p:cNvPr id="11" name="Text 8"/>
          <p:cNvSpPr/>
          <p:nvPr/>
        </p:nvSpPr>
        <p:spPr>
          <a:xfrm>
            <a:off x="1143000" y="1874520"/>
            <a:ext cx="10424160" cy="548640"/>
          </a:xfrm>
          <a:prstGeom prst="rect">
            <a:avLst/>
          </a:prstGeom>
          <a:noFill/>
        </p:spPr>
        <p:txBody>
          <a:bodyPr wrap="square" lIns="0" tIns="0" rIns="0" bIns="0" rtlCol="0" anchor="ctr"/>
          <a:lstStyle/>
          <a:p>
            <a:pPr marL="0" indent="0">
              <a:buNone/>
            </a:pPr>
            <a:r>
              <a:rPr lang="en-US" sz="1100" b="1" kern="0" spc="300" dirty="0">
                <a:solidFill>
                  <a:srgbClr val="FFFFFF"/>
                </a:solidFill>
                <a:latin typeface="Calibri" pitchFamily="34" charset="0"/>
                <a:ea typeface="Calibri" pitchFamily="34" charset="-122"/>
                <a:cs typeface="Calibri" pitchFamily="34" charset="-120"/>
              </a:rPr>
              <a:t>EN LIGNE  </a:t>
            </a:r>
            <a:r>
              <a:rPr lang="en-US" sz="1100" dirty="0">
                <a:solidFill>
                  <a:srgbClr val="ECFDF5"/>
                </a:solidFill>
                <a:latin typeface="Calibri" pitchFamily="34" charset="0"/>
                <a:ea typeface="Calibri" pitchFamily="34" charset="-122"/>
                <a:cs typeface="Calibri" pitchFamily="34" charset="-120"/>
              </a:rPr>
              <a:t>·  https://flood.yaataldigital.com  ·  Démo : youtu.be/ml16aAvDvzs  ·  Yaatal Digital</a:t>
            </a:r>
            <a:endParaRPr lang="en-US" sz="1100" dirty="0"/>
          </a:p>
        </p:txBody>
      </p:sp>
      <p:sp>
        <p:nvSpPr>
          <p:cNvPr id="12" name="Text 9"/>
          <p:cNvSpPr/>
          <p:nvPr/>
        </p:nvSpPr>
        <p:spPr>
          <a:xfrm>
            <a:off x="548640" y="2606040"/>
            <a:ext cx="5943600" cy="365760"/>
          </a:xfrm>
          <a:prstGeom prst="rect">
            <a:avLst/>
          </a:prstGeom>
          <a:noFill/>
        </p:spPr>
        <p:txBody>
          <a:bodyPr wrap="square" lIns="0" tIns="0" rIns="0" bIns="0" rtlCol="0" anchor="ctr"/>
          <a:lstStyle/>
          <a:p>
            <a:pPr marL="0" indent="0">
              <a:buNone/>
            </a:pPr>
            <a:r>
              <a:rPr lang="en-US" sz="1300" b="1" dirty="0">
                <a:solidFill>
                  <a:srgbClr val="0D47A1"/>
                </a:solidFill>
                <a:latin typeface="Georgia" panose="02040502050405090303" pitchFamily="34" charset="0"/>
                <a:ea typeface="Georgia" panose="02040502050405090303" pitchFamily="34" charset="-122"/>
                <a:cs typeface="Georgia" panose="02040502050405090303" pitchFamily="34" charset="-120"/>
              </a:rPr>
              <a:t>Flux de traitement d'un signalement</a:t>
            </a:r>
            <a:endParaRPr lang="en-US" sz="1300" dirty="0"/>
          </a:p>
        </p:txBody>
      </p:sp>
      <p:sp>
        <p:nvSpPr>
          <p:cNvPr id="13" name="Shape 10"/>
          <p:cNvSpPr/>
          <p:nvPr/>
        </p:nvSpPr>
        <p:spPr>
          <a:xfrm>
            <a:off x="548640" y="3063240"/>
            <a:ext cx="411480" cy="411480"/>
          </a:xfrm>
          <a:prstGeom prst="ellipse">
            <a:avLst/>
          </a:prstGeom>
          <a:solidFill>
            <a:srgbClr val="1565C0"/>
          </a:solidFill>
          <a:ln w="12700">
            <a:solidFill>
              <a:srgbClr val="1565C0"/>
            </a:solidFill>
            <a:prstDash val="solid"/>
          </a:ln>
        </p:spPr>
      </p:sp>
      <p:sp>
        <p:nvSpPr>
          <p:cNvPr id="14" name="Text 11"/>
          <p:cNvSpPr/>
          <p:nvPr/>
        </p:nvSpPr>
        <p:spPr>
          <a:xfrm>
            <a:off x="548640" y="3063240"/>
            <a:ext cx="411480" cy="411480"/>
          </a:xfrm>
          <a:prstGeom prst="rect">
            <a:avLst/>
          </a:prstGeom>
          <a:noFill/>
        </p:spPr>
        <p:txBody>
          <a:bodyPr wrap="square" lIns="0" tIns="0" rIns="0" bIns="0" rtlCol="0" anchor="ctr"/>
          <a:lstStyle/>
          <a:p>
            <a:pPr marL="0" indent="0" algn="ctr">
              <a:buNone/>
            </a:pPr>
            <a:r>
              <a:rPr lang="en-US" sz="1400" b="1" dirty="0">
                <a:solidFill>
                  <a:srgbClr val="FFFFFF"/>
                </a:solidFill>
                <a:latin typeface="Georgia" panose="02040502050405090303" pitchFamily="34" charset="0"/>
                <a:ea typeface="Georgia" panose="02040502050405090303" pitchFamily="34" charset="-122"/>
                <a:cs typeface="Georgia" panose="02040502050405090303" pitchFamily="34" charset="-120"/>
              </a:rPr>
              <a:t>1</a:t>
            </a:r>
            <a:endParaRPr lang="en-US" sz="1400" dirty="0"/>
          </a:p>
        </p:txBody>
      </p:sp>
      <p:sp>
        <p:nvSpPr>
          <p:cNvPr id="15" name="Text 12"/>
          <p:cNvSpPr/>
          <p:nvPr/>
        </p:nvSpPr>
        <p:spPr>
          <a:xfrm>
            <a:off x="1051560" y="3063240"/>
            <a:ext cx="5349240" cy="411480"/>
          </a:xfrm>
          <a:prstGeom prst="rect">
            <a:avLst/>
          </a:prstGeom>
          <a:noFill/>
        </p:spPr>
        <p:txBody>
          <a:bodyPr wrap="square" lIns="0" tIns="0" rIns="0" bIns="0" rtlCol="0" anchor="ctr"/>
          <a:lstStyle/>
          <a:p>
            <a:pPr marL="0" indent="0">
              <a:buNone/>
            </a:pPr>
            <a:r>
              <a:rPr lang="en-US" sz="1100" dirty="0">
                <a:solidFill>
                  <a:srgbClr val="475569"/>
                </a:solidFill>
                <a:latin typeface="Calibri" pitchFamily="34" charset="0"/>
                <a:ea typeface="Calibri" pitchFamily="34" charset="-122"/>
                <a:cs typeface="Calibri" pitchFamily="34" charset="-120"/>
              </a:rPr>
              <a:t>Citoyen soumet une photo géolocalisée</a:t>
            </a:r>
            <a:endParaRPr lang="en-US" sz="1100" dirty="0"/>
          </a:p>
        </p:txBody>
      </p:sp>
      <p:sp>
        <p:nvSpPr>
          <p:cNvPr id="16" name="Shape 13"/>
          <p:cNvSpPr/>
          <p:nvPr/>
        </p:nvSpPr>
        <p:spPr>
          <a:xfrm>
            <a:off x="548640" y="3566160"/>
            <a:ext cx="411480" cy="411480"/>
          </a:xfrm>
          <a:prstGeom prst="ellipse">
            <a:avLst/>
          </a:prstGeom>
          <a:solidFill>
            <a:srgbClr val="1565C0"/>
          </a:solidFill>
          <a:ln w="12700">
            <a:solidFill>
              <a:srgbClr val="1565C0"/>
            </a:solidFill>
            <a:prstDash val="solid"/>
          </a:ln>
        </p:spPr>
      </p:sp>
      <p:sp>
        <p:nvSpPr>
          <p:cNvPr id="17" name="Text 14"/>
          <p:cNvSpPr/>
          <p:nvPr/>
        </p:nvSpPr>
        <p:spPr>
          <a:xfrm>
            <a:off x="548640" y="3566160"/>
            <a:ext cx="411480" cy="411480"/>
          </a:xfrm>
          <a:prstGeom prst="rect">
            <a:avLst/>
          </a:prstGeom>
          <a:noFill/>
        </p:spPr>
        <p:txBody>
          <a:bodyPr wrap="square" lIns="0" tIns="0" rIns="0" bIns="0" rtlCol="0" anchor="ctr"/>
          <a:lstStyle/>
          <a:p>
            <a:pPr marL="0" indent="0" algn="ctr">
              <a:buNone/>
            </a:pPr>
            <a:r>
              <a:rPr lang="en-US" sz="1400" b="1" dirty="0">
                <a:solidFill>
                  <a:srgbClr val="FFFFFF"/>
                </a:solidFill>
                <a:latin typeface="Georgia" panose="02040502050405090303" pitchFamily="34" charset="0"/>
                <a:ea typeface="Georgia" panose="02040502050405090303" pitchFamily="34" charset="-122"/>
                <a:cs typeface="Georgia" panose="02040502050405090303" pitchFamily="34" charset="-120"/>
              </a:rPr>
              <a:t>2</a:t>
            </a:r>
            <a:endParaRPr lang="en-US" sz="1400" dirty="0"/>
          </a:p>
        </p:txBody>
      </p:sp>
      <p:sp>
        <p:nvSpPr>
          <p:cNvPr id="18" name="Text 15"/>
          <p:cNvSpPr/>
          <p:nvPr/>
        </p:nvSpPr>
        <p:spPr>
          <a:xfrm>
            <a:off x="1051560" y="3566160"/>
            <a:ext cx="5349240" cy="411480"/>
          </a:xfrm>
          <a:prstGeom prst="rect">
            <a:avLst/>
          </a:prstGeom>
          <a:noFill/>
        </p:spPr>
        <p:txBody>
          <a:bodyPr wrap="square" lIns="0" tIns="0" rIns="0" bIns="0" rtlCol="0" anchor="ctr"/>
          <a:lstStyle/>
          <a:p>
            <a:pPr marL="0" indent="0">
              <a:buNone/>
            </a:pPr>
            <a:r>
              <a:rPr lang="en-US" sz="1100" dirty="0">
                <a:solidFill>
                  <a:srgbClr val="475569"/>
                </a:solidFill>
                <a:latin typeface="Calibri" pitchFamily="34" charset="0"/>
                <a:ea typeface="Calibri" pitchFamily="34" charset="-122"/>
                <a:cs typeface="Calibri" pitchFamily="34" charset="-120"/>
              </a:rPr>
              <a:t>ConvNeXt-Tiny classe l'image (inondé / normal)</a:t>
            </a:r>
            <a:endParaRPr lang="en-US" sz="1100" dirty="0"/>
          </a:p>
        </p:txBody>
      </p:sp>
      <p:sp>
        <p:nvSpPr>
          <p:cNvPr id="19" name="Shape 16"/>
          <p:cNvSpPr/>
          <p:nvPr/>
        </p:nvSpPr>
        <p:spPr>
          <a:xfrm>
            <a:off x="548640" y="4069080"/>
            <a:ext cx="411480" cy="411480"/>
          </a:xfrm>
          <a:prstGeom prst="ellipse">
            <a:avLst/>
          </a:prstGeom>
          <a:solidFill>
            <a:srgbClr val="1565C0"/>
          </a:solidFill>
          <a:ln w="12700">
            <a:solidFill>
              <a:srgbClr val="1565C0"/>
            </a:solidFill>
            <a:prstDash val="solid"/>
          </a:ln>
        </p:spPr>
      </p:sp>
      <p:sp>
        <p:nvSpPr>
          <p:cNvPr id="20" name="Text 17"/>
          <p:cNvSpPr/>
          <p:nvPr/>
        </p:nvSpPr>
        <p:spPr>
          <a:xfrm>
            <a:off x="548640" y="4069080"/>
            <a:ext cx="411480" cy="411480"/>
          </a:xfrm>
          <a:prstGeom prst="rect">
            <a:avLst/>
          </a:prstGeom>
          <a:noFill/>
        </p:spPr>
        <p:txBody>
          <a:bodyPr wrap="square" lIns="0" tIns="0" rIns="0" bIns="0" rtlCol="0" anchor="ctr"/>
          <a:lstStyle/>
          <a:p>
            <a:pPr marL="0" indent="0" algn="ctr">
              <a:buNone/>
            </a:pPr>
            <a:r>
              <a:rPr lang="en-US" sz="1400" b="1" dirty="0">
                <a:solidFill>
                  <a:srgbClr val="FFFFFF"/>
                </a:solidFill>
                <a:latin typeface="Georgia" panose="02040502050405090303" pitchFamily="34" charset="0"/>
                <a:ea typeface="Georgia" panose="02040502050405090303" pitchFamily="34" charset="-122"/>
                <a:cs typeface="Georgia" panose="02040502050405090303" pitchFamily="34" charset="-120"/>
              </a:rPr>
              <a:t>3</a:t>
            </a:r>
            <a:endParaRPr lang="en-US" sz="1400" dirty="0"/>
          </a:p>
        </p:txBody>
      </p:sp>
      <p:sp>
        <p:nvSpPr>
          <p:cNvPr id="21" name="Text 18"/>
          <p:cNvSpPr/>
          <p:nvPr/>
        </p:nvSpPr>
        <p:spPr>
          <a:xfrm>
            <a:off x="1051560" y="4069080"/>
            <a:ext cx="5349240" cy="411480"/>
          </a:xfrm>
          <a:prstGeom prst="rect">
            <a:avLst/>
          </a:prstGeom>
          <a:noFill/>
        </p:spPr>
        <p:txBody>
          <a:bodyPr wrap="square" lIns="0" tIns="0" rIns="0" bIns="0" rtlCol="0" anchor="ctr"/>
          <a:lstStyle/>
          <a:p>
            <a:pPr marL="0" indent="0">
              <a:buNone/>
            </a:pPr>
            <a:r>
              <a:rPr lang="en-US" sz="1100" dirty="0">
                <a:solidFill>
                  <a:srgbClr val="475569"/>
                </a:solidFill>
                <a:latin typeface="Calibri" pitchFamily="34" charset="0"/>
                <a:ea typeface="Calibri" pitchFamily="34" charset="-122"/>
                <a:cs typeface="Calibri" pitchFamily="34" charset="-120"/>
              </a:rPr>
              <a:t>Random Forest évalue le risque météo de la zone</a:t>
            </a:r>
            <a:endParaRPr lang="en-US" sz="1100" dirty="0"/>
          </a:p>
        </p:txBody>
      </p:sp>
      <p:sp>
        <p:nvSpPr>
          <p:cNvPr id="22" name="Shape 19"/>
          <p:cNvSpPr/>
          <p:nvPr/>
        </p:nvSpPr>
        <p:spPr>
          <a:xfrm>
            <a:off x="548640" y="4572000"/>
            <a:ext cx="411480" cy="411480"/>
          </a:xfrm>
          <a:prstGeom prst="ellipse">
            <a:avLst/>
          </a:prstGeom>
          <a:solidFill>
            <a:srgbClr val="1565C0"/>
          </a:solidFill>
          <a:ln w="12700">
            <a:solidFill>
              <a:srgbClr val="1565C0"/>
            </a:solidFill>
            <a:prstDash val="solid"/>
          </a:ln>
        </p:spPr>
      </p:sp>
      <p:sp>
        <p:nvSpPr>
          <p:cNvPr id="23" name="Text 20"/>
          <p:cNvSpPr/>
          <p:nvPr/>
        </p:nvSpPr>
        <p:spPr>
          <a:xfrm>
            <a:off x="548640" y="4572000"/>
            <a:ext cx="411480" cy="411480"/>
          </a:xfrm>
          <a:prstGeom prst="rect">
            <a:avLst/>
          </a:prstGeom>
          <a:noFill/>
        </p:spPr>
        <p:txBody>
          <a:bodyPr wrap="square" lIns="0" tIns="0" rIns="0" bIns="0" rtlCol="0" anchor="ctr"/>
          <a:lstStyle/>
          <a:p>
            <a:pPr marL="0" indent="0" algn="ctr">
              <a:buNone/>
            </a:pPr>
            <a:r>
              <a:rPr lang="en-US" sz="1400" b="1" dirty="0">
                <a:solidFill>
                  <a:srgbClr val="FFFFFF"/>
                </a:solidFill>
                <a:latin typeface="Georgia" panose="02040502050405090303" pitchFamily="34" charset="0"/>
                <a:ea typeface="Georgia" panose="02040502050405090303" pitchFamily="34" charset="-122"/>
                <a:cs typeface="Georgia" panose="02040502050405090303" pitchFamily="34" charset="-120"/>
              </a:rPr>
              <a:t>4</a:t>
            </a:r>
            <a:endParaRPr lang="en-US" sz="1400" dirty="0"/>
          </a:p>
        </p:txBody>
      </p:sp>
      <p:sp>
        <p:nvSpPr>
          <p:cNvPr id="24" name="Text 21"/>
          <p:cNvSpPr/>
          <p:nvPr/>
        </p:nvSpPr>
        <p:spPr>
          <a:xfrm>
            <a:off x="1051560" y="4572000"/>
            <a:ext cx="5349240" cy="411480"/>
          </a:xfrm>
          <a:prstGeom prst="rect">
            <a:avLst/>
          </a:prstGeom>
          <a:noFill/>
        </p:spPr>
        <p:txBody>
          <a:bodyPr wrap="square" lIns="0" tIns="0" rIns="0" bIns="0" rtlCol="0" anchor="ctr"/>
          <a:lstStyle/>
          <a:p>
            <a:pPr marL="0" indent="0">
              <a:buNone/>
            </a:pPr>
            <a:r>
              <a:rPr lang="en-US" sz="1100" dirty="0">
                <a:solidFill>
                  <a:srgbClr val="475569"/>
                </a:solidFill>
                <a:latin typeface="Calibri" pitchFamily="34" charset="0"/>
                <a:ea typeface="Calibri" pitchFamily="34" charset="-122"/>
                <a:cs typeface="Calibri" pitchFamily="34" charset="-120"/>
              </a:rPr>
              <a:t>Moteur de règles fusionne les scores → priorité</a:t>
            </a:r>
            <a:endParaRPr lang="en-US" sz="1100" dirty="0"/>
          </a:p>
        </p:txBody>
      </p:sp>
      <p:sp>
        <p:nvSpPr>
          <p:cNvPr id="25" name="Shape 22"/>
          <p:cNvSpPr/>
          <p:nvPr/>
        </p:nvSpPr>
        <p:spPr>
          <a:xfrm>
            <a:off x="548640" y="5074920"/>
            <a:ext cx="411480" cy="411480"/>
          </a:xfrm>
          <a:prstGeom prst="ellipse">
            <a:avLst/>
          </a:prstGeom>
          <a:solidFill>
            <a:srgbClr val="1565C0"/>
          </a:solidFill>
          <a:ln w="12700">
            <a:solidFill>
              <a:srgbClr val="1565C0"/>
            </a:solidFill>
            <a:prstDash val="solid"/>
          </a:ln>
        </p:spPr>
      </p:sp>
      <p:sp>
        <p:nvSpPr>
          <p:cNvPr id="26" name="Text 23"/>
          <p:cNvSpPr/>
          <p:nvPr/>
        </p:nvSpPr>
        <p:spPr>
          <a:xfrm>
            <a:off x="548640" y="5074920"/>
            <a:ext cx="411480" cy="411480"/>
          </a:xfrm>
          <a:prstGeom prst="rect">
            <a:avLst/>
          </a:prstGeom>
          <a:noFill/>
        </p:spPr>
        <p:txBody>
          <a:bodyPr wrap="square" lIns="0" tIns="0" rIns="0" bIns="0" rtlCol="0" anchor="ctr"/>
          <a:lstStyle/>
          <a:p>
            <a:pPr marL="0" indent="0" algn="ctr">
              <a:buNone/>
            </a:pPr>
            <a:r>
              <a:rPr lang="en-US" sz="1400" b="1" dirty="0">
                <a:solidFill>
                  <a:srgbClr val="FFFFFF"/>
                </a:solidFill>
                <a:latin typeface="Georgia" panose="02040502050405090303" pitchFamily="34" charset="0"/>
                <a:ea typeface="Georgia" panose="02040502050405090303" pitchFamily="34" charset="-122"/>
                <a:cs typeface="Georgia" panose="02040502050405090303" pitchFamily="34" charset="-120"/>
              </a:rPr>
              <a:t>5</a:t>
            </a:r>
            <a:endParaRPr lang="en-US" sz="1400" dirty="0"/>
          </a:p>
        </p:txBody>
      </p:sp>
      <p:sp>
        <p:nvSpPr>
          <p:cNvPr id="27" name="Text 24"/>
          <p:cNvSpPr/>
          <p:nvPr/>
        </p:nvSpPr>
        <p:spPr>
          <a:xfrm>
            <a:off x="1051560" y="5074920"/>
            <a:ext cx="5349240" cy="411480"/>
          </a:xfrm>
          <a:prstGeom prst="rect">
            <a:avLst/>
          </a:prstGeom>
          <a:noFill/>
        </p:spPr>
        <p:txBody>
          <a:bodyPr wrap="square" lIns="0" tIns="0" rIns="0" bIns="0" rtlCol="0" anchor="ctr"/>
          <a:lstStyle/>
          <a:p>
            <a:pPr marL="0" indent="0">
              <a:buNone/>
            </a:pPr>
            <a:r>
              <a:rPr lang="en-US" sz="1100" dirty="0">
                <a:solidFill>
                  <a:srgbClr val="475569"/>
                </a:solidFill>
                <a:latin typeface="Calibri" pitchFamily="34" charset="0"/>
                <a:ea typeface="Calibri" pitchFamily="34" charset="-122"/>
                <a:cs typeface="Calibri" pitchFamily="34" charset="-120"/>
              </a:rPr>
              <a:t>Alerte qualifiée envoyée aux autorités locales</a:t>
            </a:r>
            <a:endParaRPr lang="en-US" sz="1100" dirty="0"/>
          </a:p>
        </p:txBody>
      </p:sp>
      <p:sp>
        <p:nvSpPr>
          <p:cNvPr id="28" name="Shape 25"/>
          <p:cNvSpPr/>
          <p:nvPr/>
        </p:nvSpPr>
        <p:spPr>
          <a:xfrm>
            <a:off x="548640" y="5577840"/>
            <a:ext cx="411480" cy="411480"/>
          </a:xfrm>
          <a:prstGeom prst="ellipse">
            <a:avLst/>
          </a:prstGeom>
          <a:solidFill>
            <a:srgbClr val="1565C0"/>
          </a:solidFill>
          <a:ln w="12700">
            <a:solidFill>
              <a:srgbClr val="1565C0"/>
            </a:solidFill>
            <a:prstDash val="solid"/>
          </a:ln>
        </p:spPr>
      </p:sp>
      <p:sp>
        <p:nvSpPr>
          <p:cNvPr id="29" name="Text 26"/>
          <p:cNvSpPr/>
          <p:nvPr/>
        </p:nvSpPr>
        <p:spPr>
          <a:xfrm>
            <a:off x="548640" y="5577840"/>
            <a:ext cx="411480" cy="411480"/>
          </a:xfrm>
          <a:prstGeom prst="rect">
            <a:avLst/>
          </a:prstGeom>
          <a:noFill/>
        </p:spPr>
        <p:txBody>
          <a:bodyPr wrap="square" lIns="0" tIns="0" rIns="0" bIns="0" rtlCol="0" anchor="ctr"/>
          <a:lstStyle/>
          <a:p>
            <a:pPr marL="0" indent="0" algn="ctr">
              <a:buNone/>
            </a:pPr>
            <a:r>
              <a:rPr lang="en-US" sz="1400" b="1" dirty="0">
                <a:solidFill>
                  <a:srgbClr val="FFFFFF"/>
                </a:solidFill>
                <a:latin typeface="Georgia" panose="02040502050405090303" pitchFamily="34" charset="0"/>
                <a:ea typeface="Georgia" panose="02040502050405090303" pitchFamily="34" charset="-122"/>
                <a:cs typeface="Georgia" panose="02040502050405090303" pitchFamily="34" charset="-120"/>
              </a:rPr>
              <a:t>6</a:t>
            </a:r>
            <a:endParaRPr lang="en-US" sz="1400" dirty="0"/>
          </a:p>
        </p:txBody>
      </p:sp>
      <p:sp>
        <p:nvSpPr>
          <p:cNvPr id="30" name="Text 27"/>
          <p:cNvSpPr/>
          <p:nvPr/>
        </p:nvSpPr>
        <p:spPr>
          <a:xfrm>
            <a:off x="1051560" y="5577840"/>
            <a:ext cx="5349240" cy="411480"/>
          </a:xfrm>
          <a:prstGeom prst="rect">
            <a:avLst/>
          </a:prstGeom>
          <a:noFill/>
        </p:spPr>
        <p:txBody>
          <a:bodyPr wrap="square" lIns="0" tIns="0" rIns="0" bIns="0" rtlCol="0" anchor="ctr"/>
          <a:lstStyle/>
          <a:p>
            <a:pPr marL="0" indent="0">
              <a:buNone/>
            </a:pPr>
            <a:r>
              <a:rPr lang="en-US" sz="1100" dirty="0">
                <a:solidFill>
                  <a:srgbClr val="475569"/>
                </a:solidFill>
                <a:latin typeface="Calibri" pitchFamily="34" charset="0"/>
                <a:ea typeface="Calibri" pitchFamily="34" charset="-122"/>
                <a:cs typeface="Calibri" pitchFamily="34" charset="-120"/>
              </a:rPr>
              <a:t>Validation, notification, traçabilité Firestore</a:t>
            </a:r>
            <a:endParaRPr lang="en-US" sz="1100" dirty="0"/>
          </a:p>
        </p:txBody>
      </p:sp>
      <p:sp>
        <p:nvSpPr>
          <p:cNvPr id="31" name="Shape 28"/>
          <p:cNvSpPr/>
          <p:nvPr/>
        </p:nvSpPr>
        <p:spPr>
          <a:xfrm>
            <a:off x="6766560" y="2606040"/>
            <a:ext cx="4846320" cy="1691640"/>
          </a:xfrm>
          <a:prstGeom prst="rect">
            <a:avLst/>
          </a:prstGeom>
          <a:solidFill>
            <a:srgbClr val="FFFFFF"/>
          </a:solidFill>
          <a:ln w="12700">
            <a:solidFill>
              <a:srgbClr val="E2E8F0"/>
            </a:solidFill>
            <a:prstDash val="solid"/>
          </a:ln>
          <a:effectLst>
            <a:outerShdw blurRad="101600" dist="25400" dir="5400000" algn="bl" rotWithShape="0">
              <a:srgbClr val="000000">
                <a:alpha val="10000"/>
              </a:srgbClr>
            </a:outerShdw>
          </a:effectLst>
        </p:spPr>
      </p:sp>
      <p:sp>
        <p:nvSpPr>
          <p:cNvPr id="32" name="Shape 29"/>
          <p:cNvSpPr/>
          <p:nvPr/>
        </p:nvSpPr>
        <p:spPr>
          <a:xfrm>
            <a:off x="6766560" y="2606040"/>
            <a:ext cx="91440" cy="1691640"/>
          </a:xfrm>
          <a:prstGeom prst="rect">
            <a:avLst/>
          </a:prstGeom>
          <a:solidFill>
            <a:srgbClr val="1565C0"/>
          </a:solidFill>
          <a:ln w="12700">
            <a:solidFill>
              <a:srgbClr val="1565C0"/>
            </a:solidFill>
            <a:prstDash val="solid"/>
          </a:ln>
        </p:spPr>
      </p:sp>
      <p:sp>
        <p:nvSpPr>
          <p:cNvPr id="33" name="Text 30"/>
          <p:cNvSpPr/>
          <p:nvPr/>
        </p:nvSpPr>
        <p:spPr>
          <a:xfrm>
            <a:off x="6995160" y="2697480"/>
            <a:ext cx="4572000" cy="365760"/>
          </a:xfrm>
          <a:prstGeom prst="rect">
            <a:avLst/>
          </a:prstGeom>
          <a:noFill/>
        </p:spPr>
        <p:txBody>
          <a:bodyPr wrap="square" lIns="0" tIns="0" rIns="0" bIns="0" rtlCol="0" anchor="ctr"/>
          <a:lstStyle/>
          <a:p>
            <a:pPr marL="0" indent="0">
              <a:buNone/>
            </a:pPr>
            <a:r>
              <a:rPr lang="en-US" sz="1300" b="1" dirty="0">
                <a:solidFill>
                  <a:srgbClr val="0D47A1"/>
                </a:solidFill>
                <a:latin typeface="Georgia" panose="02040502050405090303" pitchFamily="34" charset="0"/>
                <a:ea typeface="Georgia" panose="02040502050405090303" pitchFamily="34" charset="-122"/>
                <a:cs typeface="Georgia" panose="02040502050405090303" pitchFamily="34" charset="-120"/>
              </a:rPr>
              <a:t>Architecture technique</a:t>
            </a:r>
            <a:endParaRPr lang="en-US" sz="1300" dirty="0"/>
          </a:p>
        </p:txBody>
      </p:sp>
      <p:sp>
        <p:nvSpPr>
          <p:cNvPr id="34" name="Text 31"/>
          <p:cNvSpPr/>
          <p:nvPr/>
        </p:nvSpPr>
        <p:spPr>
          <a:xfrm>
            <a:off x="6995160" y="3063240"/>
            <a:ext cx="4572000" cy="1280160"/>
          </a:xfrm>
          <a:prstGeom prst="rect">
            <a:avLst/>
          </a:prstGeom>
          <a:noFill/>
        </p:spPr>
        <p:txBody>
          <a:bodyPr wrap="square" lIns="0" tIns="0" rIns="0" bIns="0" rtlCol="0" anchor="ctr"/>
          <a:lstStyle/>
          <a:p>
            <a:pPr marL="0" indent="0">
              <a:spcAft>
                <a:spcPts val="400"/>
              </a:spcAft>
              <a:buNone/>
            </a:pPr>
            <a:r>
              <a:rPr lang="en-US" sz="1000" b="1" dirty="0">
                <a:solidFill>
                  <a:srgbClr val="0D47A1"/>
                </a:solidFill>
                <a:latin typeface="Calibri" pitchFamily="34" charset="0"/>
                <a:ea typeface="Calibri" pitchFamily="34" charset="-122"/>
                <a:cs typeface="Calibri" pitchFamily="34" charset="-120"/>
              </a:rPr>
              <a:t>Frontend </a:t>
            </a:r>
            <a:r>
              <a:rPr lang="en-US" sz="1000" dirty="0">
                <a:solidFill>
                  <a:srgbClr val="475569"/>
                </a:solidFill>
                <a:latin typeface="Calibri" pitchFamily="34" charset="0"/>
                <a:ea typeface="Calibri" pitchFamily="34" charset="-122"/>
                <a:cs typeface="Calibri" pitchFamily="34" charset="-120"/>
              </a:rPr>
              <a:t>Vue.js (mobile-first) + Flutter (mobile)</a:t>
            </a:r>
            <a:endParaRPr lang="en-US" sz="1000" dirty="0"/>
          </a:p>
          <a:p>
            <a:pPr marL="0" indent="0">
              <a:spcAft>
                <a:spcPts val="400"/>
              </a:spcAft>
              <a:buNone/>
            </a:pPr>
            <a:r>
              <a:rPr lang="en-US" sz="1000" b="1" dirty="0">
                <a:solidFill>
                  <a:srgbClr val="0D47A1"/>
                </a:solidFill>
                <a:latin typeface="Calibri" pitchFamily="34" charset="0"/>
                <a:ea typeface="Calibri" pitchFamily="34" charset="-122"/>
                <a:cs typeface="Calibri" pitchFamily="34" charset="-120"/>
              </a:rPr>
              <a:t>Backend </a:t>
            </a:r>
            <a:r>
              <a:rPr lang="en-US" sz="1000" dirty="0">
                <a:solidFill>
                  <a:srgbClr val="475569"/>
                </a:solidFill>
                <a:latin typeface="Calibri" pitchFamily="34" charset="0"/>
                <a:ea typeface="Calibri" pitchFamily="34" charset="-122"/>
                <a:cs typeface="Calibri" pitchFamily="34" charset="-120"/>
              </a:rPr>
              <a:t>Microservices Flask (Gateway · RF · ConvNeXt)</a:t>
            </a:r>
            <a:endParaRPr lang="en-US" sz="1000" dirty="0"/>
          </a:p>
          <a:p>
            <a:pPr marL="0" indent="0">
              <a:spcAft>
                <a:spcPts val="400"/>
              </a:spcAft>
              <a:buNone/>
            </a:pPr>
            <a:r>
              <a:rPr lang="en-US" sz="1000" b="1" dirty="0">
                <a:solidFill>
                  <a:srgbClr val="0D47A1"/>
                </a:solidFill>
                <a:latin typeface="Calibri" pitchFamily="34" charset="0"/>
                <a:ea typeface="Calibri" pitchFamily="34" charset="-122"/>
                <a:cs typeface="Calibri" pitchFamily="34" charset="-120"/>
              </a:rPr>
              <a:t>Données </a:t>
            </a:r>
            <a:r>
              <a:rPr lang="en-US" sz="1000" dirty="0">
                <a:solidFill>
                  <a:srgbClr val="475569"/>
                </a:solidFill>
                <a:latin typeface="Calibri" pitchFamily="34" charset="0"/>
                <a:ea typeface="Calibri" pitchFamily="34" charset="-122"/>
                <a:cs typeface="Calibri" pitchFamily="34" charset="-120"/>
              </a:rPr>
              <a:t>Firebase Firestore temps réel + Supabase</a:t>
            </a:r>
            <a:endParaRPr lang="en-US" sz="1000" dirty="0"/>
          </a:p>
          <a:p>
            <a:pPr marL="0" indent="0">
              <a:spcAft>
                <a:spcPts val="400"/>
              </a:spcAft>
              <a:buNone/>
            </a:pPr>
            <a:r>
              <a:rPr lang="en-US" sz="1000" b="1" dirty="0">
                <a:solidFill>
                  <a:srgbClr val="0D47A1"/>
                </a:solidFill>
                <a:latin typeface="Calibri" pitchFamily="34" charset="0"/>
                <a:ea typeface="Calibri" pitchFamily="34" charset="-122"/>
                <a:cs typeface="Calibri" pitchFamily="34" charset="-120"/>
              </a:rPr>
              <a:t>Carto </a:t>
            </a:r>
            <a:r>
              <a:rPr lang="en-US" sz="1000" dirty="0">
                <a:solidFill>
                  <a:srgbClr val="475569"/>
                </a:solidFill>
                <a:latin typeface="Calibri" pitchFamily="34" charset="0"/>
                <a:ea typeface="Calibri" pitchFamily="34" charset="-122"/>
                <a:cs typeface="Calibri" pitchFamily="34" charset="-120"/>
              </a:rPr>
              <a:t>Google Maps + couches GéoSénégal (zones inondables)</a:t>
            </a:r>
            <a:endParaRPr lang="en-US" sz="1000" dirty="0"/>
          </a:p>
        </p:txBody>
      </p:sp>
      <p:sp>
        <p:nvSpPr>
          <p:cNvPr id="35" name="Shape 32"/>
          <p:cNvSpPr/>
          <p:nvPr/>
        </p:nvSpPr>
        <p:spPr>
          <a:xfrm>
            <a:off x="6766560" y="4434840"/>
            <a:ext cx="4846320" cy="1691640"/>
          </a:xfrm>
          <a:prstGeom prst="rect">
            <a:avLst/>
          </a:prstGeom>
          <a:solidFill>
            <a:srgbClr val="FFFFFF"/>
          </a:solidFill>
          <a:ln w="12700">
            <a:solidFill>
              <a:srgbClr val="E2E8F0"/>
            </a:solidFill>
            <a:prstDash val="solid"/>
          </a:ln>
          <a:effectLst>
            <a:outerShdw blurRad="101600" dist="25400" dir="5400000" algn="bl" rotWithShape="0">
              <a:srgbClr val="000000">
                <a:alpha val="10000"/>
              </a:srgbClr>
            </a:outerShdw>
          </a:effectLst>
        </p:spPr>
      </p:sp>
      <p:sp>
        <p:nvSpPr>
          <p:cNvPr id="36" name="Shape 33"/>
          <p:cNvSpPr/>
          <p:nvPr/>
        </p:nvSpPr>
        <p:spPr>
          <a:xfrm>
            <a:off x="6766560" y="4434840"/>
            <a:ext cx="91440" cy="1691640"/>
          </a:xfrm>
          <a:prstGeom prst="rect">
            <a:avLst/>
          </a:prstGeom>
          <a:solidFill>
            <a:srgbClr val="F59E0B"/>
          </a:solidFill>
          <a:ln w="12700">
            <a:solidFill>
              <a:srgbClr val="F59E0B"/>
            </a:solidFill>
            <a:prstDash val="solid"/>
          </a:ln>
        </p:spPr>
      </p:sp>
      <p:sp>
        <p:nvSpPr>
          <p:cNvPr id="37" name="Text 34"/>
          <p:cNvSpPr/>
          <p:nvPr/>
        </p:nvSpPr>
        <p:spPr>
          <a:xfrm>
            <a:off x="6995160" y="4526280"/>
            <a:ext cx="4572000" cy="365760"/>
          </a:xfrm>
          <a:prstGeom prst="rect">
            <a:avLst/>
          </a:prstGeom>
          <a:noFill/>
        </p:spPr>
        <p:txBody>
          <a:bodyPr wrap="square" lIns="0" tIns="0" rIns="0" bIns="0" rtlCol="0" anchor="ctr"/>
          <a:lstStyle/>
          <a:p>
            <a:pPr marL="0" indent="0">
              <a:buNone/>
            </a:pPr>
            <a:r>
              <a:rPr lang="en-US" sz="1300" b="1" dirty="0">
                <a:solidFill>
                  <a:srgbClr val="0D47A1"/>
                </a:solidFill>
                <a:latin typeface="Georgia" panose="02040502050405090303" pitchFamily="34" charset="0"/>
                <a:ea typeface="Georgia" panose="02040502050405090303" pitchFamily="34" charset="-122"/>
                <a:cs typeface="Georgia" panose="02040502050405090303" pitchFamily="34" charset="-120"/>
              </a:rPr>
              <a:t>Fonctionnalités citoyens</a:t>
            </a:r>
            <a:endParaRPr lang="en-US" sz="1300" dirty="0"/>
          </a:p>
        </p:txBody>
      </p:sp>
      <p:sp>
        <p:nvSpPr>
          <p:cNvPr id="38" name="Text 35"/>
          <p:cNvSpPr/>
          <p:nvPr/>
        </p:nvSpPr>
        <p:spPr>
          <a:xfrm>
            <a:off x="6995160" y="4892040"/>
            <a:ext cx="4572000" cy="1280160"/>
          </a:xfrm>
          <a:prstGeom prst="rect">
            <a:avLst/>
          </a:prstGeom>
          <a:noFill/>
        </p:spPr>
        <p:txBody>
          <a:bodyPr wrap="square" lIns="0" tIns="0" rIns="0" bIns="0" rtlCol="0" anchor="ctr"/>
          <a:lstStyle/>
          <a:p>
            <a:pPr marL="0" indent="0">
              <a:spcAft>
                <a:spcPts val="400"/>
              </a:spcAft>
              <a:buNone/>
            </a:pPr>
            <a:r>
              <a:rPr lang="en-US" sz="1000" b="1" dirty="0">
                <a:solidFill>
                  <a:srgbClr val="0D47A1"/>
                </a:solidFill>
                <a:latin typeface="Calibri" pitchFamily="34" charset="0"/>
                <a:ea typeface="Calibri" pitchFamily="34" charset="-122"/>
                <a:cs typeface="Calibri" pitchFamily="34" charset="-120"/>
              </a:rPr>
              <a:t>Carte </a:t>
            </a:r>
            <a:r>
              <a:rPr lang="en-US" sz="1000" dirty="0">
                <a:solidFill>
                  <a:srgbClr val="475569"/>
                </a:solidFill>
                <a:latin typeface="Calibri" pitchFamily="34" charset="0"/>
                <a:ea typeface="Calibri" pitchFamily="34" charset="-122"/>
                <a:cs typeface="Calibri" pitchFamily="34" charset="-120"/>
              </a:rPr>
              <a:t>— filtres temps + source + heatmap auto</a:t>
            </a:r>
            <a:endParaRPr lang="en-US" sz="1000" dirty="0"/>
          </a:p>
          <a:p>
            <a:pPr marL="0" indent="0">
              <a:spcAft>
                <a:spcPts val="400"/>
              </a:spcAft>
              <a:buNone/>
            </a:pPr>
            <a:r>
              <a:rPr lang="en-US" sz="1000" b="1" dirty="0">
                <a:solidFill>
                  <a:srgbClr val="0D47A1"/>
                </a:solidFill>
                <a:latin typeface="Calibri" pitchFamily="34" charset="0"/>
                <a:ea typeface="Calibri" pitchFamily="34" charset="-122"/>
                <a:cs typeface="Calibri" pitchFamily="34" charset="-120"/>
              </a:rPr>
              <a:t>Signalement </a:t>
            </a:r>
            <a:r>
              <a:rPr lang="en-US" sz="1000" dirty="0">
                <a:solidFill>
                  <a:srgbClr val="475569"/>
                </a:solidFill>
                <a:latin typeface="Calibri" pitchFamily="34" charset="0"/>
                <a:ea typeface="Calibri" pitchFamily="34" charset="-122"/>
                <a:cs typeface="Calibri" pitchFamily="34" charset="-120"/>
              </a:rPr>
              <a:t>— photo + GPS + validation IA en &lt; 2s</a:t>
            </a:r>
            <a:endParaRPr lang="en-US" sz="1000" dirty="0"/>
          </a:p>
          <a:p>
            <a:pPr marL="0" indent="0">
              <a:spcAft>
                <a:spcPts val="400"/>
              </a:spcAft>
              <a:buNone/>
            </a:pPr>
            <a:r>
              <a:rPr lang="en-US" sz="1000" b="1" dirty="0">
                <a:solidFill>
                  <a:srgbClr val="0D47A1"/>
                </a:solidFill>
                <a:latin typeface="Calibri" pitchFamily="34" charset="0"/>
                <a:ea typeface="Calibri" pitchFamily="34" charset="-122"/>
                <a:cs typeface="Calibri" pitchFamily="34" charset="-120"/>
              </a:rPr>
              <a:t>Mes alertes </a:t>
            </a:r>
            <a:r>
              <a:rPr lang="en-US" sz="1000" dirty="0">
                <a:solidFill>
                  <a:srgbClr val="475569"/>
                </a:solidFill>
                <a:latin typeface="Calibri" pitchFamily="34" charset="0"/>
                <a:ea typeface="Calibri" pitchFamily="34" charset="-122"/>
                <a:cs typeface="Calibri" pitchFamily="34" charset="-120"/>
              </a:rPr>
              <a:t>— historique personnel et statut</a:t>
            </a:r>
            <a:endParaRPr lang="en-US" sz="1000" dirty="0"/>
          </a:p>
          <a:p>
            <a:pPr marL="0" indent="0">
              <a:spcAft>
                <a:spcPts val="400"/>
              </a:spcAft>
              <a:buNone/>
            </a:pPr>
            <a:r>
              <a:rPr lang="en-US" sz="1000" b="1" dirty="0">
                <a:solidFill>
                  <a:srgbClr val="0D47A1"/>
                </a:solidFill>
                <a:latin typeface="Calibri" pitchFamily="34" charset="0"/>
                <a:ea typeface="Calibri" pitchFamily="34" charset="-122"/>
                <a:cs typeface="Calibri" pitchFamily="34" charset="-120"/>
              </a:rPr>
              <a:t>Tendances 15j </a:t>
            </a:r>
            <a:r>
              <a:rPr lang="en-US" sz="1000" dirty="0">
                <a:solidFill>
                  <a:srgbClr val="475569"/>
                </a:solidFill>
                <a:latin typeface="Calibri" pitchFamily="34" charset="0"/>
                <a:ea typeface="Calibri" pitchFamily="34" charset="-122"/>
                <a:cs typeface="Calibri" pitchFamily="34" charset="-120"/>
              </a:rPr>
              <a:t>— prévisions par zone (probabilité, pluie, T°)</a:t>
            </a:r>
            <a:endParaRPr lang="en-US" sz="1000" dirty="0"/>
          </a:p>
        </p:txBody>
      </p:sp>
      <p:sp>
        <p:nvSpPr>
          <p:cNvPr id="39" name="Shape 36"/>
          <p:cNvSpPr/>
          <p:nvPr/>
        </p:nvSpPr>
        <p:spPr>
          <a:xfrm>
            <a:off x="0" y="6537960"/>
            <a:ext cx="12161520" cy="320040"/>
          </a:xfrm>
          <a:prstGeom prst="rect">
            <a:avLst/>
          </a:prstGeom>
          <a:solidFill>
            <a:srgbClr val="0D47A1"/>
          </a:solidFill>
          <a:ln w="12700">
            <a:solidFill>
              <a:srgbClr val="0D47A1"/>
            </a:solidFill>
            <a:prstDash val="solid"/>
          </a:ln>
        </p:spPr>
      </p:sp>
      <p:sp>
        <p:nvSpPr>
          <p:cNvPr id="40" name="Text 37"/>
          <p:cNvSpPr/>
          <p:nvPr/>
        </p:nvSpPr>
        <p:spPr>
          <a:xfrm>
            <a:off x="457200" y="6537960"/>
            <a:ext cx="7315200" cy="320040"/>
          </a:xfrm>
          <a:prstGeom prst="rect">
            <a:avLst/>
          </a:prstGeom>
          <a:noFill/>
        </p:spPr>
        <p:txBody>
          <a:bodyPr wrap="square" lIns="0" tIns="0" rIns="0" bIns="0" rtlCol="0" anchor="ctr"/>
          <a:lstStyle/>
          <a:p>
            <a:pPr marL="0" indent="0" algn="l">
              <a:buNone/>
            </a:pPr>
            <a:r>
              <a:rPr lang="en-US" sz="900" dirty="0">
                <a:solidFill>
                  <a:srgbClr val="F8FAFC"/>
                </a:solidFill>
                <a:latin typeface="Calibri" pitchFamily="34" charset="0"/>
                <a:ea typeface="Calibri" pitchFamily="34" charset="-122"/>
                <a:cs typeface="Calibri" pitchFamily="34" charset="-120"/>
              </a:rPr>
              <a:t>Saytu Mbeund  ·  FloodGuardAI  ·  flood.yaataldigital.com</a:t>
            </a:r>
            <a:endParaRPr lang="en-US" sz="900" dirty="0"/>
          </a:p>
        </p:txBody>
      </p:sp>
      <p:sp>
        <p:nvSpPr>
          <p:cNvPr id="41" name="Text 38"/>
          <p:cNvSpPr/>
          <p:nvPr/>
        </p:nvSpPr>
        <p:spPr>
          <a:xfrm>
            <a:off x="8503920" y="6537960"/>
            <a:ext cx="2286000" cy="320040"/>
          </a:xfrm>
          <a:prstGeom prst="rect">
            <a:avLst/>
          </a:prstGeom>
          <a:noFill/>
        </p:spPr>
        <p:txBody>
          <a:bodyPr wrap="square" lIns="0" tIns="0" rIns="0" bIns="0" rtlCol="0" anchor="ctr"/>
          <a:lstStyle/>
          <a:p>
            <a:pPr marL="0" indent="0" algn="r">
              <a:buNone/>
            </a:pPr>
            <a:r>
              <a:rPr lang="en-US" sz="900" i="1" dirty="0">
                <a:solidFill>
                  <a:srgbClr val="F59E0B"/>
                </a:solidFill>
                <a:latin typeface="Calibri" pitchFamily="34" charset="0"/>
                <a:ea typeface="Calibri" pitchFamily="34" charset="-122"/>
                <a:cs typeface="Calibri" pitchFamily="34" charset="-120"/>
              </a:rPr>
              <a:t>▸ ADAMA</a:t>
            </a:r>
            <a:endParaRPr lang="en-US" sz="900" dirty="0"/>
          </a:p>
        </p:txBody>
      </p:sp>
      <p:sp>
        <p:nvSpPr>
          <p:cNvPr id="42" name="Text 39"/>
          <p:cNvSpPr/>
          <p:nvPr/>
        </p:nvSpPr>
        <p:spPr>
          <a:xfrm>
            <a:off x="11064240" y="6537960"/>
            <a:ext cx="640080" cy="320040"/>
          </a:xfrm>
          <a:prstGeom prst="rect">
            <a:avLst/>
          </a:prstGeom>
          <a:noFill/>
        </p:spPr>
        <p:txBody>
          <a:bodyPr wrap="square" lIns="0" tIns="0" rIns="0" bIns="0" rtlCol="0" anchor="ctr"/>
          <a:lstStyle/>
          <a:p>
            <a:pPr marL="0" indent="0" algn="r">
              <a:buNone/>
            </a:pPr>
            <a:r>
              <a:rPr lang="en-US" sz="900" dirty="0">
                <a:solidFill>
                  <a:srgbClr val="F8FAFC"/>
                </a:solidFill>
                <a:latin typeface="Calibri" pitchFamily="34" charset="0"/>
                <a:ea typeface="Calibri" pitchFamily="34" charset="-122"/>
                <a:cs typeface="Calibri" pitchFamily="34" charset="-120"/>
              </a:rPr>
              <a:t>7 / 12</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548640" y="411480"/>
            <a:ext cx="7315200" cy="320040"/>
          </a:xfrm>
          <a:prstGeom prst="rect">
            <a:avLst/>
          </a:prstGeom>
          <a:noFill/>
        </p:spPr>
        <p:txBody>
          <a:bodyPr wrap="square" lIns="0" tIns="0" rIns="0" bIns="0" rtlCol="0" anchor="ctr"/>
          <a:lstStyle/>
          <a:p>
            <a:pPr marL="0" indent="0">
              <a:buNone/>
            </a:pPr>
            <a:r>
              <a:rPr lang="en-US" sz="1100" b="1" kern="0" spc="400" dirty="0">
                <a:solidFill>
                  <a:srgbClr val="1565C0"/>
                </a:solidFill>
                <a:latin typeface="Calibri" pitchFamily="34" charset="0"/>
                <a:ea typeface="Calibri" pitchFamily="34" charset="-122"/>
                <a:cs typeface="Calibri" pitchFamily="34" charset="-120"/>
              </a:rPr>
              <a:t>TABLEAU DE BORD SUPER-ADMIN</a:t>
            </a:r>
            <a:endParaRPr lang="en-US" sz="1100" dirty="0"/>
          </a:p>
        </p:txBody>
      </p:sp>
      <p:sp>
        <p:nvSpPr>
          <p:cNvPr id="3" name="Text 1"/>
          <p:cNvSpPr/>
          <p:nvPr/>
        </p:nvSpPr>
        <p:spPr>
          <a:xfrm>
            <a:off x="548640" y="713232"/>
            <a:ext cx="10058400" cy="777240"/>
          </a:xfrm>
          <a:prstGeom prst="rect">
            <a:avLst/>
          </a:prstGeom>
          <a:noFill/>
        </p:spPr>
        <p:txBody>
          <a:bodyPr wrap="square" lIns="0" tIns="0" rIns="0" bIns="0" rtlCol="0" anchor="ctr"/>
          <a:lstStyle/>
          <a:p>
            <a:pPr marL="0" indent="0">
              <a:buNone/>
            </a:pPr>
            <a:r>
              <a:rPr lang="en-US" sz="3000" b="1" dirty="0">
                <a:solidFill>
                  <a:srgbClr val="0D47A1"/>
                </a:solidFill>
                <a:latin typeface="Georgia" panose="02040502050405090303" pitchFamily="34" charset="0"/>
                <a:ea typeface="Georgia" panose="02040502050405090303" pitchFamily="34" charset="-122"/>
                <a:cs typeface="Georgia" panose="02040502050405090303" pitchFamily="34" charset="-120"/>
              </a:rPr>
              <a:t>Console d'administration : pilotage en temps réel</a:t>
            </a:r>
            <a:endParaRPr lang="en-US" sz="3000" dirty="0"/>
          </a:p>
        </p:txBody>
      </p:sp>
      <p:sp>
        <p:nvSpPr>
          <p:cNvPr id="4" name="Shape 2"/>
          <p:cNvSpPr/>
          <p:nvPr/>
        </p:nvSpPr>
        <p:spPr>
          <a:xfrm>
            <a:off x="548640" y="1517904"/>
            <a:ext cx="164592" cy="164592"/>
          </a:xfrm>
          <a:prstGeom prst="ellipse">
            <a:avLst/>
          </a:prstGeom>
          <a:solidFill>
            <a:srgbClr val="F59E0B"/>
          </a:solidFill>
          <a:ln w="12700">
            <a:solidFill>
              <a:srgbClr val="F59E0B"/>
            </a:solidFill>
            <a:prstDash val="solid"/>
          </a:ln>
        </p:spPr>
      </p:sp>
      <p:sp>
        <p:nvSpPr>
          <p:cNvPr id="5" name="Shape 3"/>
          <p:cNvSpPr/>
          <p:nvPr/>
        </p:nvSpPr>
        <p:spPr>
          <a:xfrm>
            <a:off x="777240" y="1517904"/>
            <a:ext cx="164592" cy="164592"/>
          </a:xfrm>
          <a:prstGeom prst="ellipse">
            <a:avLst/>
          </a:prstGeom>
          <a:solidFill>
            <a:srgbClr val="1565C0"/>
          </a:solidFill>
          <a:ln w="12700">
            <a:solidFill>
              <a:srgbClr val="1565C0"/>
            </a:solidFill>
            <a:prstDash val="solid"/>
          </a:ln>
        </p:spPr>
      </p:sp>
      <p:sp>
        <p:nvSpPr>
          <p:cNvPr id="6" name="Shape 4"/>
          <p:cNvSpPr/>
          <p:nvPr/>
        </p:nvSpPr>
        <p:spPr>
          <a:xfrm>
            <a:off x="1005840" y="1517904"/>
            <a:ext cx="164592" cy="164592"/>
          </a:xfrm>
          <a:prstGeom prst="ellipse">
            <a:avLst/>
          </a:prstGeom>
          <a:solidFill>
            <a:srgbClr val="E2E8F0"/>
          </a:solidFill>
          <a:ln w="12700">
            <a:solidFill>
              <a:srgbClr val="E2E8F0"/>
            </a:solidFill>
            <a:prstDash val="solid"/>
          </a:ln>
        </p:spPr>
      </p:sp>
      <p:sp>
        <p:nvSpPr>
          <p:cNvPr id="7" name="Shape 5"/>
          <p:cNvSpPr/>
          <p:nvPr/>
        </p:nvSpPr>
        <p:spPr>
          <a:xfrm>
            <a:off x="9692640" y="411480"/>
            <a:ext cx="1920240" cy="411480"/>
          </a:xfrm>
          <a:prstGeom prst="roundRect">
            <a:avLst>
              <a:gd name="adj" fmla="val 11111"/>
            </a:avLst>
          </a:prstGeom>
          <a:solidFill>
            <a:srgbClr val="0891B2"/>
          </a:solidFill>
          <a:ln w="12700">
            <a:solidFill>
              <a:srgbClr val="0891B2"/>
            </a:solidFill>
            <a:prstDash val="solid"/>
          </a:ln>
        </p:spPr>
      </p:sp>
      <p:sp>
        <p:nvSpPr>
          <p:cNvPr id="8" name="Text 6"/>
          <p:cNvSpPr/>
          <p:nvPr/>
        </p:nvSpPr>
        <p:spPr>
          <a:xfrm>
            <a:off x="9692640" y="411480"/>
            <a:ext cx="1920240" cy="411480"/>
          </a:xfrm>
          <a:prstGeom prst="rect">
            <a:avLst/>
          </a:prstGeom>
          <a:noFill/>
        </p:spPr>
        <p:txBody>
          <a:bodyPr wrap="square" lIns="0" tIns="0" rIns="0" bIns="0" rtlCol="0" anchor="ctr"/>
          <a:lstStyle/>
          <a:p>
            <a:pPr marL="0" indent="0" algn="ctr">
              <a:buNone/>
            </a:pPr>
            <a:r>
              <a:rPr lang="en-US" sz="1000" b="1" kern="0" spc="200" dirty="0">
                <a:solidFill>
                  <a:srgbClr val="FFFFFF"/>
                </a:solidFill>
                <a:latin typeface="Calibri" pitchFamily="34" charset="0"/>
                <a:ea typeface="Calibri" pitchFamily="34" charset="-122"/>
                <a:cs typeface="Calibri" pitchFamily="34" charset="-120"/>
              </a:rPr>
              <a:t>ADAMA  ·  ADMIN</a:t>
            </a:r>
            <a:endParaRPr lang="en-US" sz="1000" dirty="0"/>
          </a:p>
        </p:txBody>
      </p:sp>
      <p:sp>
        <p:nvSpPr>
          <p:cNvPr id="9" name="Text 7"/>
          <p:cNvSpPr/>
          <p:nvPr/>
        </p:nvSpPr>
        <p:spPr>
          <a:xfrm>
            <a:off x="548640" y="1874520"/>
            <a:ext cx="11064240" cy="365760"/>
          </a:xfrm>
          <a:prstGeom prst="rect">
            <a:avLst/>
          </a:prstGeom>
          <a:noFill/>
        </p:spPr>
        <p:txBody>
          <a:bodyPr wrap="square" lIns="0" tIns="0" rIns="0" bIns="0" rtlCol="0" anchor="ctr"/>
          <a:lstStyle/>
          <a:p>
            <a:pPr marL="0" indent="0">
              <a:buNone/>
            </a:pPr>
            <a:r>
              <a:rPr lang="en-US" sz="1100" i="1" dirty="0">
                <a:solidFill>
                  <a:srgbClr val="94A3B8"/>
                </a:solidFill>
                <a:latin typeface="Calibri" pitchFamily="34" charset="0"/>
                <a:ea typeface="Calibri" pitchFamily="34" charset="-122"/>
                <a:cs typeface="Calibri" pitchFamily="34" charset="-120"/>
              </a:rPr>
              <a:t>Données réelles de production extraites du tableau de bord administrateur — flood.yaataldigital.com/admin</a:t>
            </a:r>
            <a:endParaRPr lang="en-US" sz="1100" dirty="0"/>
          </a:p>
        </p:txBody>
      </p:sp>
      <p:sp>
        <p:nvSpPr>
          <p:cNvPr id="10" name="Shape 8"/>
          <p:cNvSpPr/>
          <p:nvPr/>
        </p:nvSpPr>
        <p:spPr>
          <a:xfrm>
            <a:off x="502920" y="2377440"/>
            <a:ext cx="2651760" cy="1783080"/>
          </a:xfrm>
          <a:prstGeom prst="rect">
            <a:avLst/>
          </a:prstGeom>
          <a:solidFill>
            <a:srgbClr val="FFFFFF"/>
          </a:solidFill>
          <a:ln w="12700">
            <a:solidFill>
              <a:srgbClr val="E2E8F0"/>
            </a:solidFill>
            <a:prstDash val="solid"/>
          </a:ln>
          <a:effectLst>
            <a:outerShdw blurRad="101600" dist="25400" dir="5400000" algn="bl" rotWithShape="0">
              <a:srgbClr val="000000">
                <a:alpha val="10000"/>
              </a:srgbClr>
            </a:outerShdw>
          </a:effectLst>
        </p:spPr>
      </p:sp>
      <p:sp>
        <p:nvSpPr>
          <p:cNvPr id="11" name="Shape 9"/>
          <p:cNvSpPr/>
          <p:nvPr/>
        </p:nvSpPr>
        <p:spPr>
          <a:xfrm>
            <a:off x="502920" y="2377440"/>
            <a:ext cx="2651760" cy="73152"/>
          </a:xfrm>
          <a:prstGeom prst="rect">
            <a:avLst/>
          </a:prstGeom>
          <a:solidFill>
            <a:srgbClr val="1565C0"/>
          </a:solidFill>
          <a:ln w="12700">
            <a:solidFill>
              <a:srgbClr val="1565C0"/>
            </a:solidFill>
            <a:prstDash val="solid"/>
          </a:ln>
        </p:spPr>
      </p:sp>
      <p:sp>
        <p:nvSpPr>
          <p:cNvPr id="12" name="Shape 10"/>
          <p:cNvSpPr/>
          <p:nvPr/>
        </p:nvSpPr>
        <p:spPr>
          <a:xfrm>
            <a:off x="685800" y="2651760"/>
            <a:ext cx="457200" cy="457200"/>
          </a:xfrm>
          <a:prstGeom prst="ellipse">
            <a:avLst/>
          </a:prstGeom>
          <a:solidFill>
            <a:srgbClr val="E3F2FD"/>
          </a:solidFill>
          <a:ln w="12700">
            <a:solidFill>
              <a:srgbClr val="E3F2FD"/>
            </a:solidFill>
            <a:prstDash val="solid"/>
          </a:ln>
        </p:spPr>
      </p:sp>
      <p:pic>
        <p:nvPicPr>
          <p:cNvPr id="13" name="Image 0" descr="preencoded.png"/>
          <p:cNvPicPr>
            <a:picLocks noChangeAspect="1"/>
          </p:cNvPicPr>
          <p:nvPr/>
        </p:nvPicPr>
        <p:blipFill>
          <a:blip r:embed="rId1"/>
          <a:stretch>
            <a:fillRect/>
          </a:stretch>
        </p:blipFill>
        <p:spPr>
          <a:xfrm>
            <a:off x="777240" y="2743200"/>
            <a:ext cx="274320" cy="274320"/>
          </a:xfrm>
          <a:prstGeom prst="rect">
            <a:avLst/>
          </a:prstGeom>
        </p:spPr>
      </p:pic>
      <p:sp>
        <p:nvSpPr>
          <p:cNvPr id="14" name="Text 11"/>
          <p:cNvSpPr/>
          <p:nvPr/>
        </p:nvSpPr>
        <p:spPr>
          <a:xfrm>
            <a:off x="1280160" y="2606040"/>
            <a:ext cx="1737360" cy="640080"/>
          </a:xfrm>
          <a:prstGeom prst="rect">
            <a:avLst/>
          </a:prstGeom>
          <a:noFill/>
        </p:spPr>
        <p:txBody>
          <a:bodyPr wrap="square" lIns="0" tIns="0" rIns="0" bIns="0" rtlCol="0" anchor="ctr"/>
          <a:lstStyle/>
          <a:p>
            <a:pPr marL="0" indent="0">
              <a:buNone/>
            </a:pPr>
            <a:r>
              <a:rPr lang="en-US" sz="3000" b="1" dirty="0">
                <a:solidFill>
                  <a:srgbClr val="0D47A1"/>
                </a:solidFill>
                <a:latin typeface="Georgia" panose="02040502050405090303" pitchFamily="34" charset="0"/>
                <a:ea typeface="Georgia" panose="02040502050405090303" pitchFamily="34" charset="-122"/>
                <a:cs typeface="Georgia" panose="02040502050405090303" pitchFamily="34" charset="-120"/>
              </a:rPr>
              <a:t>112</a:t>
            </a:r>
            <a:endParaRPr lang="en-US" sz="3000" dirty="0"/>
          </a:p>
        </p:txBody>
      </p:sp>
      <p:sp>
        <p:nvSpPr>
          <p:cNvPr id="15" name="Text 12"/>
          <p:cNvSpPr/>
          <p:nvPr/>
        </p:nvSpPr>
        <p:spPr>
          <a:xfrm>
            <a:off x="685800" y="3291840"/>
            <a:ext cx="2286000" cy="365760"/>
          </a:xfrm>
          <a:prstGeom prst="rect">
            <a:avLst/>
          </a:prstGeom>
          <a:noFill/>
        </p:spPr>
        <p:txBody>
          <a:bodyPr wrap="square" lIns="0" tIns="0" rIns="0" bIns="0" rtlCol="0" anchor="ctr"/>
          <a:lstStyle/>
          <a:p>
            <a:pPr marL="0" indent="0">
              <a:buNone/>
            </a:pPr>
            <a:r>
              <a:rPr lang="en-US" sz="1200" b="1" dirty="0">
                <a:solidFill>
                  <a:srgbClr val="1565C0"/>
                </a:solidFill>
                <a:latin typeface="Calibri" pitchFamily="34" charset="0"/>
                <a:ea typeface="Calibri" pitchFamily="34" charset="-122"/>
                <a:cs typeface="Calibri" pitchFamily="34" charset="-120"/>
              </a:rPr>
              <a:t>alertes totales</a:t>
            </a:r>
            <a:endParaRPr lang="en-US" sz="1200" dirty="0"/>
          </a:p>
        </p:txBody>
      </p:sp>
      <p:sp>
        <p:nvSpPr>
          <p:cNvPr id="16" name="Text 13"/>
          <p:cNvSpPr/>
          <p:nvPr/>
        </p:nvSpPr>
        <p:spPr>
          <a:xfrm>
            <a:off x="685800" y="3657600"/>
            <a:ext cx="2286000" cy="365760"/>
          </a:xfrm>
          <a:prstGeom prst="rect">
            <a:avLst/>
          </a:prstGeom>
          <a:noFill/>
        </p:spPr>
        <p:txBody>
          <a:bodyPr wrap="square" lIns="0" tIns="0" rIns="0" bIns="0" rtlCol="0" anchor="ctr"/>
          <a:lstStyle/>
          <a:p>
            <a:pPr marL="0" indent="0">
              <a:buNone/>
            </a:pPr>
            <a:r>
              <a:rPr lang="en-US" sz="900" dirty="0">
                <a:solidFill>
                  <a:srgbClr val="94A3B8"/>
                </a:solidFill>
                <a:latin typeface="Calibri" pitchFamily="34" charset="0"/>
                <a:ea typeface="Calibri" pitchFamily="34" charset="-122"/>
                <a:cs typeface="Calibri" pitchFamily="34" charset="-120"/>
              </a:rPr>
              <a:t>2 actives / 110 traitées</a:t>
            </a:r>
            <a:endParaRPr lang="en-US" sz="900" dirty="0"/>
          </a:p>
        </p:txBody>
      </p:sp>
      <p:sp>
        <p:nvSpPr>
          <p:cNvPr id="17" name="Shape 14"/>
          <p:cNvSpPr/>
          <p:nvPr/>
        </p:nvSpPr>
        <p:spPr>
          <a:xfrm>
            <a:off x="3337560" y="2377440"/>
            <a:ext cx="2651760" cy="1783080"/>
          </a:xfrm>
          <a:prstGeom prst="rect">
            <a:avLst/>
          </a:prstGeom>
          <a:solidFill>
            <a:srgbClr val="FFFFFF"/>
          </a:solidFill>
          <a:ln w="12700">
            <a:solidFill>
              <a:srgbClr val="E2E8F0"/>
            </a:solidFill>
            <a:prstDash val="solid"/>
          </a:ln>
          <a:effectLst>
            <a:outerShdw blurRad="101600" dist="25400" dir="5400000" algn="bl" rotWithShape="0">
              <a:srgbClr val="000000">
                <a:alpha val="10000"/>
              </a:srgbClr>
            </a:outerShdw>
          </a:effectLst>
        </p:spPr>
      </p:sp>
      <p:sp>
        <p:nvSpPr>
          <p:cNvPr id="18" name="Shape 15"/>
          <p:cNvSpPr/>
          <p:nvPr/>
        </p:nvSpPr>
        <p:spPr>
          <a:xfrm>
            <a:off x="3337560" y="2377440"/>
            <a:ext cx="2651760" cy="73152"/>
          </a:xfrm>
          <a:prstGeom prst="rect">
            <a:avLst/>
          </a:prstGeom>
          <a:solidFill>
            <a:srgbClr val="059669"/>
          </a:solidFill>
          <a:ln w="12700">
            <a:solidFill>
              <a:srgbClr val="059669"/>
            </a:solidFill>
            <a:prstDash val="solid"/>
          </a:ln>
        </p:spPr>
      </p:sp>
      <p:sp>
        <p:nvSpPr>
          <p:cNvPr id="19" name="Shape 16"/>
          <p:cNvSpPr/>
          <p:nvPr/>
        </p:nvSpPr>
        <p:spPr>
          <a:xfrm>
            <a:off x="3520440" y="2651760"/>
            <a:ext cx="457200" cy="457200"/>
          </a:xfrm>
          <a:prstGeom prst="ellipse">
            <a:avLst/>
          </a:prstGeom>
          <a:solidFill>
            <a:srgbClr val="E3F2FD"/>
          </a:solidFill>
          <a:ln w="12700">
            <a:solidFill>
              <a:srgbClr val="E3F2FD"/>
            </a:solidFill>
            <a:prstDash val="solid"/>
          </a:ln>
        </p:spPr>
      </p:sp>
      <p:pic>
        <p:nvPicPr>
          <p:cNvPr id="20" name="Image 1" descr="preencoded.png"/>
          <p:cNvPicPr>
            <a:picLocks noChangeAspect="1"/>
          </p:cNvPicPr>
          <p:nvPr/>
        </p:nvPicPr>
        <p:blipFill>
          <a:blip r:embed="rId2"/>
          <a:stretch>
            <a:fillRect/>
          </a:stretch>
        </p:blipFill>
        <p:spPr>
          <a:xfrm>
            <a:off x="3611880" y="2743200"/>
            <a:ext cx="274320" cy="274320"/>
          </a:xfrm>
          <a:prstGeom prst="rect">
            <a:avLst/>
          </a:prstGeom>
        </p:spPr>
      </p:pic>
      <p:sp>
        <p:nvSpPr>
          <p:cNvPr id="21" name="Text 17"/>
          <p:cNvSpPr/>
          <p:nvPr/>
        </p:nvSpPr>
        <p:spPr>
          <a:xfrm>
            <a:off x="4114800" y="2606040"/>
            <a:ext cx="1737360" cy="640080"/>
          </a:xfrm>
          <a:prstGeom prst="rect">
            <a:avLst/>
          </a:prstGeom>
          <a:noFill/>
        </p:spPr>
        <p:txBody>
          <a:bodyPr wrap="square" lIns="0" tIns="0" rIns="0" bIns="0" rtlCol="0" anchor="ctr"/>
          <a:lstStyle/>
          <a:p>
            <a:pPr marL="0" indent="0">
              <a:buNone/>
            </a:pPr>
            <a:r>
              <a:rPr lang="en-US" sz="3000" b="1" dirty="0">
                <a:solidFill>
                  <a:srgbClr val="0D47A1"/>
                </a:solidFill>
                <a:latin typeface="Georgia" panose="02040502050405090303" pitchFamily="34" charset="0"/>
                <a:ea typeface="Georgia" panose="02040502050405090303" pitchFamily="34" charset="-122"/>
                <a:cs typeface="Georgia" panose="02040502050405090303" pitchFamily="34" charset="-120"/>
              </a:rPr>
              <a:t>98,2 %</a:t>
            </a:r>
            <a:endParaRPr lang="en-US" sz="3000" dirty="0"/>
          </a:p>
        </p:txBody>
      </p:sp>
      <p:sp>
        <p:nvSpPr>
          <p:cNvPr id="22" name="Text 18"/>
          <p:cNvSpPr/>
          <p:nvPr/>
        </p:nvSpPr>
        <p:spPr>
          <a:xfrm>
            <a:off x="3520440" y="3291840"/>
            <a:ext cx="2286000" cy="365760"/>
          </a:xfrm>
          <a:prstGeom prst="rect">
            <a:avLst/>
          </a:prstGeom>
          <a:noFill/>
        </p:spPr>
        <p:txBody>
          <a:bodyPr wrap="square" lIns="0" tIns="0" rIns="0" bIns="0" rtlCol="0" anchor="ctr"/>
          <a:lstStyle/>
          <a:p>
            <a:pPr marL="0" indent="0">
              <a:buNone/>
            </a:pPr>
            <a:r>
              <a:rPr lang="en-US" sz="1200" b="1" dirty="0">
                <a:solidFill>
                  <a:srgbClr val="059669"/>
                </a:solidFill>
                <a:latin typeface="Calibri" pitchFamily="34" charset="0"/>
                <a:ea typeface="Calibri" pitchFamily="34" charset="-122"/>
                <a:cs typeface="Calibri" pitchFamily="34" charset="-120"/>
              </a:rPr>
              <a:t>taux de clôture</a:t>
            </a:r>
            <a:endParaRPr lang="en-US" sz="1200" dirty="0"/>
          </a:p>
        </p:txBody>
      </p:sp>
      <p:sp>
        <p:nvSpPr>
          <p:cNvPr id="23" name="Text 19"/>
          <p:cNvSpPr/>
          <p:nvPr/>
        </p:nvSpPr>
        <p:spPr>
          <a:xfrm>
            <a:off x="3520440" y="3657600"/>
            <a:ext cx="2286000" cy="365760"/>
          </a:xfrm>
          <a:prstGeom prst="rect">
            <a:avLst/>
          </a:prstGeom>
          <a:noFill/>
        </p:spPr>
        <p:txBody>
          <a:bodyPr wrap="square" lIns="0" tIns="0" rIns="0" bIns="0" rtlCol="0" anchor="ctr"/>
          <a:lstStyle/>
          <a:p>
            <a:pPr marL="0" indent="0">
              <a:buNone/>
            </a:pPr>
            <a:r>
              <a:rPr lang="en-US" sz="900" dirty="0">
                <a:solidFill>
                  <a:srgbClr val="94A3B8"/>
                </a:solidFill>
                <a:latin typeface="Calibri" pitchFamily="34" charset="0"/>
                <a:ea typeface="Calibri" pitchFamily="34" charset="-122"/>
                <a:cs typeface="Calibri" pitchFamily="34" charset="-120"/>
              </a:rPr>
              <a:t>110 clôturées sur 112</a:t>
            </a:r>
            <a:endParaRPr lang="en-US" sz="900" dirty="0"/>
          </a:p>
        </p:txBody>
      </p:sp>
      <p:sp>
        <p:nvSpPr>
          <p:cNvPr id="24" name="Shape 20"/>
          <p:cNvSpPr/>
          <p:nvPr/>
        </p:nvSpPr>
        <p:spPr>
          <a:xfrm>
            <a:off x="6172200" y="2377440"/>
            <a:ext cx="2651760" cy="1783080"/>
          </a:xfrm>
          <a:prstGeom prst="rect">
            <a:avLst/>
          </a:prstGeom>
          <a:solidFill>
            <a:srgbClr val="FFFFFF"/>
          </a:solidFill>
          <a:ln w="12700">
            <a:solidFill>
              <a:srgbClr val="E2E8F0"/>
            </a:solidFill>
            <a:prstDash val="solid"/>
          </a:ln>
          <a:effectLst>
            <a:outerShdw blurRad="101600" dist="25400" dir="5400000" algn="bl" rotWithShape="0">
              <a:srgbClr val="000000">
                <a:alpha val="10000"/>
              </a:srgbClr>
            </a:outerShdw>
          </a:effectLst>
        </p:spPr>
      </p:sp>
      <p:sp>
        <p:nvSpPr>
          <p:cNvPr id="25" name="Shape 21"/>
          <p:cNvSpPr/>
          <p:nvPr/>
        </p:nvSpPr>
        <p:spPr>
          <a:xfrm>
            <a:off x="6172200" y="2377440"/>
            <a:ext cx="2651760" cy="73152"/>
          </a:xfrm>
          <a:prstGeom prst="rect">
            <a:avLst/>
          </a:prstGeom>
          <a:solidFill>
            <a:srgbClr val="F59E0B"/>
          </a:solidFill>
          <a:ln w="12700">
            <a:solidFill>
              <a:srgbClr val="F59E0B"/>
            </a:solidFill>
            <a:prstDash val="solid"/>
          </a:ln>
        </p:spPr>
      </p:sp>
      <p:sp>
        <p:nvSpPr>
          <p:cNvPr id="26" name="Shape 22"/>
          <p:cNvSpPr/>
          <p:nvPr/>
        </p:nvSpPr>
        <p:spPr>
          <a:xfrm>
            <a:off x="6355080" y="2651760"/>
            <a:ext cx="457200" cy="457200"/>
          </a:xfrm>
          <a:prstGeom prst="ellipse">
            <a:avLst/>
          </a:prstGeom>
          <a:solidFill>
            <a:srgbClr val="E3F2FD"/>
          </a:solidFill>
          <a:ln w="12700">
            <a:solidFill>
              <a:srgbClr val="E3F2FD"/>
            </a:solidFill>
            <a:prstDash val="solid"/>
          </a:ln>
        </p:spPr>
      </p:sp>
      <p:pic>
        <p:nvPicPr>
          <p:cNvPr id="27" name="Image 2" descr="preencoded.png"/>
          <p:cNvPicPr>
            <a:picLocks noChangeAspect="1"/>
          </p:cNvPicPr>
          <p:nvPr/>
        </p:nvPicPr>
        <p:blipFill>
          <a:blip r:embed="rId3"/>
          <a:stretch>
            <a:fillRect/>
          </a:stretch>
        </p:blipFill>
        <p:spPr>
          <a:xfrm>
            <a:off x="6446520" y="2743200"/>
            <a:ext cx="274320" cy="274320"/>
          </a:xfrm>
          <a:prstGeom prst="rect">
            <a:avLst/>
          </a:prstGeom>
        </p:spPr>
      </p:pic>
      <p:sp>
        <p:nvSpPr>
          <p:cNvPr id="28" name="Text 23"/>
          <p:cNvSpPr/>
          <p:nvPr/>
        </p:nvSpPr>
        <p:spPr>
          <a:xfrm>
            <a:off x="6949440" y="2606040"/>
            <a:ext cx="1737360" cy="640080"/>
          </a:xfrm>
          <a:prstGeom prst="rect">
            <a:avLst/>
          </a:prstGeom>
          <a:noFill/>
        </p:spPr>
        <p:txBody>
          <a:bodyPr wrap="square" lIns="0" tIns="0" rIns="0" bIns="0" rtlCol="0" anchor="ctr"/>
          <a:lstStyle/>
          <a:p>
            <a:pPr marL="0" indent="0">
              <a:buNone/>
            </a:pPr>
            <a:r>
              <a:rPr lang="en-US" sz="3000" b="1" dirty="0">
                <a:solidFill>
                  <a:srgbClr val="0D47A1"/>
                </a:solidFill>
                <a:latin typeface="Georgia" panose="02040502050405090303" pitchFamily="34" charset="0"/>
                <a:ea typeface="Georgia" panose="02040502050405090303" pitchFamily="34" charset="-122"/>
                <a:cs typeface="Georgia" panose="02040502050405090303" pitchFamily="34" charset="-120"/>
              </a:rPr>
              <a:t>76,8 %</a:t>
            </a:r>
            <a:endParaRPr lang="en-US" sz="3000" dirty="0"/>
          </a:p>
        </p:txBody>
      </p:sp>
      <p:sp>
        <p:nvSpPr>
          <p:cNvPr id="29" name="Text 24"/>
          <p:cNvSpPr/>
          <p:nvPr/>
        </p:nvSpPr>
        <p:spPr>
          <a:xfrm>
            <a:off x="6355080" y="3291840"/>
            <a:ext cx="2286000" cy="365760"/>
          </a:xfrm>
          <a:prstGeom prst="rect">
            <a:avLst/>
          </a:prstGeom>
          <a:noFill/>
        </p:spPr>
        <p:txBody>
          <a:bodyPr wrap="square" lIns="0" tIns="0" rIns="0" bIns="0" rtlCol="0" anchor="ctr"/>
          <a:lstStyle/>
          <a:p>
            <a:pPr marL="0" indent="0">
              <a:buNone/>
            </a:pPr>
            <a:r>
              <a:rPr lang="en-US" sz="1200" b="1" dirty="0">
                <a:solidFill>
                  <a:srgbClr val="F59E0B"/>
                </a:solidFill>
                <a:latin typeface="Calibri" pitchFamily="34" charset="0"/>
                <a:ea typeface="Calibri" pitchFamily="34" charset="-122"/>
                <a:cs typeface="Calibri" pitchFamily="34" charset="-120"/>
              </a:rPr>
              <a:t>part alertes IA</a:t>
            </a:r>
            <a:endParaRPr lang="en-US" sz="1200" dirty="0"/>
          </a:p>
        </p:txBody>
      </p:sp>
      <p:sp>
        <p:nvSpPr>
          <p:cNvPr id="30" name="Text 25"/>
          <p:cNvSpPr/>
          <p:nvPr/>
        </p:nvSpPr>
        <p:spPr>
          <a:xfrm>
            <a:off x="6355080" y="3657600"/>
            <a:ext cx="2286000" cy="365760"/>
          </a:xfrm>
          <a:prstGeom prst="rect">
            <a:avLst/>
          </a:prstGeom>
          <a:noFill/>
        </p:spPr>
        <p:txBody>
          <a:bodyPr wrap="square" lIns="0" tIns="0" rIns="0" bIns="0" rtlCol="0" anchor="ctr"/>
          <a:lstStyle/>
          <a:p>
            <a:pPr marL="0" indent="0">
              <a:buNone/>
            </a:pPr>
            <a:r>
              <a:rPr lang="en-US" sz="900" dirty="0">
                <a:solidFill>
                  <a:srgbClr val="94A3B8"/>
                </a:solidFill>
                <a:latin typeface="Calibri" pitchFamily="34" charset="0"/>
                <a:ea typeface="Calibri" pitchFamily="34" charset="-122"/>
                <a:cs typeface="Calibri" pitchFamily="34" charset="-120"/>
              </a:rPr>
              <a:t>86 automatiques</a:t>
            </a:r>
            <a:endParaRPr lang="en-US" sz="900" dirty="0"/>
          </a:p>
        </p:txBody>
      </p:sp>
      <p:sp>
        <p:nvSpPr>
          <p:cNvPr id="31" name="Shape 26"/>
          <p:cNvSpPr/>
          <p:nvPr/>
        </p:nvSpPr>
        <p:spPr>
          <a:xfrm>
            <a:off x="9006840" y="2377440"/>
            <a:ext cx="2651760" cy="1783080"/>
          </a:xfrm>
          <a:prstGeom prst="rect">
            <a:avLst/>
          </a:prstGeom>
          <a:solidFill>
            <a:srgbClr val="FFFFFF"/>
          </a:solidFill>
          <a:ln w="12700">
            <a:solidFill>
              <a:srgbClr val="E2E8F0"/>
            </a:solidFill>
            <a:prstDash val="solid"/>
          </a:ln>
          <a:effectLst>
            <a:outerShdw blurRad="101600" dist="25400" dir="5400000" algn="bl" rotWithShape="0">
              <a:srgbClr val="000000">
                <a:alpha val="10000"/>
              </a:srgbClr>
            </a:outerShdw>
          </a:effectLst>
        </p:spPr>
      </p:sp>
      <p:sp>
        <p:nvSpPr>
          <p:cNvPr id="32" name="Shape 27"/>
          <p:cNvSpPr/>
          <p:nvPr/>
        </p:nvSpPr>
        <p:spPr>
          <a:xfrm>
            <a:off x="9006840" y="2377440"/>
            <a:ext cx="2651760" cy="73152"/>
          </a:xfrm>
          <a:prstGeom prst="rect">
            <a:avLst/>
          </a:prstGeom>
          <a:solidFill>
            <a:srgbClr val="DC2626"/>
          </a:solidFill>
          <a:ln w="12700">
            <a:solidFill>
              <a:srgbClr val="DC2626"/>
            </a:solidFill>
            <a:prstDash val="solid"/>
          </a:ln>
        </p:spPr>
      </p:sp>
      <p:sp>
        <p:nvSpPr>
          <p:cNvPr id="33" name="Shape 28"/>
          <p:cNvSpPr/>
          <p:nvPr/>
        </p:nvSpPr>
        <p:spPr>
          <a:xfrm>
            <a:off x="9189720" y="2651760"/>
            <a:ext cx="457200" cy="457200"/>
          </a:xfrm>
          <a:prstGeom prst="ellipse">
            <a:avLst/>
          </a:prstGeom>
          <a:solidFill>
            <a:srgbClr val="E3F2FD"/>
          </a:solidFill>
          <a:ln w="12700">
            <a:solidFill>
              <a:srgbClr val="E3F2FD"/>
            </a:solidFill>
            <a:prstDash val="solid"/>
          </a:ln>
        </p:spPr>
      </p:sp>
      <p:pic>
        <p:nvPicPr>
          <p:cNvPr id="34" name="Image 3" descr="preencoded.png"/>
          <p:cNvPicPr>
            <a:picLocks noChangeAspect="1"/>
          </p:cNvPicPr>
          <p:nvPr/>
        </p:nvPicPr>
        <p:blipFill>
          <a:blip r:embed="rId4"/>
          <a:stretch>
            <a:fillRect/>
          </a:stretch>
        </p:blipFill>
        <p:spPr>
          <a:xfrm>
            <a:off x="9281160" y="2743200"/>
            <a:ext cx="274320" cy="274320"/>
          </a:xfrm>
          <a:prstGeom prst="rect">
            <a:avLst/>
          </a:prstGeom>
        </p:spPr>
      </p:pic>
      <p:sp>
        <p:nvSpPr>
          <p:cNvPr id="35" name="Text 29"/>
          <p:cNvSpPr/>
          <p:nvPr/>
        </p:nvSpPr>
        <p:spPr>
          <a:xfrm>
            <a:off x="9784080" y="2606040"/>
            <a:ext cx="1737360" cy="640080"/>
          </a:xfrm>
          <a:prstGeom prst="rect">
            <a:avLst/>
          </a:prstGeom>
          <a:noFill/>
        </p:spPr>
        <p:txBody>
          <a:bodyPr wrap="square" lIns="0" tIns="0" rIns="0" bIns="0" rtlCol="0" anchor="ctr"/>
          <a:lstStyle/>
          <a:p>
            <a:pPr marL="0" indent="0">
              <a:buNone/>
            </a:pPr>
            <a:r>
              <a:rPr lang="en-US" sz="3000" b="1" dirty="0">
                <a:solidFill>
                  <a:srgbClr val="0D47A1"/>
                </a:solidFill>
                <a:latin typeface="Georgia" panose="02040502050405090303" pitchFamily="34" charset="0"/>
                <a:ea typeface="Georgia" panose="02040502050405090303" pitchFamily="34" charset="-122"/>
                <a:cs typeface="Georgia" panose="02040502050405090303" pitchFamily="34" charset="-120"/>
              </a:rPr>
              <a:t>92 %</a:t>
            </a:r>
            <a:endParaRPr lang="en-US" sz="3000" dirty="0"/>
          </a:p>
        </p:txBody>
      </p:sp>
      <p:sp>
        <p:nvSpPr>
          <p:cNvPr id="36" name="Text 30"/>
          <p:cNvSpPr/>
          <p:nvPr/>
        </p:nvSpPr>
        <p:spPr>
          <a:xfrm>
            <a:off x="9189720" y="3291840"/>
            <a:ext cx="2286000" cy="365760"/>
          </a:xfrm>
          <a:prstGeom prst="rect">
            <a:avLst/>
          </a:prstGeom>
          <a:noFill/>
        </p:spPr>
        <p:txBody>
          <a:bodyPr wrap="square" lIns="0" tIns="0" rIns="0" bIns="0" rtlCol="0" anchor="ctr"/>
          <a:lstStyle/>
          <a:p>
            <a:pPr marL="0" indent="0">
              <a:buNone/>
            </a:pPr>
            <a:r>
              <a:rPr lang="en-US" sz="1200" b="1" dirty="0">
                <a:solidFill>
                  <a:srgbClr val="DC2626"/>
                </a:solidFill>
                <a:latin typeface="Calibri" pitchFamily="34" charset="0"/>
                <a:ea typeface="Calibri" pitchFamily="34" charset="-122"/>
                <a:cs typeface="Calibri" pitchFamily="34" charset="-120"/>
              </a:rPr>
              <a:t>traitement inondations</a:t>
            </a:r>
            <a:endParaRPr lang="en-US" sz="1200" dirty="0"/>
          </a:p>
        </p:txBody>
      </p:sp>
      <p:sp>
        <p:nvSpPr>
          <p:cNvPr id="37" name="Text 31"/>
          <p:cNvSpPr/>
          <p:nvPr/>
        </p:nvSpPr>
        <p:spPr>
          <a:xfrm>
            <a:off x="9189720" y="3657600"/>
            <a:ext cx="2286000" cy="365760"/>
          </a:xfrm>
          <a:prstGeom prst="rect">
            <a:avLst/>
          </a:prstGeom>
          <a:noFill/>
        </p:spPr>
        <p:txBody>
          <a:bodyPr wrap="square" lIns="0" tIns="0" rIns="0" bIns="0" rtlCol="0" anchor="ctr"/>
          <a:lstStyle/>
          <a:p>
            <a:pPr marL="0" indent="0">
              <a:buNone/>
            </a:pPr>
            <a:r>
              <a:rPr lang="en-US" sz="900" dirty="0">
                <a:solidFill>
                  <a:srgbClr val="94A3B8"/>
                </a:solidFill>
                <a:latin typeface="Calibri" pitchFamily="34" charset="0"/>
                <a:ea typeface="Calibri" pitchFamily="34" charset="-122"/>
                <a:cs typeface="Calibri" pitchFamily="34" charset="-120"/>
              </a:rPr>
              <a:t>23/25 sur Pikine, Keur Massar…</a:t>
            </a:r>
            <a:endParaRPr lang="en-US" sz="900" dirty="0"/>
          </a:p>
        </p:txBody>
      </p:sp>
      <p:sp>
        <p:nvSpPr>
          <p:cNvPr id="38" name="Text 32"/>
          <p:cNvSpPr/>
          <p:nvPr/>
        </p:nvSpPr>
        <p:spPr>
          <a:xfrm>
            <a:off x="548640" y="4389120"/>
            <a:ext cx="11064240" cy="320040"/>
          </a:xfrm>
          <a:prstGeom prst="rect">
            <a:avLst/>
          </a:prstGeom>
          <a:noFill/>
        </p:spPr>
        <p:txBody>
          <a:bodyPr wrap="square" lIns="0" tIns="0" rIns="0" bIns="0" rtlCol="0" anchor="ctr"/>
          <a:lstStyle/>
          <a:p>
            <a:pPr marL="0" indent="0" algn="ctr">
              <a:buNone/>
            </a:pPr>
            <a:r>
              <a:rPr lang="en-US" sz="1100" b="1" kern="0" spc="300" dirty="0">
                <a:solidFill>
                  <a:srgbClr val="1565C0"/>
                </a:solidFill>
                <a:latin typeface="Calibri" pitchFamily="34" charset="0"/>
                <a:ea typeface="Calibri" pitchFamily="34" charset="-122"/>
                <a:cs typeface="Calibri" pitchFamily="34" charset="-120"/>
              </a:rPr>
              <a:t>OUTILS DE LA CONSOLE ADMINISTRATEUR</a:t>
            </a:r>
            <a:endParaRPr lang="en-US" sz="1100" dirty="0"/>
          </a:p>
        </p:txBody>
      </p:sp>
      <p:sp>
        <p:nvSpPr>
          <p:cNvPr id="39" name="Shape 33"/>
          <p:cNvSpPr/>
          <p:nvPr/>
        </p:nvSpPr>
        <p:spPr>
          <a:xfrm>
            <a:off x="502920" y="4754880"/>
            <a:ext cx="2651760" cy="1463040"/>
          </a:xfrm>
          <a:prstGeom prst="rect">
            <a:avLst/>
          </a:prstGeom>
          <a:solidFill>
            <a:srgbClr val="0D47A1"/>
          </a:solidFill>
          <a:ln w="12700">
            <a:solidFill>
              <a:srgbClr val="0D47A1"/>
            </a:solidFill>
            <a:prstDash val="solid"/>
          </a:ln>
          <a:effectLst>
            <a:outerShdw blurRad="101600" dist="25400" dir="5400000" algn="bl" rotWithShape="0">
              <a:srgbClr val="000000">
                <a:alpha val="10000"/>
              </a:srgbClr>
            </a:outerShdw>
          </a:effectLst>
        </p:spPr>
      </p:sp>
      <p:sp>
        <p:nvSpPr>
          <p:cNvPr id="40" name="Shape 34"/>
          <p:cNvSpPr/>
          <p:nvPr/>
        </p:nvSpPr>
        <p:spPr>
          <a:xfrm>
            <a:off x="1554480" y="4937760"/>
            <a:ext cx="548640" cy="548640"/>
          </a:xfrm>
          <a:prstGeom prst="ellipse">
            <a:avLst/>
          </a:prstGeom>
          <a:solidFill>
            <a:srgbClr val="F59E0B"/>
          </a:solidFill>
          <a:ln w="12700">
            <a:solidFill>
              <a:srgbClr val="F59E0B"/>
            </a:solidFill>
            <a:prstDash val="solid"/>
          </a:ln>
        </p:spPr>
      </p:sp>
      <p:pic>
        <p:nvPicPr>
          <p:cNvPr id="41" name="Image 4" descr="preencoded.png"/>
          <p:cNvPicPr>
            <a:picLocks noChangeAspect="1"/>
          </p:cNvPicPr>
          <p:nvPr/>
        </p:nvPicPr>
        <p:blipFill>
          <a:blip r:embed="rId5"/>
          <a:stretch>
            <a:fillRect/>
          </a:stretch>
        </p:blipFill>
        <p:spPr>
          <a:xfrm>
            <a:off x="1645920" y="5029200"/>
            <a:ext cx="365760" cy="365760"/>
          </a:xfrm>
          <a:prstGeom prst="rect">
            <a:avLst/>
          </a:prstGeom>
        </p:spPr>
      </p:pic>
      <p:sp>
        <p:nvSpPr>
          <p:cNvPr id="42" name="Text 35"/>
          <p:cNvSpPr/>
          <p:nvPr/>
        </p:nvSpPr>
        <p:spPr>
          <a:xfrm>
            <a:off x="640080" y="5577840"/>
            <a:ext cx="2377440" cy="274320"/>
          </a:xfrm>
          <a:prstGeom prst="rect">
            <a:avLst/>
          </a:prstGeom>
          <a:noFill/>
        </p:spPr>
        <p:txBody>
          <a:bodyPr wrap="square" lIns="0" tIns="0" rIns="0" bIns="0" rtlCol="0" anchor="ctr"/>
          <a:lstStyle/>
          <a:p>
            <a:pPr marL="0" indent="0" algn="ctr">
              <a:buNone/>
            </a:pPr>
            <a:r>
              <a:rPr lang="en-US" sz="1200" b="1" dirty="0">
                <a:solidFill>
                  <a:srgbClr val="FFFFFF"/>
                </a:solidFill>
                <a:latin typeface="Georgia" panose="02040502050405090303" pitchFamily="34" charset="0"/>
                <a:ea typeface="Georgia" panose="02040502050405090303" pitchFamily="34" charset="-122"/>
                <a:cs typeface="Georgia" panose="02040502050405090303" pitchFamily="34" charset="-120"/>
              </a:rPr>
              <a:t>Gestion des rôles</a:t>
            </a:r>
            <a:endParaRPr lang="en-US" sz="1200" dirty="0"/>
          </a:p>
        </p:txBody>
      </p:sp>
      <p:sp>
        <p:nvSpPr>
          <p:cNvPr id="43" name="Text 36"/>
          <p:cNvSpPr/>
          <p:nvPr/>
        </p:nvSpPr>
        <p:spPr>
          <a:xfrm>
            <a:off x="640080" y="5806440"/>
            <a:ext cx="2377440" cy="365760"/>
          </a:xfrm>
          <a:prstGeom prst="rect">
            <a:avLst/>
          </a:prstGeom>
          <a:noFill/>
        </p:spPr>
        <p:txBody>
          <a:bodyPr wrap="square" lIns="0" tIns="0" rIns="0" bIns="0" rtlCol="0" anchor="ctr"/>
          <a:lstStyle/>
          <a:p>
            <a:pPr marL="0" indent="0" algn="ctr">
              <a:buNone/>
            </a:pPr>
            <a:r>
              <a:rPr lang="en-US" sz="900" dirty="0">
                <a:solidFill>
                  <a:schemeClr val="bg1"/>
                </a:solidFill>
                <a:latin typeface="Calibri" pitchFamily="34" charset="0"/>
                <a:ea typeface="Calibri" pitchFamily="34" charset="-122"/>
                <a:cs typeface="Calibri" pitchFamily="34" charset="-120"/>
              </a:rPr>
              <a:t>Guest · Citoyen · Mairie admin · Super-admin · attribution mairie</a:t>
            </a:r>
            <a:endParaRPr lang="en-US" sz="900" dirty="0">
              <a:solidFill>
                <a:schemeClr val="bg1"/>
              </a:solidFill>
              <a:latin typeface="Calibri" pitchFamily="34" charset="0"/>
              <a:ea typeface="Calibri" pitchFamily="34" charset="-122"/>
              <a:cs typeface="Calibri" pitchFamily="34" charset="-120"/>
            </a:endParaRPr>
          </a:p>
        </p:txBody>
      </p:sp>
      <p:sp>
        <p:nvSpPr>
          <p:cNvPr id="44" name="Shape 37"/>
          <p:cNvSpPr/>
          <p:nvPr/>
        </p:nvSpPr>
        <p:spPr>
          <a:xfrm>
            <a:off x="3337560" y="4754880"/>
            <a:ext cx="2651760" cy="1463040"/>
          </a:xfrm>
          <a:prstGeom prst="rect">
            <a:avLst/>
          </a:prstGeom>
          <a:solidFill>
            <a:srgbClr val="0D47A1"/>
          </a:solidFill>
          <a:ln w="12700">
            <a:solidFill>
              <a:srgbClr val="0D47A1"/>
            </a:solidFill>
            <a:prstDash val="solid"/>
          </a:ln>
          <a:effectLst>
            <a:outerShdw blurRad="101600" dist="25400" dir="5400000" algn="bl" rotWithShape="0">
              <a:srgbClr val="000000">
                <a:alpha val="10000"/>
              </a:srgbClr>
            </a:outerShdw>
          </a:effectLst>
        </p:spPr>
      </p:sp>
      <p:sp>
        <p:nvSpPr>
          <p:cNvPr id="45" name="Shape 38"/>
          <p:cNvSpPr/>
          <p:nvPr/>
        </p:nvSpPr>
        <p:spPr>
          <a:xfrm>
            <a:off x="4389120" y="4937760"/>
            <a:ext cx="548640" cy="548640"/>
          </a:xfrm>
          <a:prstGeom prst="ellipse">
            <a:avLst/>
          </a:prstGeom>
          <a:solidFill>
            <a:srgbClr val="F59E0B"/>
          </a:solidFill>
          <a:ln w="12700">
            <a:solidFill>
              <a:srgbClr val="F59E0B"/>
            </a:solidFill>
            <a:prstDash val="solid"/>
          </a:ln>
        </p:spPr>
      </p:sp>
      <p:pic>
        <p:nvPicPr>
          <p:cNvPr id="46" name="Image 5" descr="preencoded.png"/>
          <p:cNvPicPr>
            <a:picLocks noChangeAspect="1"/>
          </p:cNvPicPr>
          <p:nvPr/>
        </p:nvPicPr>
        <p:blipFill>
          <a:blip r:embed="rId6"/>
          <a:stretch>
            <a:fillRect/>
          </a:stretch>
        </p:blipFill>
        <p:spPr>
          <a:xfrm>
            <a:off x="4480560" y="5029200"/>
            <a:ext cx="365760" cy="365760"/>
          </a:xfrm>
          <a:prstGeom prst="rect">
            <a:avLst/>
          </a:prstGeom>
        </p:spPr>
      </p:pic>
      <p:sp>
        <p:nvSpPr>
          <p:cNvPr id="47" name="Text 39"/>
          <p:cNvSpPr/>
          <p:nvPr/>
        </p:nvSpPr>
        <p:spPr>
          <a:xfrm>
            <a:off x="3474720" y="5577840"/>
            <a:ext cx="2377440" cy="274320"/>
          </a:xfrm>
          <a:prstGeom prst="rect">
            <a:avLst/>
          </a:prstGeom>
          <a:noFill/>
        </p:spPr>
        <p:txBody>
          <a:bodyPr wrap="square" lIns="0" tIns="0" rIns="0" bIns="0" rtlCol="0" anchor="ctr"/>
          <a:lstStyle/>
          <a:p>
            <a:pPr marL="0" indent="0" algn="ctr">
              <a:buNone/>
            </a:pPr>
            <a:r>
              <a:rPr lang="en-US" sz="1200" b="1" dirty="0">
                <a:solidFill>
                  <a:srgbClr val="FFFFFF"/>
                </a:solidFill>
                <a:latin typeface="Georgia" panose="02040502050405090303" pitchFamily="34" charset="0"/>
                <a:ea typeface="Georgia" panose="02040502050405090303" pitchFamily="34" charset="-122"/>
                <a:cs typeface="Georgia" panose="02040502050405090303" pitchFamily="34" charset="-120"/>
              </a:rPr>
              <a:t>Simulation manuelle</a:t>
            </a:r>
            <a:endParaRPr lang="en-US" sz="1200" dirty="0"/>
          </a:p>
        </p:txBody>
      </p:sp>
      <p:sp>
        <p:nvSpPr>
          <p:cNvPr id="48" name="Text 40"/>
          <p:cNvSpPr/>
          <p:nvPr/>
        </p:nvSpPr>
        <p:spPr>
          <a:xfrm>
            <a:off x="3474720" y="5806440"/>
            <a:ext cx="2377440" cy="365760"/>
          </a:xfrm>
          <a:prstGeom prst="rect">
            <a:avLst/>
          </a:prstGeom>
          <a:noFill/>
        </p:spPr>
        <p:txBody>
          <a:bodyPr wrap="square" lIns="0" tIns="0" rIns="0" bIns="0" rtlCol="0" anchor="ctr"/>
          <a:lstStyle/>
          <a:p>
            <a:pPr marL="0" indent="0" algn="ctr">
              <a:buNone/>
            </a:pPr>
            <a:r>
              <a:rPr lang="en-US" sz="900" dirty="0">
                <a:solidFill>
                  <a:schemeClr val="bg1"/>
                </a:solidFill>
                <a:latin typeface="Calibri" pitchFamily="34" charset="0"/>
                <a:ea typeface="Calibri" pitchFamily="34" charset="-122"/>
                <a:cs typeface="Calibri" pitchFamily="34" charset="-120"/>
              </a:rPr>
              <a:t>Tester le modèle avec des observations locales (pluie, T°, humidité)</a:t>
            </a:r>
            <a:endParaRPr lang="en-US" sz="900" dirty="0">
              <a:solidFill>
                <a:schemeClr val="bg1"/>
              </a:solidFill>
              <a:latin typeface="Calibri" pitchFamily="34" charset="0"/>
              <a:ea typeface="Calibri" pitchFamily="34" charset="-122"/>
              <a:cs typeface="Calibri" pitchFamily="34" charset="-120"/>
            </a:endParaRPr>
          </a:p>
        </p:txBody>
      </p:sp>
      <p:sp>
        <p:nvSpPr>
          <p:cNvPr id="49" name="Shape 41"/>
          <p:cNvSpPr/>
          <p:nvPr/>
        </p:nvSpPr>
        <p:spPr>
          <a:xfrm>
            <a:off x="6172200" y="4754880"/>
            <a:ext cx="2651760" cy="1463040"/>
          </a:xfrm>
          <a:prstGeom prst="rect">
            <a:avLst/>
          </a:prstGeom>
          <a:solidFill>
            <a:srgbClr val="0D47A1"/>
          </a:solidFill>
          <a:ln w="12700">
            <a:solidFill>
              <a:srgbClr val="0D47A1"/>
            </a:solidFill>
            <a:prstDash val="solid"/>
          </a:ln>
          <a:effectLst>
            <a:outerShdw blurRad="101600" dist="25400" dir="5400000" algn="bl" rotWithShape="0">
              <a:srgbClr val="000000">
                <a:alpha val="10000"/>
              </a:srgbClr>
            </a:outerShdw>
          </a:effectLst>
        </p:spPr>
      </p:sp>
      <p:sp>
        <p:nvSpPr>
          <p:cNvPr id="50" name="Shape 42"/>
          <p:cNvSpPr/>
          <p:nvPr/>
        </p:nvSpPr>
        <p:spPr>
          <a:xfrm>
            <a:off x="7223760" y="4937760"/>
            <a:ext cx="548640" cy="548640"/>
          </a:xfrm>
          <a:prstGeom prst="ellipse">
            <a:avLst/>
          </a:prstGeom>
          <a:solidFill>
            <a:srgbClr val="F59E0B"/>
          </a:solidFill>
          <a:ln w="12700">
            <a:solidFill>
              <a:srgbClr val="F59E0B"/>
            </a:solidFill>
            <a:prstDash val="solid"/>
          </a:ln>
        </p:spPr>
      </p:sp>
      <p:pic>
        <p:nvPicPr>
          <p:cNvPr id="51" name="Image 6" descr="preencoded.png"/>
          <p:cNvPicPr>
            <a:picLocks noChangeAspect="1"/>
          </p:cNvPicPr>
          <p:nvPr/>
        </p:nvPicPr>
        <p:blipFill>
          <a:blip r:embed="rId7"/>
          <a:stretch>
            <a:fillRect/>
          </a:stretch>
        </p:blipFill>
        <p:spPr>
          <a:xfrm>
            <a:off x="7315200" y="5029200"/>
            <a:ext cx="365760" cy="365760"/>
          </a:xfrm>
          <a:prstGeom prst="rect">
            <a:avLst/>
          </a:prstGeom>
        </p:spPr>
      </p:pic>
      <p:sp>
        <p:nvSpPr>
          <p:cNvPr id="52" name="Text 43"/>
          <p:cNvSpPr/>
          <p:nvPr/>
        </p:nvSpPr>
        <p:spPr>
          <a:xfrm>
            <a:off x="6309360" y="5577840"/>
            <a:ext cx="2377440" cy="274320"/>
          </a:xfrm>
          <a:prstGeom prst="rect">
            <a:avLst/>
          </a:prstGeom>
          <a:noFill/>
        </p:spPr>
        <p:txBody>
          <a:bodyPr wrap="square" lIns="0" tIns="0" rIns="0" bIns="0" rtlCol="0" anchor="ctr"/>
          <a:lstStyle/>
          <a:p>
            <a:pPr marL="0" indent="0" algn="ctr">
              <a:buNone/>
            </a:pPr>
            <a:r>
              <a:rPr lang="en-US" sz="1200" b="1" dirty="0">
                <a:solidFill>
                  <a:srgbClr val="FFFFFF"/>
                </a:solidFill>
                <a:latin typeface="Georgia" panose="02040502050405090303" pitchFamily="34" charset="0"/>
                <a:ea typeface="Georgia" panose="02040502050405090303" pitchFamily="34" charset="-122"/>
                <a:cs typeface="Georgia" panose="02040502050405090303" pitchFamily="34" charset="-120"/>
              </a:rPr>
              <a:t>Vues synthétiques</a:t>
            </a:r>
            <a:endParaRPr lang="en-US" sz="1200" dirty="0"/>
          </a:p>
        </p:txBody>
      </p:sp>
      <p:sp>
        <p:nvSpPr>
          <p:cNvPr id="53" name="Text 44"/>
          <p:cNvSpPr/>
          <p:nvPr/>
        </p:nvSpPr>
        <p:spPr>
          <a:xfrm>
            <a:off x="6309360" y="5806440"/>
            <a:ext cx="2377440" cy="365760"/>
          </a:xfrm>
          <a:prstGeom prst="rect">
            <a:avLst/>
          </a:prstGeom>
          <a:noFill/>
        </p:spPr>
        <p:txBody>
          <a:bodyPr wrap="square" lIns="0" tIns="0" rIns="0" bIns="0" rtlCol="0" anchor="ctr"/>
          <a:lstStyle/>
          <a:p>
            <a:pPr marL="0" indent="0" algn="ctr">
              <a:buNone/>
            </a:pPr>
            <a:r>
              <a:rPr lang="en-US" sz="900" dirty="0">
                <a:solidFill>
                  <a:schemeClr val="bg1"/>
                </a:solidFill>
                <a:latin typeface="Calibri" pitchFamily="34" charset="0"/>
                <a:ea typeface="Calibri" pitchFamily="34" charset="-122"/>
                <a:cs typeface="Calibri" pitchFamily="34" charset="-120"/>
              </a:rPr>
              <a:t>Répartition par type, par quartier, tendances temporelles, exports CSV</a:t>
            </a:r>
            <a:endParaRPr lang="en-US" sz="900" dirty="0">
              <a:solidFill>
                <a:schemeClr val="bg1"/>
              </a:solidFill>
              <a:latin typeface="Calibri" pitchFamily="34" charset="0"/>
              <a:ea typeface="Calibri" pitchFamily="34" charset="-122"/>
              <a:cs typeface="Calibri" pitchFamily="34" charset="-120"/>
            </a:endParaRPr>
          </a:p>
        </p:txBody>
      </p:sp>
      <p:sp>
        <p:nvSpPr>
          <p:cNvPr id="54" name="Shape 45"/>
          <p:cNvSpPr/>
          <p:nvPr/>
        </p:nvSpPr>
        <p:spPr>
          <a:xfrm>
            <a:off x="9006840" y="4754880"/>
            <a:ext cx="2651760" cy="1463040"/>
          </a:xfrm>
          <a:prstGeom prst="rect">
            <a:avLst/>
          </a:prstGeom>
          <a:solidFill>
            <a:srgbClr val="0D47A1"/>
          </a:solidFill>
          <a:ln w="12700">
            <a:solidFill>
              <a:srgbClr val="0D47A1"/>
            </a:solidFill>
            <a:prstDash val="solid"/>
          </a:ln>
          <a:effectLst>
            <a:outerShdw blurRad="101600" dist="25400" dir="5400000" algn="bl" rotWithShape="0">
              <a:srgbClr val="000000">
                <a:alpha val="10000"/>
              </a:srgbClr>
            </a:outerShdw>
          </a:effectLst>
        </p:spPr>
      </p:sp>
      <p:sp>
        <p:nvSpPr>
          <p:cNvPr id="55" name="Shape 46"/>
          <p:cNvSpPr/>
          <p:nvPr/>
        </p:nvSpPr>
        <p:spPr>
          <a:xfrm>
            <a:off x="10058400" y="4937760"/>
            <a:ext cx="548640" cy="548640"/>
          </a:xfrm>
          <a:prstGeom prst="ellipse">
            <a:avLst/>
          </a:prstGeom>
          <a:solidFill>
            <a:srgbClr val="F59E0B"/>
          </a:solidFill>
          <a:ln w="12700">
            <a:solidFill>
              <a:srgbClr val="F59E0B"/>
            </a:solidFill>
            <a:prstDash val="solid"/>
          </a:ln>
        </p:spPr>
      </p:sp>
      <p:pic>
        <p:nvPicPr>
          <p:cNvPr id="56" name="Image 7" descr="preencoded.png"/>
          <p:cNvPicPr>
            <a:picLocks noChangeAspect="1"/>
          </p:cNvPicPr>
          <p:nvPr/>
        </p:nvPicPr>
        <p:blipFill>
          <a:blip r:embed="rId8"/>
          <a:stretch>
            <a:fillRect/>
          </a:stretch>
        </p:blipFill>
        <p:spPr>
          <a:xfrm>
            <a:off x="10149840" y="5029200"/>
            <a:ext cx="365760" cy="365760"/>
          </a:xfrm>
          <a:prstGeom prst="rect">
            <a:avLst/>
          </a:prstGeom>
        </p:spPr>
      </p:pic>
      <p:sp>
        <p:nvSpPr>
          <p:cNvPr id="57" name="Text 47"/>
          <p:cNvSpPr/>
          <p:nvPr/>
        </p:nvSpPr>
        <p:spPr>
          <a:xfrm>
            <a:off x="9144000" y="5577840"/>
            <a:ext cx="2377440" cy="274320"/>
          </a:xfrm>
          <a:prstGeom prst="rect">
            <a:avLst/>
          </a:prstGeom>
          <a:noFill/>
        </p:spPr>
        <p:txBody>
          <a:bodyPr wrap="square" lIns="0" tIns="0" rIns="0" bIns="0" rtlCol="0" anchor="ctr"/>
          <a:lstStyle/>
          <a:p>
            <a:pPr marL="0" indent="0" algn="ctr">
              <a:buNone/>
            </a:pPr>
            <a:r>
              <a:rPr lang="en-US" sz="1200" b="1" dirty="0">
                <a:solidFill>
                  <a:srgbClr val="FFFFFF"/>
                </a:solidFill>
                <a:latin typeface="Georgia" panose="02040502050405090303" pitchFamily="34" charset="0"/>
                <a:ea typeface="Georgia" panose="02040502050405090303" pitchFamily="34" charset="-122"/>
                <a:cs typeface="Georgia" panose="02040502050405090303" pitchFamily="34" charset="-120"/>
              </a:rPr>
              <a:t>Suivi des alertes</a:t>
            </a:r>
            <a:endParaRPr lang="en-US" sz="1200" dirty="0"/>
          </a:p>
        </p:txBody>
      </p:sp>
      <p:sp>
        <p:nvSpPr>
          <p:cNvPr id="58" name="Text 48"/>
          <p:cNvSpPr/>
          <p:nvPr/>
        </p:nvSpPr>
        <p:spPr>
          <a:xfrm>
            <a:off x="9144000" y="5806440"/>
            <a:ext cx="2377440" cy="365760"/>
          </a:xfrm>
          <a:prstGeom prst="rect">
            <a:avLst/>
          </a:prstGeom>
          <a:noFill/>
        </p:spPr>
        <p:txBody>
          <a:bodyPr wrap="square" lIns="0" tIns="0" rIns="0" bIns="0" rtlCol="0" anchor="ctr"/>
          <a:lstStyle/>
          <a:p>
            <a:pPr marL="0" indent="0" algn="ctr">
              <a:buNone/>
            </a:pPr>
            <a:r>
              <a:rPr lang="en-US" sz="900" dirty="0">
                <a:solidFill>
                  <a:schemeClr val="bg1"/>
                </a:solidFill>
                <a:latin typeface="Calibri" pitchFamily="34" charset="0"/>
                <a:ea typeface="Calibri" pitchFamily="34" charset="-122"/>
                <a:cs typeface="Calibri" pitchFamily="34" charset="-120"/>
              </a:rPr>
              <a:t>Statut · assignation · compte-rendu · clôture immédiate ou par lots</a:t>
            </a:r>
            <a:endParaRPr lang="en-US" sz="900" dirty="0">
              <a:solidFill>
                <a:schemeClr val="bg1"/>
              </a:solidFill>
              <a:latin typeface="Calibri" pitchFamily="34" charset="0"/>
              <a:ea typeface="Calibri" pitchFamily="34" charset="-122"/>
              <a:cs typeface="Calibri" pitchFamily="34" charset="-120"/>
            </a:endParaRPr>
          </a:p>
        </p:txBody>
      </p:sp>
      <p:sp>
        <p:nvSpPr>
          <p:cNvPr id="59" name="Shape 49"/>
          <p:cNvSpPr/>
          <p:nvPr/>
        </p:nvSpPr>
        <p:spPr>
          <a:xfrm>
            <a:off x="0" y="6537960"/>
            <a:ext cx="12161520" cy="320040"/>
          </a:xfrm>
          <a:prstGeom prst="rect">
            <a:avLst/>
          </a:prstGeom>
          <a:solidFill>
            <a:srgbClr val="0D47A1"/>
          </a:solidFill>
          <a:ln w="12700">
            <a:solidFill>
              <a:srgbClr val="0D47A1"/>
            </a:solidFill>
            <a:prstDash val="solid"/>
          </a:ln>
        </p:spPr>
      </p:sp>
      <p:sp>
        <p:nvSpPr>
          <p:cNvPr id="60" name="Text 50"/>
          <p:cNvSpPr/>
          <p:nvPr/>
        </p:nvSpPr>
        <p:spPr>
          <a:xfrm>
            <a:off x="457200" y="6537960"/>
            <a:ext cx="7315200" cy="320040"/>
          </a:xfrm>
          <a:prstGeom prst="rect">
            <a:avLst/>
          </a:prstGeom>
          <a:noFill/>
        </p:spPr>
        <p:txBody>
          <a:bodyPr wrap="square" lIns="0" tIns="0" rIns="0" bIns="0" rtlCol="0" anchor="ctr"/>
          <a:lstStyle/>
          <a:p>
            <a:pPr marL="0" indent="0" algn="l">
              <a:buNone/>
            </a:pPr>
            <a:r>
              <a:rPr lang="en-US" sz="900" dirty="0">
                <a:solidFill>
                  <a:srgbClr val="F8FAFC"/>
                </a:solidFill>
                <a:latin typeface="Calibri" pitchFamily="34" charset="0"/>
                <a:ea typeface="Calibri" pitchFamily="34" charset="-122"/>
                <a:cs typeface="Calibri" pitchFamily="34" charset="-120"/>
              </a:rPr>
              <a:t>Saytu Mbeund  ·  FloodGuardAI  ·  flood.yaataldigital.com</a:t>
            </a:r>
            <a:endParaRPr lang="en-US" sz="900" dirty="0"/>
          </a:p>
        </p:txBody>
      </p:sp>
      <p:sp>
        <p:nvSpPr>
          <p:cNvPr id="61" name="Text 51"/>
          <p:cNvSpPr/>
          <p:nvPr/>
        </p:nvSpPr>
        <p:spPr>
          <a:xfrm>
            <a:off x="8503920" y="6537960"/>
            <a:ext cx="2286000" cy="320040"/>
          </a:xfrm>
          <a:prstGeom prst="rect">
            <a:avLst/>
          </a:prstGeom>
          <a:noFill/>
        </p:spPr>
        <p:txBody>
          <a:bodyPr wrap="square" lIns="0" tIns="0" rIns="0" bIns="0" rtlCol="0" anchor="ctr"/>
          <a:lstStyle/>
          <a:p>
            <a:pPr marL="0" indent="0" algn="r">
              <a:buNone/>
            </a:pPr>
            <a:r>
              <a:rPr lang="en-US" sz="900" i="1" dirty="0">
                <a:solidFill>
                  <a:srgbClr val="F59E0B"/>
                </a:solidFill>
                <a:latin typeface="Calibri" pitchFamily="34" charset="0"/>
                <a:ea typeface="Calibri" pitchFamily="34" charset="-122"/>
                <a:cs typeface="Calibri" pitchFamily="34" charset="-120"/>
              </a:rPr>
              <a:t>▸ ADAMA</a:t>
            </a:r>
            <a:endParaRPr lang="en-US" sz="900" dirty="0"/>
          </a:p>
        </p:txBody>
      </p:sp>
      <p:sp>
        <p:nvSpPr>
          <p:cNvPr id="62" name="Text 52"/>
          <p:cNvSpPr/>
          <p:nvPr/>
        </p:nvSpPr>
        <p:spPr>
          <a:xfrm>
            <a:off x="11064240" y="6537960"/>
            <a:ext cx="640080" cy="320040"/>
          </a:xfrm>
          <a:prstGeom prst="rect">
            <a:avLst/>
          </a:prstGeom>
          <a:noFill/>
        </p:spPr>
        <p:txBody>
          <a:bodyPr wrap="square" lIns="0" tIns="0" rIns="0" bIns="0" rtlCol="0" anchor="ctr"/>
          <a:lstStyle/>
          <a:p>
            <a:pPr marL="0" indent="0" algn="r">
              <a:buNone/>
            </a:pPr>
            <a:r>
              <a:rPr lang="en-US" sz="900" dirty="0">
                <a:solidFill>
                  <a:srgbClr val="F8FAFC"/>
                </a:solidFill>
                <a:latin typeface="Calibri" pitchFamily="34" charset="0"/>
                <a:ea typeface="Calibri" pitchFamily="34" charset="-122"/>
                <a:cs typeface="Calibri" pitchFamily="34" charset="-120"/>
              </a:rPr>
              <a:t>8 / 12</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548640" y="411480"/>
            <a:ext cx="7315200" cy="320040"/>
          </a:xfrm>
          <a:prstGeom prst="rect">
            <a:avLst/>
          </a:prstGeom>
          <a:noFill/>
        </p:spPr>
        <p:txBody>
          <a:bodyPr wrap="square" lIns="0" tIns="0" rIns="0" bIns="0" rtlCol="0" anchor="ctr"/>
          <a:lstStyle/>
          <a:p>
            <a:pPr marL="0" indent="0">
              <a:buNone/>
            </a:pPr>
            <a:r>
              <a:rPr lang="en-US" sz="1100" b="1" kern="0" spc="400" dirty="0">
                <a:solidFill>
                  <a:srgbClr val="1565C0"/>
                </a:solidFill>
                <a:latin typeface="Calibri" pitchFamily="34" charset="0"/>
                <a:ea typeface="Calibri" pitchFamily="34" charset="-122"/>
                <a:cs typeface="Calibri" pitchFamily="34" charset="-120"/>
              </a:rPr>
              <a:t>VOLET OPÉRATIONNEL</a:t>
            </a:r>
            <a:endParaRPr lang="en-US" sz="1100" dirty="0"/>
          </a:p>
        </p:txBody>
      </p:sp>
      <p:sp>
        <p:nvSpPr>
          <p:cNvPr id="3" name="Text 1"/>
          <p:cNvSpPr/>
          <p:nvPr/>
        </p:nvSpPr>
        <p:spPr>
          <a:xfrm>
            <a:off x="548640" y="713232"/>
            <a:ext cx="10058400" cy="777240"/>
          </a:xfrm>
          <a:prstGeom prst="rect">
            <a:avLst/>
          </a:prstGeom>
          <a:noFill/>
        </p:spPr>
        <p:txBody>
          <a:bodyPr wrap="square" lIns="0" tIns="0" rIns="0" bIns="0" rtlCol="0" anchor="ctr"/>
          <a:lstStyle/>
          <a:p>
            <a:pPr marL="0" indent="0">
              <a:buNone/>
            </a:pPr>
            <a:r>
              <a:rPr lang="en-US" sz="3000" b="1" dirty="0">
                <a:solidFill>
                  <a:srgbClr val="0D47A1"/>
                </a:solidFill>
                <a:latin typeface="Georgia" panose="02040502050405090303" pitchFamily="34" charset="0"/>
                <a:ea typeface="Georgia" panose="02040502050405090303" pitchFamily="34" charset="-122"/>
                <a:cs typeface="Georgia" panose="02040502050405090303" pitchFamily="34" charset="-120"/>
              </a:rPr>
              <a:t>Coordination terrain et accompagnement citoyen</a:t>
            </a:r>
            <a:endParaRPr lang="en-US" sz="3000" dirty="0"/>
          </a:p>
        </p:txBody>
      </p:sp>
      <p:sp>
        <p:nvSpPr>
          <p:cNvPr id="4" name="Shape 2"/>
          <p:cNvSpPr/>
          <p:nvPr/>
        </p:nvSpPr>
        <p:spPr>
          <a:xfrm>
            <a:off x="548640" y="1517904"/>
            <a:ext cx="164592" cy="164592"/>
          </a:xfrm>
          <a:prstGeom prst="ellipse">
            <a:avLst/>
          </a:prstGeom>
          <a:solidFill>
            <a:srgbClr val="F59E0B"/>
          </a:solidFill>
          <a:ln w="12700">
            <a:solidFill>
              <a:srgbClr val="F59E0B"/>
            </a:solidFill>
            <a:prstDash val="solid"/>
          </a:ln>
        </p:spPr>
      </p:sp>
      <p:sp>
        <p:nvSpPr>
          <p:cNvPr id="5" name="Shape 3"/>
          <p:cNvSpPr/>
          <p:nvPr/>
        </p:nvSpPr>
        <p:spPr>
          <a:xfrm>
            <a:off x="777240" y="1517904"/>
            <a:ext cx="164592" cy="164592"/>
          </a:xfrm>
          <a:prstGeom prst="ellipse">
            <a:avLst/>
          </a:prstGeom>
          <a:solidFill>
            <a:srgbClr val="1565C0"/>
          </a:solidFill>
          <a:ln w="12700">
            <a:solidFill>
              <a:srgbClr val="1565C0"/>
            </a:solidFill>
            <a:prstDash val="solid"/>
          </a:ln>
        </p:spPr>
      </p:sp>
      <p:sp>
        <p:nvSpPr>
          <p:cNvPr id="6" name="Shape 4"/>
          <p:cNvSpPr/>
          <p:nvPr/>
        </p:nvSpPr>
        <p:spPr>
          <a:xfrm>
            <a:off x="1005840" y="1517904"/>
            <a:ext cx="164592" cy="164592"/>
          </a:xfrm>
          <a:prstGeom prst="ellipse">
            <a:avLst/>
          </a:prstGeom>
          <a:solidFill>
            <a:srgbClr val="E2E8F0"/>
          </a:solidFill>
          <a:ln w="12700">
            <a:solidFill>
              <a:srgbClr val="E2E8F0"/>
            </a:solidFill>
            <a:prstDash val="solid"/>
          </a:ln>
        </p:spPr>
      </p:sp>
      <p:sp>
        <p:nvSpPr>
          <p:cNvPr id="7" name="Shape 5"/>
          <p:cNvSpPr/>
          <p:nvPr/>
        </p:nvSpPr>
        <p:spPr>
          <a:xfrm>
            <a:off x="9692640" y="411480"/>
            <a:ext cx="1920240" cy="411480"/>
          </a:xfrm>
          <a:prstGeom prst="roundRect">
            <a:avLst>
              <a:gd name="adj" fmla="val 11111"/>
            </a:avLst>
          </a:prstGeom>
          <a:solidFill>
            <a:srgbClr val="0891B2"/>
          </a:solidFill>
          <a:ln w="12700">
            <a:solidFill>
              <a:srgbClr val="0891B2"/>
            </a:solidFill>
            <a:prstDash val="solid"/>
          </a:ln>
        </p:spPr>
      </p:sp>
      <p:sp>
        <p:nvSpPr>
          <p:cNvPr id="8" name="Text 6"/>
          <p:cNvSpPr/>
          <p:nvPr/>
        </p:nvSpPr>
        <p:spPr>
          <a:xfrm>
            <a:off x="9692640" y="411480"/>
            <a:ext cx="1920240" cy="411480"/>
          </a:xfrm>
          <a:prstGeom prst="rect">
            <a:avLst/>
          </a:prstGeom>
          <a:noFill/>
        </p:spPr>
        <p:txBody>
          <a:bodyPr wrap="square" lIns="0" tIns="0" rIns="0" bIns="0" rtlCol="0" anchor="ctr"/>
          <a:lstStyle/>
          <a:p>
            <a:pPr marL="0" indent="0" algn="ctr">
              <a:buNone/>
            </a:pPr>
            <a:r>
              <a:rPr lang="en-US" sz="1000" b="1" kern="0" spc="200" dirty="0">
                <a:solidFill>
                  <a:srgbClr val="FFFFFF"/>
                </a:solidFill>
                <a:latin typeface="Calibri" pitchFamily="34" charset="0"/>
                <a:ea typeface="Calibri" pitchFamily="34" charset="-122"/>
                <a:cs typeface="Calibri" pitchFamily="34" charset="-120"/>
              </a:rPr>
              <a:t>ADAMA  ·  TERRAIN</a:t>
            </a:r>
            <a:endParaRPr lang="en-US" sz="1000" dirty="0"/>
          </a:p>
        </p:txBody>
      </p:sp>
      <p:sp>
        <p:nvSpPr>
          <p:cNvPr id="9" name="Text 7"/>
          <p:cNvSpPr/>
          <p:nvPr/>
        </p:nvSpPr>
        <p:spPr>
          <a:xfrm>
            <a:off x="548640" y="1874520"/>
            <a:ext cx="11064240" cy="457200"/>
          </a:xfrm>
          <a:prstGeom prst="rect">
            <a:avLst/>
          </a:prstGeom>
          <a:noFill/>
        </p:spPr>
        <p:txBody>
          <a:bodyPr wrap="square" lIns="0" tIns="0" rIns="0" bIns="0" rtlCol="0" anchor="ctr"/>
          <a:lstStyle/>
          <a:p>
            <a:pPr marL="0" indent="0">
              <a:buNone/>
            </a:pPr>
            <a:r>
              <a:rPr lang="en-US" sz="1300" i="1" dirty="0">
                <a:solidFill>
                  <a:srgbClr val="475569"/>
                </a:solidFill>
                <a:latin typeface="Calibri" pitchFamily="34" charset="0"/>
                <a:ea typeface="Calibri" pitchFamily="34" charset="-122"/>
                <a:cs typeface="Calibri" pitchFamily="34" charset="-120"/>
              </a:rPr>
              <a:t>La plateforme intègre directement les protocoles de la Protection Civile et oriente les citoyens vers les bons relais.</a:t>
            </a:r>
            <a:endParaRPr lang="en-US" sz="1300" dirty="0"/>
          </a:p>
        </p:txBody>
      </p:sp>
      <p:sp>
        <p:nvSpPr>
          <p:cNvPr id="10" name="Shape 8"/>
          <p:cNvSpPr/>
          <p:nvPr/>
        </p:nvSpPr>
        <p:spPr>
          <a:xfrm>
            <a:off x="548640" y="2468880"/>
            <a:ext cx="11064240" cy="640080"/>
          </a:xfrm>
          <a:prstGeom prst="rect">
            <a:avLst/>
          </a:prstGeom>
          <a:solidFill>
            <a:srgbClr val="DC2626"/>
          </a:solidFill>
          <a:ln w="12700">
            <a:solidFill>
              <a:srgbClr val="DC2626"/>
            </a:solidFill>
            <a:prstDash val="solid"/>
          </a:ln>
        </p:spPr>
      </p:sp>
      <p:pic>
        <p:nvPicPr>
          <p:cNvPr id="11" name="Image 0" descr="preencoded.png"/>
          <p:cNvPicPr>
            <a:picLocks noChangeAspect="1"/>
          </p:cNvPicPr>
          <p:nvPr/>
        </p:nvPicPr>
        <p:blipFill>
          <a:blip r:embed="rId1"/>
          <a:stretch>
            <a:fillRect/>
          </a:stretch>
        </p:blipFill>
        <p:spPr>
          <a:xfrm>
            <a:off x="777240" y="2606040"/>
            <a:ext cx="365760" cy="365760"/>
          </a:xfrm>
          <a:prstGeom prst="rect">
            <a:avLst/>
          </a:prstGeom>
        </p:spPr>
      </p:pic>
      <p:sp>
        <p:nvSpPr>
          <p:cNvPr id="12" name="Text 9"/>
          <p:cNvSpPr/>
          <p:nvPr/>
        </p:nvSpPr>
        <p:spPr>
          <a:xfrm>
            <a:off x="1280160" y="2468880"/>
            <a:ext cx="2743200" cy="640080"/>
          </a:xfrm>
          <a:prstGeom prst="rect">
            <a:avLst/>
          </a:prstGeom>
          <a:noFill/>
        </p:spPr>
        <p:txBody>
          <a:bodyPr wrap="square" lIns="0" tIns="0" rIns="0" bIns="0" rtlCol="0" anchor="ctr"/>
          <a:lstStyle/>
          <a:p>
            <a:pPr marL="0" indent="0">
              <a:buNone/>
            </a:pPr>
            <a:r>
              <a:rPr lang="en-US" sz="1300" b="1" kern="0" spc="300" dirty="0">
                <a:solidFill>
                  <a:srgbClr val="FFFFFF"/>
                </a:solidFill>
                <a:latin typeface="Calibri" pitchFamily="34" charset="0"/>
                <a:ea typeface="Calibri" pitchFamily="34" charset="-122"/>
                <a:cs typeface="Calibri" pitchFamily="34" charset="-120"/>
              </a:rPr>
              <a:t>URGENCE INONDATION</a:t>
            </a:r>
            <a:endParaRPr lang="en-US" sz="1300" dirty="0"/>
          </a:p>
        </p:txBody>
      </p:sp>
      <p:sp>
        <p:nvSpPr>
          <p:cNvPr id="13" name="Shape 10"/>
          <p:cNvSpPr/>
          <p:nvPr/>
        </p:nvSpPr>
        <p:spPr>
          <a:xfrm>
            <a:off x="4114800" y="2606040"/>
            <a:ext cx="1371600" cy="365760"/>
          </a:xfrm>
          <a:prstGeom prst="roundRect">
            <a:avLst>
              <a:gd name="adj" fmla="val 12500"/>
            </a:avLst>
          </a:prstGeom>
          <a:solidFill>
            <a:srgbClr val="FFFFFF"/>
          </a:solidFill>
          <a:ln w="12700">
            <a:solidFill>
              <a:srgbClr val="FFFFFF"/>
            </a:solidFill>
            <a:prstDash val="solid"/>
          </a:ln>
        </p:spPr>
      </p:sp>
      <p:sp>
        <p:nvSpPr>
          <p:cNvPr id="14" name="Text 11"/>
          <p:cNvSpPr/>
          <p:nvPr/>
        </p:nvSpPr>
        <p:spPr>
          <a:xfrm>
            <a:off x="4114800" y="2606040"/>
            <a:ext cx="1371600" cy="365760"/>
          </a:xfrm>
          <a:prstGeom prst="rect">
            <a:avLst/>
          </a:prstGeom>
          <a:noFill/>
        </p:spPr>
        <p:txBody>
          <a:bodyPr wrap="square" lIns="0" tIns="0" rIns="0" bIns="0" rtlCol="0" anchor="ctr"/>
          <a:lstStyle/>
          <a:p>
            <a:pPr marL="0" indent="0" algn="ctr">
              <a:buNone/>
            </a:pPr>
            <a:r>
              <a:rPr lang="en-US" sz="1100" b="1" dirty="0">
                <a:solidFill>
                  <a:srgbClr val="DC2626"/>
                </a:solidFill>
                <a:latin typeface="Calibri" pitchFamily="34" charset="0"/>
                <a:ea typeface="Calibri" pitchFamily="34" charset="-122"/>
                <a:cs typeface="Calibri" pitchFamily="34" charset="-120"/>
              </a:rPr>
              <a:t>Appeler 18</a:t>
            </a:r>
            <a:endParaRPr lang="en-US" sz="1100" dirty="0"/>
          </a:p>
        </p:txBody>
      </p:sp>
      <p:sp>
        <p:nvSpPr>
          <p:cNvPr id="15" name="Text 12"/>
          <p:cNvSpPr/>
          <p:nvPr/>
        </p:nvSpPr>
        <p:spPr>
          <a:xfrm>
            <a:off x="5669280" y="2468880"/>
            <a:ext cx="5852160" cy="640080"/>
          </a:xfrm>
          <a:prstGeom prst="rect">
            <a:avLst/>
          </a:prstGeom>
          <a:noFill/>
        </p:spPr>
        <p:txBody>
          <a:bodyPr wrap="square" lIns="0" tIns="0" rIns="0" bIns="0" rtlCol="0" anchor="ctr"/>
          <a:lstStyle/>
          <a:p>
            <a:pPr marL="0" indent="0" algn="r">
              <a:buNone/>
            </a:pPr>
            <a:r>
              <a:rPr lang="en-US" sz="1100" dirty="0">
                <a:solidFill>
                  <a:srgbClr val="FFFFFF"/>
                </a:solidFill>
                <a:latin typeface="Calibri" pitchFamily="34" charset="0"/>
                <a:ea typeface="Calibri" pitchFamily="34" charset="-122"/>
                <a:cs typeface="Calibri" pitchFamily="34" charset="-120"/>
              </a:rPr>
              <a:t>Police  ·  SAMU  ·  Cellule inondation  ·  WhatsApp mairie</a:t>
            </a:r>
            <a:endParaRPr lang="en-US" sz="1100" dirty="0"/>
          </a:p>
        </p:txBody>
      </p:sp>
      <p:sp>
        <p:nvSpPr>
          <p:cNvPr id="16" name="Shape 13"/>
          <p:cNvSpPr/>
          <p:nvPr/>
        </p:nvSpPr>
        <p:spPr>
          <a:xfrm>
            <a:off x="548640" y="3337560"/>
            <a:ext cx="3611880" cy="1371600"/>
          </a:xfrm>
          <a:prstGeom prst="rect">
            <a:avLst/>
          </a:prstGeom>
          <a:solidFill>
            <a:srgbClr val="FFFFFF"/>
          </a:solidFill>
          <a:ln w="12700">
            <a:solidFill>
              <a:srgbClr val="E2E8F0"/>
            </a:solidFill>
            <a:prstDash val="solid"/>
          </a:ln>
          <a:effectLst>
            <a:outerShdw blurRad="101600" dist="25400" dir="5400000" algn="bl" rotWithShape="0">
              <a:srgbClr val="000000">
                <a:alpha val="10000"/>
              </a:srgbClr>
            </a:outerShdw>
          </a:effectLst>
        </p:spPr>
      </p:sp>
      <p:sp>
        <p:nvSpPr>
          <p:cNvPr id="17" name="Shape 14"/>
          <p:cNvSpPr/>
          <p:nvPr/>
        </p:nvSpPr>
        <p:spPr>
          <a:xfrm>
            <a:off x="548640" y="3337560"/>
            <a:ext cx="91440" cy="1371600"/>
          </a:xfrm>
          <a:prstGeom prst="rect">
            <a:avLst/>
          </a:prstGeom>
          <a:solidFill>
            <a:srgbClr val="1565C0"/>
          </a:solidFill>
          <a:ln w="12700">
            <a:solidFill>
              <a:srgbClr val="1565C0"/>
            </a:solidFill>
            <a:prstDash val="solid"/>
          </a:ln>
        </p:spPr>
      </p:sp>
      <p:sp>
        <p:nvSpPr>
          <p:cNvPr id="18" name="Text 15"/>
          <p:cNvSpPr/>
          <p:nvPr/>
        </p:nvSpPr>
        <p:spPr>
          <a:xfrm>
            <a:off x="777240" y="3474720"/>
            <a:ext cx="3246120" cy="320040"/>
          </a:xfrm>
          <a:prstGeom prst="rect">
            <a:avLst/>
          </a:prstGeom>
          <a:noFill/>
        </p:spPr>
        <p:txBody>
          <a:bodyPr wrap="square" lIns="0" tIns="0" rIns="0" bIns="0" rtlCol="0" anchor="ctr"/>
          <a:lstStyle/>
          <a:p>
            <a:pPr marL="0" indent="0">
              <a:buNone/>
            </a:pPr>
            <a:r>
              <a:rPr lang="en-US" sz="1300" b="1" dirty="0">
                <a:solidFill>
                  <a:srgbClr val="0D47A1"/>
                </a:solidFill>
                <a:latin typeface="Georgia" panose="02040502050405090303" pitchFamily="34" charset="0"/>
                <a:ea typeface="Georgia" panose="02040502050405090303" pitchFamily="34" charset="-122"/>
                <a:cs typeface="Georgia" panose="02040502050405090303" pitchFamily="34" charset="-120"/>
              </a:rPr>
              <a:t>Protection Civile</a:t>
            </a:r>
            <a:endParaRPr lang="en-US" sz="1300" dirty="0"/>
          </a:p>
        </p:txBody>
      </p:sp>
      <p:sp>
        <p:nvSpPr>
          <p:cNvPr id="19" name="Text 16"/>
          <p:cNvSpPr/>
          <p:nvPr/>
        </p:nvSpPr>
        <p:spPr>
          <a:xfrm>
            <a:off x="777240" y="3794760"/>
            <a:ext cx="3246120" cy="502920"/>
          </a:xfrm>
          <a:prstGeom prst="rect">
            <a:avLst/>
          </a:prstGeom>
          <a:noFill/>
        </p:spPr>
        <p:txBody>
          <a:bodyPr wrap="square" lIns="0" tIns="0" rIns="0" bIns="0" rtlCol="0" anchor="ctr"/>
          <a:lstStyle/>
          <a:p>
            <a:pPr marL="0" indent="0">
              <a:buNone/>
            </a:pPr>
            <a:r>
              <a:rPr lang="en-US" sz="2400" b="1" dirty="0">
                <a:solidFill>
                  <a:srgbClr val="1565C0"/>
                </a:solidFill>
                <a:latin typeface="Georgia" panose="02040502050405090303" pitchFamily="34" charset="0"/>
                <a:ea typeface="Georgia" panose="02040502050405090303" pitchFamily="34" charset="-122"/>
                <a:cs typeface="Georgia" panose="02040502050405090303" pitchFamily="34" charset="-120"/>
              </a:rPr>
              <a:t>1515</a:t>
            </a:r>
            <a:endParaRPr lang="en-US" sz="2400" dirty="0"/>
          </a:p>
        </p:txBody>
      </p:sp>
      <p:sp>
        <p:nvSpPr>
          <p:cNvPr id="20" name="Text 17"/>
          <p:cNvSpPr/>
          <p:nvPr/>
        </p:nvSpPr>
        <p:spPr>
          <a:xfrm>
            <a:off x="777240" y="4297680"/>
            <a:ext cx="3246120" cy="320040"/>
          </a:xfrm>
          <a:prstGeom prst="rect">
            <a:avLst/>
          </a:prstGeom>
          <a:noFill/>
        </p:spPr>
        <p:txBody>
          <a:bodyPr wrap="square" lIns="0" tIns="0" rIns="0" bIns="0" rtlCol="0" anchor="ctr"/>
          <a:lstStyle/>
          <a:p>
            <a:pPr marL="0" indent="0">
              <a:buNone/>
            </a:pPr>
            <a:r>
              <a:rPr lang="en-US" sz="1000" dirty="0">
                <a:solidFill>
                  <a:srgbClr val="475569"/>
                </a:solidFill>
                <a:latin typeface="Calibri" pitchFamily="34" charset="0"/>
                <a:ea typeface="Calibri" pitchFamily="34" charset="-122"/>
                <a:cs typeface="Calibri" pitchFamily="34" charset="-120"/>
              </a:rPr>
              <a:t>Assistance d'urgence et évacuations</a:t>
            </a:r>
            <a:endParaRPr lang="en-US" sz="1000" dirty="0"/>
          </a:p>
        </p:txBody>
      </p:sp>
      <p:sp>
        <p:nvSpPr>
          <p:cNvPr id="21" name="Shape 18"/>
          <p:cNvSpPr/>
          <p:nvPr/>
        </p:nvSpPr>
        <p:spPr>
          <a:xfrm>
            <a:off x="4297680" y="3337560"/>
            <a:ext cx="3611880" cy="1371600"/>
          </a:xfrm>
          <a:prstGeom prst="rect">
            <a:avLst/>
          </a:prstGeom>
          <a:solidFill>
            <a:srgbClr val="FFFFFF"/>
          </a:solidFill>
          <a:ln w="12700">
            <a:solidFill>
              <a:srgbClr val="E2E8F0"/>
            </a:solidFill>
            <a:prstDash val="solid"/>
          </a:ln>
          <a:effectLst>
            <a:outerShdw blurRad="101600" dist="25400" dir="5400000" algn="bl" rotWithShape="0">
              <a:srgbClr val="000000">
                <a:alpha val="10000"/>
              </a:srgbClr>
            </a:outerShdw>
          </a:effectLst>
        </p:spPr>
      </p:sp>
      <p:sp>
        <p:nvSpPr>
          <p:cNvPr id="22" name="Shape 19"/>
          <p:cNvSpPr/>
          <p:nvPr/>
        </p:nvSpPr>
        <p:spPr>
          <a:xfrm>
            <a:off x="4297680" y="3337560"/>
            <a:ext cx="91440" cy="1371600"/>
          </a:xfrm>
          <a:prstGeom prst="rect">
            <a:avLst/>
          </a:prstGeom>
          <a:solidFill>
            <a:srgbClr val="1565C0"/>
          </a:solidFill>
          <a:ln w="12700">
            <a:solidFill>
              <a:srgbClr val="1565C0"/>
            </a:solidFill>
            <a:prstDash val="solid"/>
          </a:ln>
        </p:spPr>
      </p:sp>
      <p:sp>
        <p:nvSpPr>
          <p:cNvPr id="23" name="Text 20"/>
          <p:cNvSpPr/>
          <p:nvPr/>
        </p:nvSpPr>
        <p:spPr>
          <a:xfrm>
            <a:off x="4526280" y="3474720"/>
            <a:ext cx="3246120" cy="320040"/>
          </a:xfrm>
          <a:prstGeom prst="rect">
            <a:avLst/>
          </a:prstGeom>
          <a:noFill/>
        </p:spPr>
        <p:txBody>
          <a:bodyPr wrap="square" lIns="0" tIns="0" rIns="0" bIns="0" rtlCol="0" anchor="ctr"/>
          <a:lstStyle/>
          <a:p>
            <a:pPr marL="0" indent="0">
              <a:buNone/>
            </a:pPr>
            <a:r>
              <a:rPr lang="en-US" sz="1300" b="1" dirty="0">
                <a:solidFill>
                  <a:srgbClr val="0D47A1"/>
                </a:solidFill>
                <a:latin typeface="Georgia" panose="02040502050405090303" pitchFamily="34" charset="0"/>
                <a:ea typeface="Georgia" panose="02040502050405090303" pitchFamily="34" charset="-122"/>
                <a:cs typeface="Georgia" panose="02040502050405090303" pitchFamily="34" charset="-120"/>
              </a:rPr>
              <a:t>Pompiers</a:t>
            </a:r>
            <a:endParaRPr lang="en-US" sz="1300" dirty="0"/>
          </a:p>
        </p:txBody>
      </p:sp>
      <p:sp>
        <p:nvSpPr>
          <p:cNvPr id="24" name="Text 21"/>
          <p:cNvSpPr/>
          <p:nvPr/>
        </p:nvSpPr>
        <p:spPr>
          <a:xfrm>
            <a:off x="4526280" y="3794760"/>
            <a:ext cx="3246120" cy="502920"/>
          </a:xfrm>
          <a:prstGeom prst="rect">
            <a:avLst/>
          </a:prstGeom>
          <a:noFill/>
        </p:spPr>
        <p:txBody>
          <a:bodyPr wrap="square" lIns="0" tIns="0" rIns="0" bIns="0" rtlCol="0" anchor="ctr"/>
          <a:lstStyle/>
          <a:p>
            <a:pPr marL="0" indent="0">
              <a:buNone/>
            </a:pPr>
            <a:r>
              <a:rPr lang="en-US" sz="2400" b="1" dirty="0">
                <a:solidFill>
                  <a:srgbClr val="1565C0"/>
                </a:solidFill>
                <a:latin typeface="Georgia" panose="02040502050405090303" pitchFamily="34" charset="0"/>
                <a:ea typeface="Georgia" panose="02040502050405090303" pitchFamily="34" charset="-122"/>
                <a:cs typeface="Georgia" panose="02040502050405090303" pitchFamily="34" charset="-120"/>
              </a:rPr>
              <a:t>18</a:t>
            </a:r>
            <a:endParaRPr lang="en-US" sz="2400" dirty="0"/>
          </a:p>
        </p:txBody>
      </p:sp>
      <p:sp>
        <p:nvSpPr>
          <p:cNvPr id="25" name="Text 22"/>
          <p:cNvSpPr/>
          <p:nvPr/>
        </p:nvSpPr>
        <p:spPr>
          <a:xfrm>
            <a:off x="4526280" y="4297680"/>
            <a:ext cx="3246120" cy="320040"/>
          </a:xfrm>
          <a:prstGeom prst="rect">
            <a:avLst/>
          </a:prstGeom>
          <a:noFill/>
        </p:spPr>
        <p:txBody>
          <a:bodyPr wrap="square" lIns="0" tIns="0" rIns="0" bIns="0" rtlCol="0" anchor="ctr"/>
          <a:lstStyle/>
          <a:p>
            <a:pPr marL="0" indent="0">
              <a:buNone/>
            </a:pPr>
            <a:r>
              <a:rPr lang="en-US" sz="1000" dirty="0">
                <a:solidFill>
                  <a:srgbClr val="475569"/>
                </a:solidFill>
                <a:latin typeface="Calibri" pitchFamily="34" charset="0"/>
                <a:ea typeface="Calibri" pitchFamily="34" charset="-122"/>
                <a:cs typeface="Calibri" pitchFamily="34" charset="-120"/>
              </a:rPr>
              <a:t>Intervention rapide en cas de danger</a:t>
            </a:r>
            <a:endParaRPr lang="en-US" sz="1000" dirty="0"/>
          </a:p>
        </p:txBody>
      </p:sp>
      <p:sp>
        <p:nvSpPr>
          <p:cNvPr id="26" name="Shape 23"/>
          <p:cNvSpPr/>
          <p:nvPr/>
        </p:nvSpPr>
        <p:spPr>
          <a:xfrm>
            <a:off x="8046720" y="3337560"/>
            <a:ext cx="3611880" cy="1371600"/>
          </a:xfrm>
          <a:prstGeom prst="rect">
            <a:avLst/>
          </a:prstGeom>
          <a:solidFill>
            <a:srgbClr val="FFFFFF"/>
          </a:solidFill>
          <a:ln w="12700">
            <a:solidFill>
              <a:srgbClr val="E2E8F0"/>
            </a:solidFill>
            <a:prstDash val="solid"/>
          </a:ln>
          <a:effectLst>
            <a:outerShdw blurRad="101600" dist="25400" dir="5400000" algn="bl" rotWithShape="0">
              <a:srgbClr val="000000">
                <a:alpha val="10000"/>
              </a:srgbClr>
            </a:outerShdw>
          </a:effectLst>
        </p:spPr>
      </p:sp>
      <p:sp>
        <p:nvSpPr>
          <p:cNvPr id="27" name="Shape 24"/>
          <p:cNvSpPr/>
          <p:nvPr/>
        </p:nvSpPr>
        <p:spPr>
          <a:xfrm>
            <a:off x="8046720" y="3337560"/>
            <a:ext cx="91440" cy="1371600"/>
          </a:xfrm>
          <a:prstGeom prst="rect">
            <a:avLst/>
          </a:prstGeom>
          <a:solidFill>
            <a:srgbClr val="1565C0"/>
          </a:solidFill>
          <a:ln w="12700">
            <a:solidFill>
              <a:srgbClr val="1565C0"/>
            </a:solidFill>
            <a:prstDash val="solid"/>
          </a:ln>
        </p:spPr>
      </p:sp>
      <p:sp>
        <p:nvSpPr>
          <p:cNvPr id="28" name="Text 25"/>
          <p:cNvSpPr/>
          <p:nvPr/>
        </p:nvSpPr>
        <p:spPr>
          <a:xfrm>
            <a:off x="8275320" y="3474720"/>
            <a:ext cx="3246120" cy="320040"/>
          </a:xfrm>
          <a:prstGeom prst="rect">
            <a:avLst/>
          </a:prstGeom>
          <a:noFill/>
        </p:spPr>
        <p:txBody>
          <a:bodyPr wrap="square" lIns="0" tIns="0" rIns="0" bIns="0" rtlCol="0" anchor="ctr"/>
          <a:lstStyle/>
          <a:p>
            <a:pPr marL="0" indent="0">
              <a:buNone/>
            </a:pPr>
            <a:r>
              <a:rPr lang="en-US" sz="1300" b="1" dirty="0">
                <a:solidFill>
                  <a:srgbClr val="0D47A1"/>
                </a:solidFill>
                <a:latin typeface="Georgia" panose="02040502050405090303" pitchFamily="34" charset="0"/>
                <a:ea typeface="Georgia" panose="02040502050405090303" pitchFamily="34" charset="-122"/>
                <a:cs typeface="Georgia" panose="02040502050405090303" pitchFamily="34" charset="-120"/>
              </a:rPr>
              <a:t>Centre de santé</a:t>
            </a:r>
            <a:endParaRPr lang="en-US" sz="1300" dirty="0"/>
          </a:p>
        </p:txBody>
      </p:sp>
      <p:sp>
        <p:nvSpPr>
          <p:cNvPr id="29" name="Text 26"/>
          <p:cNvSpPr/>
          <p:nvPr/>
        </p:nvSpPr>
        <p:spPr>
          <a:xfrm>
            <a:off x="8275320" y="3794760"/>
            <a:ext cx="3246120" cy="502920"/>
          </a:xfrm>
          <a:prstGeom prst="rect">
            <a:avLst/>
          </a:prstGeom>
          <a:noFill/>
        </p:spPr>
        <p:txBody>
          <a:bodyPr wrap="square" lIns="0" tIns="0" rIns="0" bIns="0" rtlCol="0" anchor="ctr"/>
          <a:lstStyle/>
          <a:p>
            <a:pPr marL="0" indent="0">
              <a:buNone/>
            </a:pPr>
            <a:r>
              <a:rPr lang="en-US" sz="2400" b="1" dirty="0">
                <a:solidFill>
                  <a:srgbClr val="1565C0"/>
                </a:solidFill>
                <a:latin typeface="Georgia" panose="02040502050405090303" pitchFamily="34" charset="0"/>
                <a:ea typeface="Georgia" panose="02040502050405090303" pitchFamily="34" charset="-122"/>
                <a:cs typeface="Georgia" panose="02040502050405090303" pitchFamily="34" charset="-120"/>
              </a:rPr>
              <a:t>+221 80 00 12 34</a:t>
            </a:r>
            <a:endParaRPr lang="en-US" sz="2400" dirty="0"/>
          </a:p>
        </p:txBody>
      </p:sp>
      <p:sp>
        <p:nvSpPr>
          <p:cNvPr id="30" name="Text 27"/>
          <p:cNvSpPr/>
          <p:nvPr/>
        </p:nvSpPr>
        <p:spPr>
          <a:xfrm>
            <a:off x="8275320" y="4297680"/>
            <a:ext cx="3246120" cy="320040"/>
          </a:xfrm>
          <a:prstGeom prst="rect">
            <a:avLst/>
          </a:prstGeom>
          <a:noFill/>
        </p:spPr>
        <p:txBody>
          <a:bodyPr wrap="square" lIns="0" tIns="0" rIns="0" bIns="0" rtlCol="0" anchor="ctr"/>
          <a:lstStyle/>
          <a:p>
            <a:pPr marL="0" indent="0">
              <a:buNone/>
            </a:pPr>
            <a:r>
              <a:rPr lang="en-US" sz="1000" dirty="0">
                <a:solidFill>
                  <a:srgbClr val="475569"/>
                </a:solidFill>
                <a:latin typeface="Calibri" pitchFamily="34" charset="0"/>
                <a:ea typeface="Calibri" pitchFamily="34" charset="-122"/>
                <a:cs typeface="Calibri" pitchFamily="34" charset="-120"/>
              </a:rPr>
              <a:t>Secours médicaux et orientations</a:t>
            </a:r>
            <a:endParaRPr lang="en-US" sz="1000" dirty="0"/>
          </a:p>
        </p:txBody>
      </p:sp>
      <p:sp>
        <p:nvSpPr>
          <p:cNvPr id="31" name="Text 28"/>
          <p:cNvSpPr/>
          <p:nvPr/>
        </p:nvSpPr>
        <p:spPr>
          <a:xfrm>
            <a:off x="548640" y="4892040"/>
            <a:ext cx="11064240" cy="320040"/>
          </a:xfrm>
          <a:prstGeom prst="rect">
            <a:avLst/>
          </a:prstGeom>
          <a:noFill/>
        </p:spPr>
        <p:txBody>
          <a:bodyPr wrap="square" lIns="0" tIns="0" rIns="0" bIns="0" rtlCol="0" anchor="ctr"/>
          <a:lstStyle/>
          <a:p>
            <a:pPr marL="0" indent="0" algn="ctr">
              <a:buNone/>
            </a:pPr>
            <a:r>
              <a:rPr lang="en-US" sz="1100" b="1" kern="0" spc="300" dirty="0">
                <a:solidFill>
                  <a:srgbClr val="1565C0"/>
                </a:solidFill>
                <a:latin typeface="Calibri" pitchFamily="34" charset="0"/>
                <a:ea typeface="Calibri" pitchFamily="34" charset="-122"/>
                <a:cs typeface="Calibri" pitchFamily="34" charset="-120"/>
              </a:rPr>
              <a:t>CONSIGNES DE PRÉVENTION INTÉGRÉES À LA PLATEFORME</a:t>
            </a:r>
            <a:endParaRPr lang="en-US" sz="1100" dirty="0"/>
          </a:p>
        </p:txBody>
      </p:sp>
      <p:sp>
        <p:nvSpPr>
          <p:cNvPr id="32" name="Shape 29"/>
          <p:cNvSpPr/>
          <p:nvPr/>
        </p:nvSpPr>
        <p:spPr>
          <a:xfrm>
            <a:off x="548640" y="5212080"/>
            <a:ext cx="3611880" cy="1417320"/>
          </a:xfrm>
          <a:prstGeom prst="rect">
            <a:avLst/>
          </a:prstGeom>
          <a:solidFill>
            <a:srgbClr val="FFFFFF"/>
          </a:solidFill>
          <a:ln w="12700">
            <a:solidFill>
              <a:srgbClr val="E2E8F0"/>
            </a:solidFill>
            <a:prstDash val="solid"/>
          </a:ln>
        </p:spPr>
      </p:sp>
      <p:sp>
        <p:nvSpPr>
          <p:cNvPr id="33" name="Shape 30"/>
          <p:cNvSpPr/>
          <p:nvPr/>
        </p:nvSpPr>
        <p:spPr>
          <a:xfrm>
            <a:off x="548640" y="5212080"/>
            <a:ext cx="3611880" cy="320040"/>
          </a:xfrm>
          <a:prstGeom prst="rect">
            <a:avLst/>
          </a:prstGeom>
          <a:solidFill>
            <a:srgbClr val="1565C0"/>
          </a:solidFill>
          <a:ln w="12700">
            <a:solidFill>
              <a:srgbClr val="1565C0"/>
            </a:solidFill>
            <a:prstDash val="solid"/>
          </a:ln>
        </p:spPr>
      </p:sp>
      <p:sp>
        <p:nvSpPr>
          <p:cNvPr id="34" name="Text 31"/>
          <p:cNvSpPr/>
          <p:nvPr/>
        </p:nvSpPr>
        <p:spPr>
          <a:xfrm>
            <a:off x="685800" y="5212080"/>
            <a:ext cx="3337560" cy="320040"/>
          </a:xfrm>
          <a:prstGeom prst="rect">
            <a:avLst/>
          </a:prstGeom>
          <a:noFill/>
        </p:spPr>
        <p:txBody>
          <a:bodyPr wrap="square" lIns="0" tIns="0" rIns="0" bIns="0" rtlCol="0" anchor="ctr"/>
          <a:lstStyle/>
          <a:p>
            <a:pPr marL="0" indent="0">
              <a:buNone/>
            </a:pPr>
            <a:r>
              <a:rPr lang="en-US" sz="1100" b="1" kern="0" spc="300" dirty="0">
                <a:solidFill>
                  <a:srgbClr val="FFFFFF"/>
                </a:solidFill>
                <a:latin typeface="Calibri" pitchFamily="34" charset="0"/>
                <a:ea typeface="Calibri" pitchFamily="34" charset="-122"/>
                <a:cs typeface="Calibri" pitchFamily="34" charset="-120"/>
              </a:rPr>
              <a:t>AVANT</a:t>
            </a:r>
            <a:endParaRPr lang="en-US" sz="1100" dirty="0"/>
          </a:p>
        </p:txBody>
      </p:sp>
      <p:sp>
        <p:nvSpPr>
          <p:cNvPr id="35" name="Text 32"/>
          <p:cNvSpPr/>
          <p:nvPr/>
        </p:nvSpPr>
        <p:spPr>
          <a:xfrm>
            <a:off x="777240" y="5623560"/>
            <a:ext cx="3200400" cy="960120"/>
          </a:xfrm>
          <a:prstGeom prst="rect">
            <a:avLst/>
          </a:prstGeom>
          <a:noFill/>
        </p:spPr>
        <p:txBody>
          <a:bodyPr wrap="square" lIns="0" tIns="0" rIns="0" bIns="0" rtlCol="0" anchor="t"/>
          <a:lstStyle/>
          <a:p>
            <a:pPr marL="342900" indent="-342900">
              <a:spcAft>
                <a:spcPts val="200"/>
              </a:spcAft>
              <a:buSzPct val="100000"/>
              <a:buChar char="■"/>
            </a:pPr>
            <a:r>
              <a:rPr lang="en-US" sz="900" dirty="0">
                <a:solidFill>
                  <a:srgbClr val="475569"/>
                </a:solidFill>
                <a:latin typeface="Calibri" pitchFamily="34" charset="0"/>
                <a:ea typeface="Calibri" pitchFamily="34" charset="-122"/>
                <a:cs typeface="Calibri" pitchFamily="34" charset="-120"/>
              </a:rPr>
              <a:t>Suivre alertes Saytu Mbeund</a:t>
            </a:r>
            <a:endParaRPr lang="en-US" sz="900" dirty="0"/>
          </a:p>
          <a:p>
            <a:pPr marL="342900" indent="-342900">
              <a:spcAft>
                <a:spcPts val="200"/>
              </a:spcAft>
              <a:buSzPct val="100000"/>
              <a:buChar char="■"/>
            </a:pPr>
            <a:r>
              <a:rPr lang="en-US" sz="900" dirty="0">
                <a:solidFill>
                  <a:srgbClr val="475569"/>
                </a:solidFill>
                <a:latin typeface="Calibri" pitchFamily="34" charset="0"/>
                <a:ea typeface="Calibri" pitchFamily="34" charset="-122"/>
                <a:cs typeface="Calibri" pitchFamily="34" charset="-120"/>
              </a:rPr>
              <a:t>Préparer kit d'urgence</a:t>
            </a:r>
            <a:endParaRPr lang="en-US" sz="900" dirty="0"/>
          </a:p>
          <a:p>
            <a:pPr marL="342900" indent="-342900">
              <a:spcAft>
                <a:spcPts val="200"/>
              </a:spcAft>
              <a:buSzPct val="100000"/>
              <a:buChar char="■"/>
            </a:pPr>
            <a:r>
              <a:rPr lang="en-US" sz="900" dirty="0">
                <a:solidFill>
                  <a:srgbClr val="475569"/>
                </a:solidFill>
                <a:latin typeface="Calibri" pitchFamily="34" charset="0"/>
                <a:ea typeface="Calibri" pitchFamily="34" charset="-122"/>
                <a:cs typeface="Calibri" pitchFamily="34" charset="-120"/>
              </a:rPr>
              <a:t>Surélever appareils</a:t>
            </a:r>
            <a:endParaRPr lang="en-US" sz="900" dirty="0"/>
          </a:p>
          <a:p>
            <a:pPr marL="342900" indent="-342900">
              <a:spcAft>
                <a:spcPts val="200"/>
              </a:spcAft>
              <a:buSzPct val="100000"/>
              <a:buChar char="■"/>
            </a:pPr>
            <a:r>
              <a:rPr lang="en-US" sz="900" dirty="0">
                <a:solidFill>
                  <a:srgbClr val="475569"/>
                </a:solidFill>
                <a:latin typeface="Calibri" pitchFamily="34" charset="0"/>
                <a:ea typeface="Calibri" pitchFamily="34" charset="-122"/>
                <a:cs typeface="Calibri" pitchFamily="34" charset="-120"/>
              </a:rPr>
              <a:t>Identifier point sécurisé</a:t>
            </a:r>
            <a:endParaRPr lang="en-US" sz="900" dirty="0"/>
          </a:p>
        </p:txBody>
      </p:sp>
      <p:sp>
        <p:nvSpPr>
          <p:cNvPr id="36" name="Shape 33"/>
          <p:cNvSpPr/>
          <p:nvPr/>
        </p:nvSpPr>
        <p:spPr>
          <a:xfrm>
            <a:off x="4297680" y="5212080"/>
            <a:ext cx="3611880" cy="1417320"/>
          </a:xfrm>
          <a:prstGeom prst="rect">
            <a:avLst/>
          </a:prstGeom>
          <a:solidFill>
            <a:srgbClr val="FFFFFF"/>
          </a:solidFill>
          <a:ln w="12700">
            <a:solidFill>
              <a:srgbClr val="E2E8F0"/>
            </a:solidFill>
            <a:prstDash val="solid"/>
          </a:ln>
        </p:spPr>
      </p:sp>
      <p:sp>
        <p:nvSpPr>
          <p:cNvPr id="37" name="Shape 34"/>
          <p:cNvSpPr/>
          <p:nvPr/>
        </p:nvSpPr>
        <p:spPr>
          <a:xfrm>
            <a:off x="4297680" y="5212080"/>
            <a:ext cx="3611880" cy="320040"/>
          </a:xfrm>
          <a:prstGeom prst="rect">
            <a:avLst/>
          </a:prstGeom>
          <a:solidFill>
            <a:srgbClr val="F59E0B"/>
          </a:solidFill>
          <a:ln w="12700">
            <a:solidFill>
              <a:srgbClr val="F59E0B"/>
            </a:solidFill>
            <a:prstDash val="solid"/>
          </a:ln>
        </p:spPr>
      </p:sp>
      <p:sp>
        <p:nvSpPr>
          <p:cNvPr id="38" name="Text 35"/>
          <p:cNvSpPr/>
          <p:nvPr/>
        </p:nvSpPr>
        <p:spPr>
          <a:xfrm>
            <a:off x="4434840" y="5212080"/>
            <a:ext cx="3337560" cy="320040"/>
          </a:xfrm>
          <a:prstGeom prst="rect">
            <a:avLst/>
          </a:prstGeom>
          <a:noFill/>
        </p:spPr>
        <p:txBody>
          <a:bodyPr wrap="square" lIns="0" tIns="0" rIns="0" bIns="0" rtlCol="0" anchor="ctr"/>
          <a:lstStyle/>
          <a:p>
            <a:pPr marL="0" indent="0">
              <a:buNone/>
            </a:pPr>
            <a:r>
              <a:rPr lang="en-US" sz="1100" b="1" kern="0" spc="300" dirty="0">
                <a:solidFill>
                  <a:srgbClr val="FFFFFF"/>
                </a:solidFill>
                <a:latin typeface="Calibri" pitchFamily="34" charset="0"/>
                <a:ea typeface="Calibri" pitchFamily="34" charset="-122"/>
                <a:cs typeface="Calibri" pitchFamily="34" charset="-120"/>
              </a:rPr>
              <a:t>PENDANT</a:t>
            </a:r>
            <a:endParaRPr lang="en-US" sz="1100" dirty="0"/>
          </a:p>
        </p:txBody>
      </p:sp>
      <p:sp>
        <p:nvSpPr>
          <p:cNvPr id="39" name="Text 36"/>
          <p:cNvSpPr/>
          <p:nvPr/>
        </p:nvSpPr>
        <p:spPr>
          <a:xfrm>
            <a:off x="4526280" y="5623560"/>
            <a:ext cx="3200400" cy="960120"/>
          </a:xfrm>
          <a:prstGeom prst="rect">
            <a:avLst/>
          </a:prstGeom>
          <a:noFill/>
        </p:spPr>
        <p:txBody>
          <a:bodyPr wrap="square" lIns="0" tIns="0" rIns="0" bIns="0" rtlCol="0" anchor="t"/>
          <a:lstStyle/>
          <a:p>
            <a:pPr marL="342900" indent="-342900">
              <a:spcAft>
                <a:spcPts val="200"/>
              </a:spcAft>
              <a:buSzPct val="100000"/>
              <a:buChar char="■"/>
            </a:pPr>
            <a:r>
              <a:rPr lang="en-US" sz="900" dirty="0">
                <a:solidFill>
                  <a:srgbClr val="475569"/>
                </a:solidFill>
                <a:latin typeface="Calibri" pitchFamily="34" charset="0"/>
                <a:ea typeface="Calibri" pitchFamily="34" charset="-122"/>
                <a:cs typeface="Calibri" pitchFamily="34" charset="-120"/>
              </a:rPr>
              <a:t>Couper l'électricité</a:t>
            </a:r>
            <a:endParaRPr lang="en-US" sz="900" dirty="0"/>
          </a:p>
          <a:p>
            <a:pPr marL="342900" indent="-342900">
              <a:spcAft>
                <a:spcPts val="200"/>
              </a:spcAft>
              <a:buSzPct val="100000"/>
              <a:buChar char="■"/>
            </a:pPr>
            <a:r>
              <a:rPr lang="en-US" sz="900" dirty="0">
                <a:solidFill>
                  <a:srgbClr val="475569"/>
                </a:solidFill>
                <a:latin typeface="Calibri" pitchFamily="34" charset="0"/>
                <a:ea typeface="Calibri" pitchFamily="34" charset="-122"/>
                <a:cs typeface="Calibri" pitchFamily="34" charset="-120"/>
              </a:rPr>
              <a:t>Ne pas traverser zones inondées</a:t>
            </a:r>
            <a:endParaRPr lang="en-US" sz="900" dirty="0"/>
          </a:p>
          <a:p>
            <a:pPr marL="342900" indent="-342900">
              <a:spcAft>
                <a:spcPts val="200"/>
              </a:spcAft>
              <a:buSzPct val="100000"/>
              <a:buChar char="■"/>
            </a:pPr>
            <a:r>
              <a:rPr lang="en-US" sz="900" dirty="0">
                <a:solidFill>
                  <a:srgbClr val="475569"/>
                </a:solidFill>
                <a:latin typeface="Calibri" pitchFamily="34" charset="0"/>
                <a:ea typeface="Calibri" pitchFamily="34" charset="-122"/>
                <a:cs typeface="Calibri" pitchFamily="34" charset="-120"/>
              </a:rPr>
              <a:t>Aider personnes vulnérables</a:t>
            </a:r>
            <a:endParaRPr lang="en-US" sz="900" dirty="0"/>
          </a:p>
          <a:p>
            <a:pPr marL="342900" indent="-342900">
              <a:spcAft>
                <a:spcPts val="200"/>
              </a:spcAft>
              <a:buSzPct val="100000"/>
              <a:buChar char="■"/>
            </a:pPr>
            <a:r>
              <a:rPr lang="en-US" sz="900" dirty="0">
                <a:solidFill>
                  <a:srgbClr val="475569"/>
                </a:solidFill>
                <a:latin typeface="Calibri" pitchFamily="34" charset="0"/>
                <a:ea typeface="Calibri" pitchFamily="34" charset="-122"/>
                <a:cs typeface="Calibri" pitchFamily="34" charset="-120"/>
              </a:rPr>
              <a:t>Contacter les secours</a:t>
            </a:r>
            <a:endParaRPr lang="en-US" sz="900" dirty="0"/>
          </a:p>
        </p:txBody>
      </p:sp>
      <p:sp>
        <p:nvSpPr>
          <p:cNvPr id="40" name="Shape 37"/>
          <p:cNvSpPr/>
          <p:nvPr/>
        </p:nvSpPr>
        <p:spPr>
          <a:xfrm>
            <a:off x="8046720" y="5212080"/>
            <a:ext cx="3611880" cy="1417320"/>
          </a:xfrm>
          <a:prstGeom prst="rect">
            <a:avLst/>
          </a:prstGeom>
          <a:solidFill>
            <a:srgbClr val="FFFFFF"/>
          </a:solidFill>
          <a:ln w="12700">
            <a:solidFill>
              <a:srgbClr val="E2E8F0"/>
            </a:solidFill>
            <a:prstDash val="solid"/>
          </a:ln>
        </p:spPr>
      </p:sp>
      <p:sp>
        <p:nvSpPr>
          <p:cNvPr id="41" name="Shape 38"/>
          <p:cNvSpPr/>
          <p:nvPr/>
        </p:nvSpPr>
        <p:spPr>
          <a:xfrm>
            <a:off x="8046720" y="5212080"/>
            <a:ext cx="3611880" cy="320040"/>
          </a:xfrm>
          <a:prstGeom prst="rect">
            <a:avLst/>
          </a:prstGeom>
          <a:solidFill>
            <a:srgbClr val="059669"/>
          </a:solidFill>
          <a:ln w="12700">
            <a:solidFill>
              <a:srgbClr val="059669"/>
            </a:solidFill>
            <a:prstDash val="solid"/>
          </a:ln>
        </p:spPr>
      </p:sp>
      <p:sp>
        <p:nvSpPr>
          <p:cNvPr id="42" name="Text 39"/>
          <p:cNvSpPr/>
          <p:nvPr/>
        </p:nvSpPr>
        <p:spPr>
          <a:xfrm>
            <a:off x="8183880" y="5212080"/>
            <a:ext cx="3337560" cy="320040"/>
          </a:xfrm>
          <a:prstGeom prst="rect">
            <a:avLst/>
          </a:prstGeom>
          <a:noFill/>
        </p:spPr>
        <p:txBody>
          <a:bodyPr wrap="square" lIns="0" tIns="0" rIns="0" bIns="0" rtlCol="0" anchor="ctr"/>
          <a:lstStyle/>
          <a:p>
            <a:pPr marL="0" indent="0">
              <a:buNone/>
            </a:pPr>
            <a:r>
              <a:rPr lang="en-US" sz="1100" b="1" kern="0" spc="300" dirty="0">
                <a:solidFill>
                  <a:srgbClr val="FFFFFF"/>
                </a:solidFill>
                <a:latin typeface="Calibri" pitchFamily="34" charset="0"/>
                <a:ea typeface="Calibri" pitchFamily="34" charset="-122"/>
                <a:cs typeface="Calibri" pitchFamily="34" charset="-120"/>
              </a:rPr>
              <a:t>APRÈS</a:t>
            </a:r>
            <a:endParaRPr lang="en-US" sz="1100" dirty="0"/>
          </a:p>
        </p:txBody>
      </p:sp>
      <p:sp>
        <p:nvSpPr>
          <p:cNvPr id="43" name="Text 40"/>
          <p:cNvSpPr/>
          <p:nvPr/>
        </p:nvSpPr>
        <p:spPr>
          <a:xfrm>
            <a:off x="8275320" y="5623560"/>
            <a:ext cx="3200400" cy="960120"/>
          </a:xfrm>
          <a:prstGeom prst="rect">
            <a:avLst/>
          </a:prstGeom>
          <a:noFill/>
        </p:spPr>
        <p:txBody>
          <a:bodyPr wrap="square" lIns="0" tIns="0" rIns="0" bIns="0" rtlCol="0" anchor="t"/>
          <a:lstStyle/>
          <a:p>
            <a:pPr marL="342900" indent="-342900">
              <a:spcAft>
                <a:spcPts val="200"/>
              </a:spcAft>
              <a:buSzPct val="100000"/>
              <a:buChar char="■"/>
            </a:pPr>
            <a:r>
              <a:rPr lang="en-US" sz="900" dirty="0">
                <a:solidFill>
                  <a:srgbClr val="475569"/>
                </a:solidFill>
                <a:latin typeface="Calibri" pitchFamily="34" charset="0"/>
                <a:ea typeface="Calibri" pitchFamily="34" charset="-122"/>
                <a:cs typeface="Calibri" pitchFamily="34" charset="-120"/>
              </a:rPr>
              <a:t>Attendre autorisation officielle</a:t>
            </a:r>
            <a:endParaRPr lang="en-US" sz="900" dirty="0"/>
          </a:p>
          <a:p>
            <a:pPr marL="342900" indent="-342900">
              <a:spcAft>
                <a:spcPts val="200"/>
              </a:spcAft>
              <a:buSzPct val="100000"/>
              <a:buChar char="■"/>
            </a:pPr>
            <a:r>
              <a:rPr lang="en-US" sz="900" dirty="0">
                <a:solidFill>
                  <a:srgbClr val="475569"/>
                </a:solidFill>
                <a:latin typeface="Calibri" pitchFamily="34" charset="0"/>
                <a:ea typeface="Calibri" pitchFamily="34" charset="-122"/>
                <a:cs typeface="Calibri" pitchFamily="34" charset="-120"/>
              </a:rPr>
              <a:t>Porter gants &amp; bottes</a:t>
            </a:r>
            <a:endParaRPr lang="en-US" sz="900" dirty="0"/>
          </a:p>
          <a:p>
            <a:pPr marL="342900" indent="-342900">
              <a:spcAft>
                <a:spcPts val="200"/>
              </a:spcAft>
              <a:buSzPct val="100000"/>
              <a:buChar char="■"/>
            </a:pPr>
            <a:r>
              <a:rPr lang="en-US" sz="900" dirty="0">
                <a:solidFill>
                  <a:srgbClr val="475569"/>
                </a:solidFill>
                <a:latin typeface="Calibri" pitchFamily="34" charset="0"/>
                <a:ea typeface="Calibri" pitchFamily="34" charset="-122"/>
                <a:cs typeface="Calibri" pitchFamily="34" charset="-120"/>
              </a:rPr>
              <a:t>Aérer &amp; vérifier murs</a:t>
            </a:r>
            <a:endParaRPr lang="en-US" sz="900" dirty="0"/>
          </a:p>
          <a:p>
            <a:pPr marL="342900" indent="-342900">
              <a:spcAft>
                <a:spcPts val="200"/>
              </a:spcAft>
              <a:buSzPct val="100000"/>
              <a:buChar char="■"/>
            </a:pPr>
            <a:r>
              <a:rPr lang="en-US" sz="900" dirty="0">
                <a:solidFill>
                  <a:srgbClr val="475569"/>
                </a:solidFill>
                <a:latin typeface="Calibri" pitchFamily="34" charset="0"/>
                <a:ea typeface="Calibri" pitchFamily="34" charset="-122"/>
                <a:cs typeface="Calibri" pitchFamily="34" charset="-120"/>
              </a:rPr>
              <a:t>Déclarer sinistres</a:t>
            </a:r>
            <a:endParaRPr lang="en-US" sz="900" dirty="0"/>
          </a:p>
        </p:txBody>
      </p:sp>
      <p:sp>
        <p:nvSpPr>
          <p:cNvPr id="44" name="Shape 41"/>
          <p:cNvSpPr/>
          <p:nvPr/>
        </p:nvSpPr>
        <p:spPr>
          <a:xfrm>
            <a:off x="0" y="6537960"/>
            <a:ext cx="12161520" cy="320040"/>
          </a:xfrm>
          <a:prstGeom prst="rect">
            <a:avLst/>
          </a:prstGeom>
          <a:solidFill>
            <a:srgbClr val="0D47A1"/>
          </a:solidFill>
          <a:ln w="12700">
            <a:solidFill>
              <a:srgbClr val="0D47A1"/>
            </a:solidFill>
            <a:prstDash val="solid"/>
          </a:ln>
        </p:spPr>
      </p:sp>
      <p:sp>
        <p:nvSpPr>
          <p:cNvPr id="45" name="Text 42"/>
          <p:cNvSpPr/>
          <p:nvPr/>
        </p:nvSpPr>
        <p:spPr>
          <a:xfrm>
            <a:off x="457200" y="6537960"/>
            <a:ext cx="7315200" cy="320040"/>
          </a:xfrm>
          <a:prstGeom prst="rect">
            <a:avLst/>
          </a:prstGeom>
          <a:noFill/>
        </p:spPr>
        <p:txBody>
          <a:bodyPr wrap="square" lIns="0" tIns="0" rIns="0" bIns="0" rtlCol="0" anchor="ctr"/>
          <a:lstStyle/>
          <a:p>
            <a:pPr marL="0" indent="0" algn="l">
              <a:buNone/>
            </a:pPr>
            <a:r>
              <a:rPr lang="en-US" sz="900" dirty="0">
                <a:solidFill>
                  <a:srgbClr val="F8FAFC"/>
                </a:solidFill>
                <a:latin typeface="Calibri" pitchFamily="34" charset="0"/>
                <a:ea typeface="Calibri" pitchFamily="34" charset="-122"/>
                <a:cs typeface="Calibri" pitchFamily="34" charset="-120"/>
              </a:rPr>
              <a:t>Saytu Mbeund  ·  FloodGuardAI  ·  flood.yaataldigital.com</a:t>
            </a:r>
            <a:endParaRPr lang="en-US" sz="900" dirty="0"/>
          </a:p>
        </p:txBody>
      </p:sp>
      <p:sp>
        <p:nvSpPr>
          <p:cNvPr id="46" name="Text 43"/>
          <p:cNvSpPr/>
          <p:nvPr/>
        </p:nvSpPr>
        <p:spPr>
          <a:xfrm>
            <a:off x="8503920" y="6537960"/>
            <a:ext cx="2286000" cy="320040"/>
          </a:xfrm>
          <a:prstGeom prst="rect">
            <a:avLst/>
          </a:prstGeom>
          <a:noFill/>
        </p:spPr>
        <p:txBody>
          <a:bodyPr wrap="square" lIns="0" tIns="0" rIns="0" bIns="0" rtlCol="0" anchor="ctr"/>
          <a:lstStyle/>
          <a:p>
            <a:pPr marL="0" indent="0" algn="r">
              <a:buNone/>
            </a:pPr>
            <a:r>
              <a:rPr lang="en-US" sz="900" i="1" dirty="0">
                <a:solidFill>
                  <a:srgbClr val="F59E0B"/>
                </a:solidFill>
                <a:latin typeface="Calibri" pitchFamily="34" charset="0"/>
                <a:ea typeface="Calibri" pitchFamily="34" charset="-122"/>
                <a:cs typeface="Calibri" pitchFamily="34" charset="-120"/>
              </a:rPr>
              <a:t>▸ ADAMA</a:t>
            </a:r>
            <a:endParaRPr lang="en-US" sz="900" dirty="0"/>
          </a:p>
        </p:txBody>
      </p:sp>
      <p:sp>
        <p:nvSpPr>
          <p:cNvPr id="47" name="Text 44"/>
          <p:cNvSpPr/>
          <p:nvPr/>
        </p:nvSpPr>
        <p:spPr>
          <a:xfrm>
            <a:off x="11064240" y="6537960"/>
            <a:ext cx="640080" cy="320040"/>
          </a:xfrm>
          <a:prstGeom prst="rect">
            <a:avLst/>
          </a:prstGeom>
          <a:noFill/>
        </p:spPr>
        <p:txBody>
          <a:bodyPr wrap="square" lIns="0" tIns="0" rIns="0" bIns="0" rtlCol="0" anchor="ctr"/>
          <a:lstStyle/>
          <a:p>
            <a:pPr marL="0" indent="0" algn="r">
              <a:buNone/>
            </a:pPr>
            <a:r>
              <a:rPr lang="en-US" sz="900" dirty="0">
                <a:solidFill>
                  <a:srgbClr val="F8FAFC"/>
                </a:solidFill>
                <a:latin typeface="Calibri" pitchFamily="34" charset="0"/>
                <a:ea typeface="Calibri" pitchFamily="34" charset="-122"/>
                <a:cs typeface="Calibri" pitchFamily="34" charset="-120"/>
              </a:rPr>
              <a:t>9 / 12</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548640" y="411480"/>
            <a:ext cx="7315200" cy="320040"/>
          </a:xfrm>
          <a:prstGeom prst="rect">
            <a:avLst/>
          </a:prstGeom>
          <a:noFill/>
        </p:spPr>
        <p:txBody>
          <a:bodyPr wrap="square" lIns="0" tIns="0" rIns="0" bIns="0" rtlCol="0" anchor="ctr"/>
          <a:lstStyle/>
          <a:p>
            <a:pPr marL="0" indent="0">
              <a:buNone/>
            </a:pPr>
            <a:r>
              <a:rPr lang="en-US" sz="1100" b="1" kern="0" spc="400" dirty="0">
                <a:solidFill>
                  <a:srgbClr val="1565C0"/>
                </a:solidFill>
                <a:latin typeface="Calibri" pitchFamily="34" charset="0"/>
                <a:ea typeface="Calibri" pitchFamily="34" charset="-122"/>
                <a:cs typeface="Calibri" pitchFamily="34" charset="-120"/>
              </a:rPr>
              <a:t>FEUILLE DE ROUTE</a:t>
            </a:r>
            <a:endParaRPr lang="en-US" sz="1100" dirty="0"/>
          </a:p>
        </p:txBody>
      </p:sp>
      <p:sp>
        <p:nvSpPr>
          <p:cNvPr id="3" name="Text 1"/>
          <p:cNvSpPr/>
          <p:nvPr/>
        </p:nvSpPr>
        <p:spPr>
          <a:xfrm>
            <a:off x="548640" y="713232"/>
            <a:ext cx="10058400" cy="777240"/>
          </a:xfrm>
          <a:prstGeom prst="rect">
            <a:avLst/>
          </a:prstGeom>
          <a:noFill/>
        </p:spPr>
        <p:txBody>
          <a:bodyPr wrap="square" lIns="0" tIns="0" rIns="0" bIns="0" rtlCol="0" anchor="ctr"/>
          <a:lstStyle/>
          <a:p>
            <a:pPr marL="0" indent="0">
              <a:buNone/>
            </a:pPr>
            <a:r>
              <a:rPr lang="en-US" sz="3000" b="1" dirty="0">
                <a:solidFill>
                  <a:srgbClr val="0D47A1"/>
                </a:solidFill>
                <a:latin typeface="Georgia" panose="02040502050405090303" pitchFamily="34" charset="0"/>
                <a:ea typeface="Georgia" panose="02040502050405090303" pitchFamily="34" charset="-122"/>
                <a:cs typeface="Georgia" panose="02040502050405090303" pitchFamily="34" charset="-120"/>
              </a:rPr>
              <a:t>Du prototype validé au déploiement national</a:t>
            </a:r>
            <a:endParaRPr lang="en-US" sz="3000" dirty="0"/>
          </a:p>
        </p:txBody>
      </p:sp>
      <p:sp>
        <p:nvSpPr>
          <p:cNvPr id="4" name="Shape 2"/>
          <p:cNvSpPr/>
          <p:nvPr/>
        </p:nvSpPr>
        <p:spPr>
          <a:xfrm>
            <a:off x="548640" y="1517904"/>
            <a:ext cx="164592" cy="164592"/>
          </a:xfrm>
          <a:prstGeom prst="ellipse">
            <a:avLst/>
          </a:prstGeom>
          <a:solidFill>
            <a:srgbClr val="F59E0B"/>
          </a:solidFill>
          <a:ln w="12700">
            <a:solidFill>
              <a:srgbClr val="F59E0B"/>
            </a:solidFill>
            <a:prstDash val="solid"/>
          </a:ln>
        </p:spPr>
      </p:sp>
      <p:sp>
        <p:nvSpPr>
          <p:cNvPr id="5" name="Shape 3"/>
          <p:cNvSpPr/>
          <p:nvPr/>
        </p:nvSpPr>
        <p:spPr>
          <a:xfrm>
            <a:off x="777240" y="1517904"/>
            <a:ext cx="164592" cy="164592"/>
          </a:xfrm>
          <a:prstGeom prst="ellipse">
            <a:avLst/>
          </a:prstGeom>
          <a:solidFill>
            <a:srgbClr val="1565C0"/>
          </a:solidFill>
          <a:ln w="12700">
            <a:solidFill>
              <a:srgbClr val="1565C0"/>
            </a:solidFill>
            <a:prstDash val="solid"/>
          </a:ln>
        </p:spPr>
      </p:sp>
      <p:sp>
        <p:nvSpPr>
          <p:cNvPr id="6" name="Shape 4"/>
          <p:cNvSpPr/>
          <p:nvPr/>
        </p:nvSpPr>
        <p:spPr>
          <a:xfrm>
            <a:off x="1005840" y="1517904"/>
            <a:ext cx="164592" cy="164592"/>
          </a:xfrm>
          <a:prstGeom prst="ellipse">
            <a:avLst/>
          </a:prstGeom>
          <a:solidFill>
            <a:srgbClr val="E2E8F0"/>
          </a:solidFill>
          <a:ln w="12700">
            <a:solidFill>
              <a:srgbClr val="E2E8F0"/>
            </a:solidFill>
            <a:prstDash val="solid"/>
          </a:ln>
        </p:spPr>
      </p:sp>
      <p:sp>
        <p:nvSpPr>
          <p:cNvPr id="7" name="Shape 5"/>
          <p:cNvSpPr/>
          <p:nvPr/>
        </p:nvSpPr>
        <p:spPr>
          <a:xfrm>
            <a:off x="9692640" y="411480"/>
            <a:ext cx="1920240" cy="411480"/>
          </a:xfrm>
          <a:prstGeom prst="roundRect">
            <a:avLst>
              <a:gd name="adj" fmla="val 11111"/>
            </a:avLst>
          </a:prstGeom>
          <a:solidFill>
            <a:srgbClr val="0891B2"/>
          </a:solidFill>
          <a:ln w="12700">
            <a:solidFill>
              <a:srgbClr val="0891B2"/>
            </a:solidFill>
            <a:prstDash val="solid"/>
          </a:ln>
        </p:spPr>
      </p:sp>
      <p:sp>
        <p:nvSpPr>
          <p:cNvPr id="8" name="Text 6"/>
          <p:cNvSpPr/>
          <p:nvPr/>
        </p:nvSpPr>
        <p:spPr>
          <a:xfrm>
            <a:off x="9692640" y="411480"/>
            <a:ext cx="1920240" cy="411480"/>
          </a:xfrm>
          <a:prstGeom prst="rect">
            <a:avLst/>
          </a:prstGeom>
          <a:noFill/>
        </p:spPr>
        <p:txBody>
          <a:bodyPr wrap="square" lIns="0" tIns="0" rIns="0" bIns="0" rtlCol="0" anchor="ctr"/>
          <a:lstStyle/>
          <a:p>
            <a:pPr marL="0" indent="0" algn="ctr">
              <a:buNone/>
            </a:pPr>
            <a:r>
              <a:rPr lang="en-US" sz="1000" b="1" kern="0" spc="200" dirty="0">
                <a:solidFill>
                  <a:srgbClr val="FFFFFF"/>
                </a:solidFill>
                <a:latin typeface="Calibri" pitchFamily="34" charset="0"/>
                <a:ea typeface="Calibri" pitchFamily="34" charset="-122"/>
                <a:cs typeface="Calibri" pitchFamily="34" charset="-120"/>
              </a:rPr>
              <a:t>ADAMA  ·  STRATÉGIE</a:t>
            </a:r>
            <a:endParaRPr lang="en-US" sz="1000" dirty="0"/>
          </a:p>
        </p:txBody>
      </p:sp>
      <p:sp>
        <p:nvSpPr>
          <p:cNvPr id="9" name="Text 7"/>
          <p:cNvSpPr/>
          <p:nvPr/>
        </p:nvSpPr>
        <p:spPr>
          <a:xfrm>
            <a:off x="548640" y="1920240"/>
            <a:ext cx="11064240" cy="457200"/>
          </a:xfrm>
          <a:prstGeom prst="rect">
            <a:avLst/>
          </a:prstGeom>
          <a:noFill/>
        </p:spPr>
        <p:txBody>
          <a:bodyPr wrap="square" lIns="0" tIns="0" rIns="0" bIns="0" rtlCol="0" anchor="ctr"/>
          <a:lstStyle/>
          <a:p>
            <a:pPr marL="0" indent="0">
              <a:buNone/>
            </a:pPr>
            <a:r>
              <a:rPr lang="en-US" sz="1300" i="1" dirty="0">
                <a:solidFill>
                  <a:srgbClr val="475569"/>
                </a:solidFill>
                <a:latin typeface="Calibri" pitchFamily="34" charset="0"/>
                <a:ea typeface="Calibri" pitchFamily="34" charset="-122"/>
                <a:cs typeface="Calibri" pitchFamily="34" charset="-120"/>
              </a:rPr>
              <a:t>Une trajectoire en quatre phases, pilotée conjointement avec la Direction de la Prévention et de la Gestion des Inondations.</a:t>
            </a:r>
            <a:endParaRPr lang="en-US" sz="1300" dirty="0"/>
          </a:p>
        </p:txBody>
      </p:sp>
      <p:sp>
        <p:nvSpPr>
          <p:cNvPr id="10" name="Shape 8"/>
          <p:cNvSpPr/>
          <p:nvPr/>
        </p:nvSpPr>
        <p:spPr>
          <a:xfrm>
            <a:off x="822960" y="2926080"/>
            <a:ext cx="10515600" cy="54864"/>
          </a:xfrm>
          <a:prstGeom prst="rect">
            <a:avLst/>
          </a:prstGeom>
          <a:solidFill>
            <a:srgbClr val="E2E8F0"/>
          </a:solidFill>
          <a:ln w="12700">
            <a:solidFill>
              <a:srgbClr val="E2E8F0"/>
            </a:solidFill>
            <a:prstDash val="solid"/>
          </a:ln>
        </p:spPr>
      </p:sp>
      <p:sp>
        <p:nvSpPr>
          <p:cNvPr id="11" name="Shape 9"/>
          <p:cNvSpPr/>
          <p:nvPr/>
        </p:nvSpPr>
        <p:spPr>
          <a:xfrm>
            <a:off x="1938528" y="2816352"/>
            <a:ext cx="274320" cy="274320"/>
          </a:xfrm>
          <a:prstGeom prst="ellipse">
            <a:avLst/>
          </a:prstGeom>
          <a:solidFill>
            <a:srgbClr val="F59E0B"/>
          </a:solidFill>
          <a:ln w="25400">
            <a:solidFill>
              <a:srgbClr val="FFFFFF"/>
            </a:solidFill>
            <a:prstDash val="solid"/>
          </a:ln>
        </p:spPr>
      </p:sp>
      <p:sp>
        <p:nvSpPr>
          <p:cNvPr id="12" name="Shape 10"/>
          <p:cNvSpPr/>
          <p:nvPr/>
        </p:nvSpPr>
        <p:spPr>
          <a:xfrm>
            <a:off x="822960" y="3246120"/>
            <a:ext cx="2560320" cy="1828800"/>
          </a:xfrm>
          <a:prstGeom prst="rect">
            <a:avLst/>
          </a:prstGeom>
          <a:solidFill>
            <a:srgbClr val="FFFFFF"/>
          </a:solidFill>
          <a:ln w="12700">
            <a:solidFill>
              <a:srgbClr val="E2E8F0"/>
            </a:solidFill>
            <a:prstDash val="solid"/>
          </a:ln>
          <a:effectLst>
            <a:outerShdw blurRad="101600" dist="25400" dir="5400000" algn="bl" rotWithShape="0">
              <a:srgbClr val="000000">
                <a:alpha val="10000"/>
              </a:srgbClr>
            </a:outerShdw>
          </a:effectLst>
        </p:spPr>
      </p:sp>
      <p:sp>
        <p:nvSpPr>
          <p:cNvPr id="13" name="Shape 11"/>
          <p:cNvSpPr/>
          <p:nvPr/>
        </p:nvSpPr>
        <p:spPr>
          <a:xfrm>
            <a:off x="822960" y="3246120"/>
            <a:ext cx="2560320" cy="54864"/>
          </a:xfrm>
          <a:prstGeom prst="rect">
            <a:avLst/>
          </a:prstGeom>
          <a:solidFill>
            <a:srgbClr val="F59E0B"/>
          </a:solidFill>
          <a:ln w="12700">
            <a:solidFill>
              <a:srgbClr val="F59E0B"/>
            </a:solidFill>
            <a:prstDash val="solid"/>
          </a:ln>
        </p:spPr>
      </p:sp>
      <p:sp>
        <p:nvSpPr>
          <p:cNvPr id="14" name="Text 12"/>
          <p:cNvSpPr/>
          <p:nvPr/>
        </p:nvSpPr>
        <p:spPr>
          <a:xfrm>
            <a:off x="960120" y="3383280"/>
            <a:ext cx="2286000" cy="274320"/>
          </a:xfrm>
          <a:prstGeom prst="rect">
            <a:avLst/>
          </a:prstGeom>
          <a:noFill/>
        </p:spPr>
        <p:txBody>
          <a:bodyPr wrap="square" lIns="0" tIns="0" rIns="0" bIns="0" rtlCol="0" anchor="ctr"/>
          <a:lstStyle/>
          <a:p>
            <a:pPr marL="0" indent="0">
              <a:buNone/>
            </a:pPr>
            <a:r>
              <a:rPr lang="en-US" sz="900" b="1" kern="0" spc="300" dirty="0">
                <a:solidFill>
                  <a:srgbClr val="F59E0B"/>
                </a:solidFill>
                <a:latin typeface="Calibri" pitchFamily="34" charset="0"/>
                <a:ea typeface="Calibri" pitchFamily="34" charset="-122"/>
                <a:cs typeface="Calibri" pitchFamily="34" charset="-120"/>
              </a:rPr>
              <a:t>PHASE 1</a:t>
            </a:r>
            <a:endParaRPr lang="en-US" sz="900" dirty="0"/>
          </a:p>
        </p:txBody>
      </p:sp>
      <p:sp>
        <p:nvSpPr>
          <p:cNvPr id="15" name="Text 13"/>
          <p:cNvSpPr/>
          <p:nvPr/>
        </p:nvSpPr>
        <p:spPr>
          <a:xfrm>
            <a:off x="960120" y="3657600"/>
            <a:ext cx="2286000" cy="365760"/>
          </a:xfrm>
          <a:prstGeom prst="rect">
            <a:avLst/>
          </a:prstGeom>
          <a:noFill/>
        </p:spPr>
        <p:txBody>
          <a:bodyPr wrap="square" lIns="0" tIns="0" rIns="0" bIns="0" rtlCol="0" anchor="ctr"/>
          <a:lstStyle/>
          <a:p>
            <a:pPr marL="0" indent="0">
              <a:buNone/>
            </a:pPr>
            <a:r>
              <a:rPr lang="en-US" sz="1600" b="1" dirty="0">
                <a:solidFill>
                  <a:srgbClr val="0D47A1"/>
                </a:solidFill>
                <a:latin typeface="Georgia" panose="02040502050405090303" pitchFamily="34" charset="0"/>
                <a:ea typeface="Georgia" panose="02040502050405090303" pitchFamily="34" charset="-122"/>
                <a:cs typeface="Georgia" panose="02040502050405090303" pitchFamily="34" charset="-120"/>
              </a:rPr>
              <a:t>Cadrage</a:t>
            </a:r>
            <a:endParaRPr lang="en-US" sz="1600" dirty="0"/>
          </a:p>
        </p:txBody>
      </p:sp>
      <p:sp>
        <p:nvSpPr>
          <p:cNvPr id="16" name="Text 14"/>
          <p:cNvSpPr/>
          <p:nvPr/>
        </p:nvSpPr>
        <p:spPr>
          <a:xfrm>
            <a:off x="960120" y="4023360"/>
            <a:ext cx="2286000" cy="274320"/>
          </a:xfrm>
          <a:prstGeom prst="rect">
            <a:avLst/>
          </a:prstGeom>
          <a:noFill/>
        </p:spPr>
        <p:txBody>
          <a:bodyPr wrap="square" lIns="0" tIns="0" rIns="0" bIns="0" rtlCol="0" anchor="ctr"/>
          <a:lstStyle/>
          <a:p>
            <a:pPr marL="0" indent="0">
              <a:buNone/>
            </a:pPr>
            <a:r>
              <a:rPr lang="en-US" sz="1000" i="1" dirty="0">
                <a:solidFill>
                  <a:srgbClr val="94A3B8"/>
                </a:solidFill>
                <a:latin typeface="Calibri" pitchFamily="34" charset="0"/>
                <a:ea typeface="Calibri" pitchFamily="34" charset="-122"/>
                <a:cs typeface="Calibri" pitchFamily="34" charset="-120"/>
              </a:rPr>
              <a:t>0-3 mois</a:t>
            </a:r>
            <a:endParaRPr lang="en-US" sz="1000" dirty="0"/>
          </a:p>
        </p:txBody>
      </p:sp>
      <p:sp>
        <p:nvSpPr>
          <p:cNvPr id="17" name="Text 15"/>
          <p:cNvSpPr/>
          <p:nvPr/>
        </p:nvSpPr>
        <p:spPr>
          <a:xfrm>
            <a:off x="960120" y="4297680"/>
            <a:ext cx="2286000" cy="777240"/>
          </a:xfrm>
          <a:prstGeom prst="rect">
            <a:avLst/>
          </a:prstGeom>
          <a:noFill/>
        </p:spPr>
        <p:txBody>
          <a:bodyPr wrap="square" lIns="0" tIns="0" rIns="0" bIns="0" rtlCol="0" anchor="ctr"/>
          <a:lstStyle/>
          <a:p>
            <a:pPr marL="0" indent="0">
              <a:buNone/>
            </a:pPr>
            <a:r>
              <a:rPr lang="en-US" sz="1000" dirty="0">
                <a:solidFill>
                  <a:srgbClr val="475569"/>
                </a:solidFill>
                <a:latin typeface="Calibri" pitchFamily="34" charset="0"/>
                <a:ea typeface="Calibri" pitchFamily="34" charset="-122"/>
                <a:cs typeface="Calibri" pitchFamily="34" charset="-120"/>
              </a:rPr>
              <a:t>Convention de partenariat avec la DPGI · accès aux historiques de sinistres · choix d'un quartier pilote</a:t>
            </a:r>
            <a:endParaRPr lang="en-US" sz="1000" dirty="0"/>
          </a:p>
        </p:txBody>
      </p:sp>
      <p:sp>
        <p:nvSpPr>
          <p:cNvPr id="18" name="Shape 16"/>
          <p:cNvSpPr/>
          <p:nvPr/>
        </p:nvSpPr>
        <p:spPr>
          <a:xfrm>
            <a:off x="4590288" y="2816352"/>
            <a:ext cx="274320" cy="274320"/>
          </a:xfrm>
          <a:prstGeom prst="ellipse">
            <a:avLst/>
          </a:prstGeom>
          <a:solidFill>
            <a:srgbClr val="1565C0"/>
          </a:solidFill>
          <a:ln w="25400">
            <a:solidFill>
              <a:srgbClr val="FFFFFF"/>
            </a:solidFill>
            <a:prstDash val="solid"/>
          </a:ln>
        </p:spPr>
      </p:sp>
      <p:sp>
        <p:nvSpPr>
          <p:cNvPr id="19" name="Shape 17"/>
          <p:cNvSpPr/>
          <p:nvPr/>
        </p:nvSpPr>
        <p:spPr>
          <a:xfrm>
            <a:off x="3474720" y="3246120"/>
            <a:ext cx="2560320" cy="1828800"/>
          </a:xfrm>
          <a:prstGeom prst="rect">
            <a:avLst/>
          </a:prstGeom>
          <a:solidFill>
            <a:srgbClr val="FFFFFF"/>
          </a:solidFill>
          <a:ln w="12700">
            <a:solidFill>
              <a:srgbClr val="E2E8F0"/>
            </a:solidFill>
            <a:prstDash val="solid"/>
          </a:ln>
          <a:effectLst>
            <a:outerShdw blurRad="101600" dist="25400" dir="5400000" algn="bl" rotWithShape="0">
              <a:srgbClr val="000000">
                <a:alpha val="10000"/>
              </a:srgbClr>
            </a:outerShdw>
          </a:effectLst>
        </p:spPr>
      </p:sp>
      <p:sp>
        <p:nvSpPr>
          <p:cNvPr id="20" name="Shape 18"/>
          <p:cNvSpPr/>
          <p:nvPr/>
        </p:nvSpPr>
        <p:spPr>
          <a:xfrm>
            <a:off x="3474720" y="3246120"/>
            <a:ext cx="2560320" cy="54864"/>
          </a:xfrm>
          <a:prstGeom prst="rect">
            <a:avLst/>
          </a:prstGeom>
          <a:solidFill>
            <a:srgbClr val="1565C0"/>
          </a:solidFill>
          <a:ln w="12700">
            <a:solidFill>
              <a:srgbClr val="1565C0"/>
            </a:solidFill>
            <a:prstDash val="solid"/>
          </a:ln>
        </p:spPr>
      </p:sp>
      <p:sp>
        <p:nvSpPr>
          <p:cNvPr id="21" name="Text 19"/>
          <p:cNvSpPr/>
          <p:nvPr/>
        </p:nvSpPr>
        <p:spPr>
          <a:xfrm>
            <a:off x="3611880" y="3383280"/>
            <a:ext cx="2286000" cy="274320"/>
          </a:xfrm>
          <a:prstGeom prst="rect">
            <a:avLst/>
          </a:prstGeom>
          <a:noFill/>
        </p:spPr>
        <p:txBody>
          <a:bodyPr wrap="square" lIns="0" tIns="0" rIns="0" bIns="0" rtlCol="0" anchor="ctr"/>
          <a:lstStyle/>
          <a:p>
            <a:pPr marL="0" indent="0">
              <a:buNone/>
            </a:pPr>
            <a:r>
              <a:rPr lang="en-US" sz="900" b="1" kern="0" spc="300" dirty="0">
                <a:solidFill>
                  <a:srgbClr val="1565C0"/>
                </a:solidFill>
                <a:latin typeface="Calibri" pitchFamily="34" charset="0"/>
                <a:ea typeface="Calibri" pitchFamily="34" charset="-122"/>
                <a:cs typeface="Calibri" pitchFamily="34" charset="-120"/>
              </a:rPr>
              <a:t>PHASE 2</a:t>
            </a:r>
            <a:endParaRPr lang="en-US" sz="900" dirty="0"/>
          </a:p>
        </p:txBody>
      </p:sp>
      <p:sp>
        <p:nvSpPr>
          <p:cNvPr id="22" name="Text 20"/>
          <p:cNvSpPr/>
          <p:nvPr/>
        </p:nvSpPr>
        <p:spPr>
          <a:xfrm>
            <a:off x="3611880" y="3657600"/>
            <a:ext cx="2286000" cy="365760"/>
          </a:xfrm>
          <a:prstGeom prst="rect">
            <a:avLst/>
          </a:prstGeom>
          <a:noFill/>
        </p:spPr>
        <p:txBody>
          <a:bodyPr wrap="square" lIns="0" tIns="0" rIns="0" bIns="0" rtlCol="0" anchor="ctr"/>
          <a:lstStyle/>
          <a:p>
            <a:pPr marL="0" indent="0">
              <a:buNone/>
            </a:pPr>
            <a:r>
              <a:rPr lang="en-US" sz="1600" b="1" dirty="0">
                <a:solidFill>
                  <a:srgbClr val="0D47A1"/>
                </a:solidFill>
                <a:latin typeface="Georgia" panose="02040502050405090303" pitchFamily="34" charset="0"/>
                <a:ea typeface="Georgia" panose="02040502050405090303" pitchFamily="34" charset="-122"/>
                <a:cs typeface="Georgia" panose="02040502050405090303" pitchFamily="34" charset="-120"/>
              </a:rPr>
              <a:t>Intégration</a:t>
            </a:r>
            <a:endParaRPr lang="en-US" sz="1600" dirty="0"/>
          </a:p>
        </p:txBody>
      </p:sp>
      <p:sp>
        <p:nvSpPr>
          <p:cNvPr id="23" name="Text 21"/>
          <p:cNvSpPr/>
          <p:nvPr/>
        </p:nvSpPr>
        <p:spPr>
          <a:xfrm>
            <a:off x="3611880" y="4023360"/>
            <a:ext cx="2286000" cy="274320"/>
          </a:xfrm>
          <a:prstGeom prst="rect">
            <a:avLst/>
          </a:prstGeom>
          <a:noFill/>
        </p:spPr>
        <p:txBody>
          <a:bodyPr wrap="square" lIns="0" tIns="0" rIns="0" bIns="0" rtlCol="0" anchor="ctr"/>
          <a:lstStyle/>
          <a:p>
            <a:pPr marL="0" indent="0">
              <a:buNone/>
            </a:pPr>
            <a:r>
              <a:rPr lang="en-US" sz="1000" i="1" dirty="0">
                <a:solidFill>
                  <a:srgbClr val="94A3B8"/>
                </a:solidFill>
                <a:latin typeface="Calibri" pitchFamily="34" charset="0"/>
                <a:ea typeface="Calibri" pitchFamily="34" charset="-122"/>
                <a:cs typeface="Calibri" pitchFamily="34" charset="-120"/>
              </a:rPr>
              <a:t>3-9 mois</a:t>
            </a:r>
            <a:endParaRPr lang="en-US" sz="1000" dirty="0"/>
          </a:p>
        </p:txBody>
      </p:sp>
      <p:sp>
        <p:nvSpPr>
          <p:cNvPr id="24" name="Text 22"/>
          <p:cNvSpPr/>
          <p:nvPr/>
        </p:nvSpPr>
        <p:spPr>
          <a:xfrm>
            <a:off x="3611880" y="4297680"/>
            <a:ext cx="2286000" cy="777240"/>
          </a:xfrm>
          <a:prstGeom prst="rect">
            <a:avLst/>
          </a:prstGeom>
          <a:noFill/>
        </p:spPr>
        <p:txBody>
          <a:bodyPr wrap="square" lIns="0" tIns="0" rIns="0" bIns="0" rtlCol="0" anchor="ctr"/>
          <a:lstStyle/>
          <a:p>
            <a:pPr marL="0" indent="0">
              <a:buNone/>
            </a:pPr>
            <a:r>
              <a:rPr lang="en-US" sz="1000" dirty="0">
                <a:solidFill>
                  <a:srgbClr val="475569"/>
                </a:solidFill>
                <a:latin typeface="Calibri" pitchFamily="34" charset="0"/>
                <a:ea typeface="Calibri" pitchFamily="34" charset="-122"/>
                <a:cs typeface="Calibri" pitchFamily="34" charset="-120"/>
              </a:rPr>
              <a:t>Recalibration des modèles avec les données terrain · pilote opérationnel sur Keur Massar / Pikine</a:t>
            </a:r>
            <a:endParaRPr lang="en-US" sz="1000" dirty="0"/>
          </a:p>
        </p:txBody>
      </p:sp>
      <p:sp>
        <p:nvSpPr>
          <p:cNvPr id="25" name="Shape 23"/>
          <p:cNvSpPr/>
          <p:nvPr/>
        </p:nvSpPr>
        <p:spPr>
          <a:xfrm>
            <a:off x="7242048" y="2816352"/>
            <a:ext cx="274320" cy="274320"/>
          </a:xfrm>
          <a:prstGeom prst="ellipse">
            <a:avLst/>
          </a:prstGeom>
          <a:solidFill>
            <a:srgbClr val="1565C0"/>
          </a:solidFill>
          <a:ln w="25400">
            <a:solidFill>
              <a:srgbClr val="FFFFFF"/>
            </a:solidFill>
            <a:prstDash val="solid"/>
          </a:ln>
        </p:spPr>
      </p:sp>
      <p:sp>
        <p:nvSpPr>
          <p:cNvPr id="26" name="Shape 24"/>
          <p:cNvSpPr/>
          <p:nvPr/>
        </p:nvSpPr>
        <p:spPr>
          <a:xfrm>
            <a:off x="6126480" y="3246120"/>
            <a:ext cx="2560320" cy="1828800"/>
          </a:xfrm>
          <a:prstGeom prst="rect">
            <a:avLst/>
          </a:prstGeom>
          <a:solidFill>
            <a:srgbClr val="FFFFFF"/>
          </a:solidFill>
          <a:ln w="12700">
            <a:solidFill>
              <a:srgbClr val="E2E8F0"/>
            </a:solidFill>
            <a:prstDash val="solid"/>
          </a:ln>
          <a:effectLst>
            <a:outerShdw blurRad="101600" dist="25400" dir="5400000" algn="bl" rotWithShape="0">
              <a:srgbClr val="000000">
                <a:alpha val="10000"/>
              </a:srgbClr>
            </a:outerShdw>
          </a:effectLst>
        </p:spPr>
      </p:sp>
      <p:sp>
        <p:nvSpPr>
          <p:cNvPr id="27" name="Shape 25"/>
          <p:cNvSpPr/>
          <p:nvPr/>
        </p:nvSpPr>
        <p:spPr>
          <a:xfrm>
            <a:off x="6126480" y="3246120"/>
            <a:ext cx="2560320" cy="54864"/>
          </a:xfrm>
          <a:prstGeom prst="rect">
            <a:avLst/>
          </a:prstGeom>
          <a:solidFill>
            <a:srgbClr val="1565C0"/>
          </a:solidFill>
          <a:ln w="12700">
            <a:solidFill>
              <a:srgbClr val="1565C0"/>
            </a:solidFill>
            <a:prstDash val="solid"/>
          </a:ln>
        </p:spPr>
      </p:sp>
      <p:sp>
        <p:nvSpPr>
          <p:cNvPr id="28" name="Text 26"/>
          <p:cNvSpPr/>
          <p:nvPr/>
        </p:nvSpPr>
        <p:spPr>
          <a:xfrm>
            <a:off x="6263640" y="3383280"/>
            <a:ext cx="2286000" cy="274320"/>
          </a:xfrm>
          <a:prstGeom prst="rect">
            <a:avLst/>
          </a:prstGeom>
          <a:noFill/>
        </p:spPr>
        <p:txBody>
          <a:bodyPr wrap="square" lIns="0" tIns="0" rIns="0" bIns="0" rtlCol="0" anchor="ctr"/>
          <a:lstStyle/>
          <a:p>
            <a:pPr marL="0" indent="0">
              <a:buNone/>
            </a:pPr>
            <a:r>
              <a:rPr lang="en-US" sz="900" b="1" kern="0" spc="300" dirty="0">
                <a:solidFill>
                  <a:srgbClr val="1565C0"/>
                </a:solidFill>
                <a:latin typeface="Calibri" pitchFamily="34" charset="0"/>
                <a:ea typeface="Calibri" pitchFamily="34" charset="-122"/>
                <a:cs typeface="Calibri" pitchFamily="34" charset="-120"/>
              </a:rPr>
              <a:t>PHASE 3</a:t>
            </a:r>
            <a:endParaRPr lang="en-US" sz="900" dirty="0"/>
          </a:p>
        </p:txBody>
      </p:sp>
      <p:sp>
        <p:nvSpPr>
          <p:cNvPr id="29" name="Text 27"/>
          <p:cNvSpPr/>
          <p:nvPr/>
        </p:nvSpPr>
        <p:spPr>
          <a:xfrm>
            <a:off x="6263640" y="3657600"/>
            <a:ext cx="2286000" cy="365760"/>
          </a:xfrm>
          <a:prstGeom prst="rect">
            <a:avLst/>
          </a:prstGeom>
          <a:noFill/>
        </p:spPr>
        <p:txBody>
          <a:bodyPr wrap="square" lIns="0" tIns="0" rIns="0" bIns="0" rtlCol="0" anchor="ctr"/>
          <a:lstStyle/>
          <a:p>
            <a:pPr marL="0" indent="0">
              <a:buNone/>
            </a:pPr>
            <a:r>
              <a:rPr lang="en-US" sz="1600" b="1" dirty="0">
                <a:solidFill>
                  <a:srgbClr val="0D47A1"/>
                </a:solidFill>
                <a:latin typeface="Georgia" panose="02040502050405090303" pitchFamily="34" charset="0"/>
                <a:ea typeface="Georgia" panose="02040502050405090303" pitchFamily="34" charset="-122"/>
                <a:cs typeface="Georgia" panose="02040502050405090303" pitchFamily="34" charset="-120"/>
              </a:rPr>
              <a:t>Déploiement</a:t>
            </a:r>
            <a:endParaRPr lang="en-US" sz="1600" dirty="0"/>
          </a:p>
        </p:txBody>
      </p:sp>
      <p:sp>
        <p:nvSpPr>
          <p:cNvPr id="30" name="Text 28"/>
          <p:cNvSpPr/>
          <p:nvPr/>
        </p:nvSpPr>
        <p:spPr>
          <a:xfrm>
            <a:off x="6263640" y="4023360"/>
            <a:ext cx="2286000" cy="274320"/>
          </a:xfrm>
          <a:prstGeom prst="rect">
            <a:avLst/>
          </a:prstGeom>
          <a:noFill/>
        </p:spPr>
        <p:txBody>
          <a:bodyPr wrap="square" lIns="0" tIns="0" rIns="0" bIns="0" rtlCol="0" anchor="ctr"/>
          <a:lstStyle/>
          <a:p>
            <a:pPr marL="0" indent="0">
              <a:buNone/>
            </a:pPr>
            <a:r>
              <a:rPr lang="en-US" sz="1000" i="1" dirty="0">
                <a:solidFill>
                  <a:srgbClr val="94A3B8"/>
                </a:solidFill>
                <a:latin typeface="Calibri" pitchFamily="34" charset="0"/>
                <a:ea typeface="Calibri" pitchFamily="34" charset="-122"/>
                <a:cs typeface="Calibri" pitchFamily="34" charset="-120"/>
              </a:rPr>
              <a:t>9-18 mois</a:t>
            </a:r>
            <a:endParaRPr lang="en-US" sz="1000" dirty="0"/>
          </a:p>
        </p:txBody>
      </p:sp>
      <p:sp>
        <p:nvSpPr>
          <p:cNvPr id="31" name="Text 29"/>
          <p:cNvSpPr/>
          <p:nvPr/>
        </p:nvSpPr>
        <p:spPr>
          <a:xfrm>
            <a:off x="6263640" y="4297680"/>
            <a:ext cx="2286000" cy="777240"/>
          </a:xfrm>
          <a:prstGeom prst="rect">
            <a:avLst/>
          </a:prstGeom>
          <a:noFill/>
        </p:spPr>
        <p:txBody>
          <a:bodyPr wrap="square" lIns="0" tIns="0" rIns="0" bIns="0" rtlCol="0" anchor="ctr"/>
          <a:lstStyle/>
          <a:p>
            <a:pPr marL="0" indent="0">
              <a:buNone/>
            </a:pPr>
            <a:r>
              <a:rPr lang="en-US" sz="1000" dirty="0">
                <a:solidFill>
                  <a:srgbClr val="475569"/>
                </a:solidFill>
                <a:latin typeface="Calibri" pitchFamily="34" charset="0"/>
                <a:ea typeface="Calibri" pitchFamily="34" charset="-122"/>
                <a:cs typeface="Calibri" pitchFamily="34" charset="-120"/>
              </a:rPr>
              <a:t>Couverture des 14 régions · interface autorités locales · campagne d'enrôlement citoyen national</a:t>
            </a:r>
            <a:endParaRPr lang="en-US" sz="1000" dirty="0"/>
          </a:p>
        </p:txBody>
      </p:sp>
      <p:sp>
        <p:nvSpPr>
          <p:cNvPr id="32" name="Shape 30"/>
          <p:cNvSpPr/>
          <p:nvPr/>
        </p:nvSpPr>
        <p:spPr>
          <a:xfrm>
            <a:off x="9893808" y="2816352"/>
            <a:ext cx="274320" cy="274320"/>
          </a:xfrm>
          <a:prstGeom prst="ellipse">
            <a:avLst/>
          </a:prstGeom>
          <a:solidFill>
            <a:srgbClr val="059669"/>
          </a:solidFill>
          <a:ln w="25400">
            <a:solidFill>
              <a:srgbClr val="FFFFFF"/>
            </a:solidFill>
            <a:prstDash val="solid"/>
          </a:ln>
        </p:spPr>
      </p:sp>
      <p:sp>
        <p:nvSpPr>
          <p:cNvPr id="33" name="Shape 31"/>
          <p:cNvSpPr/>
          <p:nvPr/>
        </p:nvSpPr>
        <p:spPr>
          <a:xfrm>
            <a:off x="8778240" y="3246120"/>
            <a:ext cx="2560320" cy="1828800"/>
          </a:xfrm>
          <a:prstGeom prst="rect">
            <a:avLst/>
          </a:prstGeom>
          <a:solidFill>
            <a:srgbClr val="FFFFFF"/>
          </a:solidFill>
          <a:ln w="12700">
            <a:solidFill>
              <a:srgbClr val="E2E8F0"/>
            </a:solidFill>
            <a:prstDash val="solid"/>
          </a:ln>
          <a:effectLst>
            <a:outerShdw blurRad="101600" dist="25400" dir="5400000" algn="bl" rotWithShape="0">
              <a:srgbClr val="000000">
                <a:alpha val="10000"/>
              </a:srgbClr>
            </a:outerShdw>
          </a:effectLst>
        </p:spPr>
      </p:sp>
      <p:sp>
        <p:nvSpPr>
          <p:cNvPr id="34" name="Shape 32"/>
          <p:cNvSpPr/>
          <p:nvPr/>
        </p:nvSpPr>
        <p:spPr>
          <a:xfrm>
            <a:off x="8778240" y="3246120"/>
            <a:ext cx="2560320" cy="54864"/>
          </a:xfrm>
          <a:prstGeom prst="rect">
            <a:avLst/>
          </a:prstGeom>
          <a:solidFill>
            <a:srgbClr val="059669"/>
          </a:solidFill>
          <a:ln w="12700">
            <a:solidFill>
              <a:srgbClr val="059669"/>
            </a:solidFill>
            <a:prstDash val="solid"/>
          </a:ln>
        </p:spPr>
      </p:sp>
      <p:sp>
        <p:nvSpPr>
          <p:cNvPr id="35" name="Text 33"/>
          <p:cNvSpPr/>
          <p:nvPr/>
        </p:nvSpPr>
        <p:spPr>
          <a:xfrm>
            <a:off x="8915400" y="3383280"/>
            <a:ext cx="2286000" cy="274320"/>
          </a:xfrm>
          <a:prstGeom prst="rect">
            <a:avLst/>
          </a:prstGeom>
          <a:noFill/>
        </p:spPr>
        <p:txBody>
          <a:bodyPr wrap="square" lIns="0" tIns="0" rIns="0" bIns="0" rtlCol="0" anchor="ctr"/>
          <a:lstStyle/>
          <a:p>
            <a:pPr marL="0" indent="0">
              <a:buNone/>
            </a:pPr>
            <a:r>
              <a:rPr lang="en-US" sz="900" b="1" kern="0" spc="300" dirty="0">
                <a:solidFill>
                  <a:srgbClr val="059669"/>
                </a:solidFill>
                <a:latin typeface="Calibri" pitchFamily="34" charset="0"/>
                <a:ea typeface="Calibri" pitchFamily="34" charset="-122"/>
                <a:cs typeface="Calibri" pitchFamily="34" charset="-120"/>
              </a:rPr>
              <a:t>PHASE 4</a:t>
            </a:r>
            <a:endParaRPr lang="en-US" sz="900" dirty="0"/>
          </a:p>
        </p:txBody>
      </p:sp>
      <p:sp>
        <p:nvSpPr>
          <p:cNvPr id="36" name="Text 34"/>
          <p:cNvSpPr/>
          <p:nvPr/>
        </p:nvSpPr>
        <p:spPr>
          <a:xfrm>
            <a:off x="8915400" y="3657600"/>
            <a:ext cx="2286000" cy="365760"/>
          </a:xfrm>
          <a:prstGeom prst="rect">
            <a:avLst/>
          </a:prstGeom>
          <a:noFill/>
        </p:spPr>
        <p:txBody>
          <a:bodyPr wrap="square" lIns="0" tIns="0" rIns="0" bIns="0" rtlCol="0" anchor="ctr"/>
          <a:lstStyle/>
          <a:p>
            <a:pPr marL="0" indent="0">
              <a:buNone/>
            </a:pPr>
            <a:r>
              <a:rPr lang="en-US" sz="1600" b="1" dirty="0">
                <a:solidFill>
                  <a:srgbClr val="0D47A1"/>
                </a:solidFill>
                <a:latin typeface="Georgia" panose="02040502050405090303" pitchFamily="34" charset="0"/>
                <a:ea typeface="Georgia" panose="02040502050405090303" pitchFamily="34" charset="-122"/>
                <a:cs typeface="Georgia" panose="02040502050405090303" pitchFamily="34" charset="-120"/>
              </a:rPr>
              <a:t>Pérennité</a:t>
            </a:r>
            <a:endParaRPr lang="en-US" sz="1600" dirty="0"/>
          </a:p>
        </p:txBody>
      </p:sp>
      <p:sp>
        <p:nvSpPr>
          <p:cNvPr id="37" name="Text 35"/>
          <p:cNvSpPr/>
          <p:nvPr/>
        </p:nvSpPr>
        <p:spPr>
          <a:xfrm>
            <a:off x="8915400" y="4023360"/>
            <a:ext cx="2286000" cy="274320"/>
          </a:xfrm>
          <a:prstGeom prst="rect">
            <a:avLst/>
          </a:prstGeom>
          <a:noFill/>
        </p:spPr>
        <p:txBody>
          <a:bodyPr wrap="square" lIns="0" tIns="0" rIns="0" bIns="0" rtlCol="0" anchor="ctr"/>
          <a:lstStyle/>
          <a:p>
            <a:pPr marL="0" indent="0">
              <a:buNone/>
            </a:pPr>
            <a:r>
              <a:rPr lang="en-US" sz="1000" i="1" dirty="0">
                <a:solidFill>
                  <a:srgbClr val="94A3B8"/>
                </a:solidFill>
                <a:latin typeface="Calibri" pitchFamily="34" charset="0"/>
                <a:ea typeface="Calibri" pitchFamily="34" charset="-122"/>
                <a:cs typeface="Calibri" pitchFamily="34" charset="-120"/>
              </a:rPr>
              <a:t>18+ mois</a:t>
            </a:r>
            <a:endParaRPr lang="en-US" sz="1000" dirty="0"/>
          </a:p>
        </p:txBody>
      </p:sp>
      <p:sp>
        <p:nvSpPr>
          <p:cNvPr id="38" name="Text 36"/>
          <p:cNvSpPr/>
          <p:nvPr/>
        </p:nvSpPr>
        <p:spPr>
          <a:xfrm>
            <a:off x="8915400" y="4297680"/>
            <a:ext cx="2286000" cy="777240"/>
          </a:xfrm>
          <a:prstGeom prst="rect">
            <a:avLst/>
          </a:prstGeom>
          <a:noFill/>
        </p:spPr>
        <p:txBody>
          <a:bodyPr wrap="square" lIns="0" tIns="0" rIns="0" bIns="0" rtlCol="0" anchor="ctr"/>
          <a:lstStyle/>
          <a:p>
            <a:pPr marL="0" indent="0">
              <a:buNone/>
            </a:pPr>
            <a:r>
              <a:rPr lang="en-US" sz="1000" dirty="0">
                <a:solidFill>
                  <a:srgbClr val="475569"/>
                </a:solidFill>
                <a:latin typeface="Calibri" pitchFamily="34" charset="0"/>
                <a:ea typeface="Calibri" pitchFamily="34" charset="-122"/>
                <a:cs typeface="Calibri" pitchFamily="34" charset="-120"/>
              </a:rPr>
              <a:t>Intégration Sentinel-1 SAR · multi-classes (sévère/modérée) · ouverture des données au monde académique</a:t>
            </a:r>
            <a:endParaRPr lang="en-US" sz="1000" dirty="0"/>
          </a:p>
        </p:txBody>
      </p:sp>
      <p:sp>
        <p:nvSpPr>
          <p:cNvPr id="39" name="Shape 37"/>
          <p:cNvSpPr/>
          <p:nvPr/>
        </p:nvSpPr>
        <p:spPr>
          <a:xfrm>
            <a:off x="548640" y="5349240"/>
            <a:ext cx="11064240" cy="868680"/>
          </a:xfrm>
          <a:prstGeom prst="rect">
            <a:avLst/>
          </a:prstGeom>
          <a:solidFill>
            <a:srgbClr val="0D47A1"/>
          </a:solidFill>
          <a:ln w="12700">
            <a:solidFill>
              <a:srgbClr val="0D47A1"/>
            </a:solidFill>
            <a:prstDash val="solid"/>
          </a:ln>
        </p:spPr>
      </p:sp>
      <p:sp>
        <p:nvSpPr>
          <p:cNvPr id="40" name="Shape 38"/>
          <p:cNvSpPr/>
          <p:nvPr/>
        </p:nvSpPr>
        <p:spPr>
          <a:xfrm>
            <a:off x="548640" y="5349240"/>
            <a:ext cx="109728" cy="868680"/>
          </a:xfrm>
          <a:prstGeom prst="rect">
            <a:avLst/>
          </a:prstGeom>
          <a:solidFill>
            <a:srgbClr val="F59E0B"/>
          </a:solidFill>
          <a:ln w="12700">
            <a:solidFill>
              <a:srgbClr val="F59E0B"/>
            </a:solidFill>
            <a:prstDash val="solid"/>
          </a:ln>
        </p:spPr>
      </p:sp>
      <p:pic>
        <p:nvPicPr>
          <p:cNvPr id="41" name="Image 0" descr="preencoded.png"/>
          <p:cNvPicPr>
            <a:picLocks noChangeAspect="1"/>
          </p:cNvPicPr>
          <p:nvPr/>
        </p:nvPicPr>
        <p:blipFill>
          <a:blip r:embed="rId1"/>
          <a:stretch>
            <a:fillRect/>
          </a:stretch>
        </p:blipFill>
        <p:spPr>
          <a:xfrm>
            <a:off x="868680" y="5532120"/>
            <a:ext cx="502920" cy="502920"/>
          </a:xfrm>
          <a:prstGeom prst="rect">
            <a:avLst/>
          </a:prstGeom>
        </p:spPr>
      </p:pic>
      <p:sp>
        <p:nvSpPr>
          <p:cNvPr id="42" name="Text 39"/>
          <p:cNvSpPr/>
          <p:nvPr/>
        </p:nvSpPr>
        <p:spPr>
          <a:xfrm>
            <a:off x="1554480" y="5349240"/>
            <a:ext cx="9966960" cy="868680"/>
          </a:xfrm>
          <a:prstGeom prst="rect">
            <a:avLst/>
          </a:prstGeom>
          <a:noFill/>
        </p:spPr>
        <p:txBody>
          <a:bodyPr wrap="square" lIns="0" tIns="0" rIns="0" bIns="0" rtlCol="0" anchor="ctr"/>
          <a:lstStyle/>
          <a:p>
            <a:pPr marL="0" indent="0">
              <a:buNone/>
            </a:pPr>
            <a:r>
              <a:rPr lang="en-US" sz="1100" i="1" dirty="0">
                <a:solidFill>
                  <a:srgbClr val="FFFFFF"/>
                </a:solidFill>
                <a:latin typeface="Calibri" pitchFamily="34" charset="0"/>
                <a:ea typeface="Calibri" pitchFamily="34" charset="-122"/>
                <a:cs typeface="Calibri" pitchFamily="34" charset="-120"/>
              </a:rPr>
              <a:t>Limites assumées : 933 images d'entraînement (corpus à enrichir), proxy pluvio à valider sur observations terrain, fusion RF + ConvNeXt à évaluer quantitativement.</a:t>
            </a:r>
            <a:endParaRPr lang="en-US" sz="1100" dirty="0"/>
          </a:p>
        </p:txBody>
      </p:sp>
      <p:sp>
        <p:nvSpPr>
          <p:cNvPr id="43" name="Shape 40"/>
          <p:cNvSpPr/>
          <p:nvPr/>
        </p:nvSpPr>
        <p:spPr>
          <a:xfrm>
            <a:off x="0" y="6537960"/>
            <a:ext cx="12161520" cy="320040"/>
          </a:xfrm>
          <a:prstGeom prst="rect">
            <a:avLst/>
          </a:prstGeom>
          <a:solidFill>
            <a:srgbClr val="0D47A1"/>
          </a:solidFill>
          <a:ln w="12700">
            <a:solidFill>
              <a:srgbClr val="0D47A1"/>
            </a:solidFill>
            <a:prstDash val="solid"/>
          </a:ln>
        </p:spPr>
      </p:sp>
      <p:sp>
        <p:nvSpPr>
          <p:cNvPr id="44" name="Text 41"/>
          <p:cNvSpPr/>
          <p:nvPr/>
        </p:nvSpPr>
        <p:spPr>
          <a:xfrm>
            <a:off x="457200" y="6537960"/>
            <a:ext cx="7315200" cy="320040"/>
          </a:xfrm>
          <a:prstGeom prst="rect">
            <a:avLst/>
          </a:prstGeom>
          <a:noFill/>
        </p:spPr>
        <p:txBody>
          <a:bodyPr wrap="square" lIns="0" tIns="0" rIns="0" bIns="0" rtlCol="0" anchor="ctr"/>
          <a:lstStyle/>
          <a:p>
            <a:pPr marL="0" indent="0" algn="l">
              <a:buNone/>
            </a:pPr>
            <a:r>
              <a:rPr lang="en-US" sz="900" dirty="0">
                <a:solidFill>
                  <a:srgbClr val="F8FAFC"/>
                </a:solidFill>
                <a:latin typeface="Calibri" pitchFamily="34" charset="0"/>
                <a:ea typeface="Calibri" pitchFamily="34" charset="-122"/>
                <a:cs typeface="Calibri" pitchFamily="34" charset="-120"/>
              </a:rPr>
              <a:t>Saytu Mbeund  ·  FloodGuardAI  ·  flood.yaataldigital.com</a:t>
            </a:r>
            <a:endParaRPr lang="en-US" sz="900" dirty="0"/>
          </a:p>
        </p:txBody>
      </p:sp>
      <p:sp>
        <p:nvSpPr>
          <p:cNvPr id="45" name="Text 42"/>
          <p:cNvSpPr/>
          <p:nvPr/>
        </p:nvSpPr>
        <p:spPr>
          <a:xfrm>
            <a:off x="8503920" y="6537960"/>
            <a:ext cx="2286000" cy="320040"/>
          </a:xfrm>
          <a:prstGeom prst="rect">
            <a:avLst/>
          </a:prstGeom>
          <a:noFill/>
        </p:spPr>
        <p:txBody>
          <a:bodyPr wrap="square" lIns="0" tIns="0" rIns="0" bIns="0" rtlCol="0" anchor="ctr"/>
          <a:lstStyle/>
          <a:p>
            <a:pPr marL="0" indent="0" algn="r">
              <a:buNone/>
            </a:pPr>
            <a:r>
              <a:rPr lang="en-US" sz="900" i="1" dirty="0">
                <a:solidFill>
                  <a:srgbClr val="F59E0B"/>
                </a:solidFill>
                <a:latin typeface="Calibri" pitchFamily="34" charset="0"/>
                <a:ea typeface="Calibri" pitchFamily="34" charset="-122"/>
                <a:cs typeface="Calibri" pitchFamily="34" charset="-120"/>
              </a:rPr>
              <a:t>▸ ADAMA</a:t>
            </a:r>
            <a:endParaRPr lang="en-US" sz="900" dirty="0"/>
          </a:p>
        </p:txBody>
      </p:sp>
      <p:sp>
        <p:nvSpPr>
          <p:cNvPr id="46" name="Text 43"/>
          <p:cNvSpPr/>
          <p:nvPr/>
        </p:nvSpPr>
        <p:spPr>
          <a:xfrm>
            <a:off x="11064240" y="6537960"/>
            <a:ext cx="640080" cy="320040"/>
          </a:xfrm>
          <a:prstGeom prst="rect">
            <a:avLst/>
          </a:prstGeom>
          <a:noFill/>
        </p:spPr>
        <p:txBody>
          <a:bodyPr wrap="square" lIns="0" tIns="0" rIns="0" bIns="0" rtlCol="0" anchor="ctr"/>
          <a:lstStyle/>
          <a:p>
            <a:pPr marL="0" indent="0" algn="r">
              <a:buNone/>
            </a:pPr>
            <a:r>
              <a:rPr lang="en-US" sz="900" dirty="0">
                <a:solidFill>
                  <a:srgbClr val="F8FAFC"/>
                </a:solidFill>
                <a:latin typeface="Calibri" pitchFamily="34" charset="0"/>
                <a:ea typeface="Calibri" pitchFamily="34" charset="-122"/>
                <a:cs typeface="Calibri" pitchFamily="34" charset="-120"/>
              </a:rPr>
              <a:t>10 / 12</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D47A1"/>
        </a:solidFill>
        <a:effectLst/>
      </p:bgPr>
    </p:bg>
    <p:spTree>
      <p:nvGrpSpPr>
        <p:cNvPr id="1" name=""/>
        <p:cNvGrpSpPr/>
        <p:nvPr/>
      </p:nvGrpSpPr>
      <p:grpSpPr>
        <a:xfrm>
          <a:off x="0" y="0"/>
          <a:ext cx="0" cy="0"/>
          <a:chOff x="0" y="0"/>
          <a:chExt cx="0" cy="0"/>
        </a:xfrm>
      </p:grpSpPr>
      <p:sp>
        <p:nvSpPr>
          <p:cNvPr id="2" name="Shape 0"/>
          <p:cNvSpPr/>
          <p:nvPr/>
        </p:nvSpPr>
        <p:spPr>
          <a:xfrm>
            <a:off x="-1828800" y="3200400"/>
            <a:ext cx="6400800" cy="6400800"/>
          </a:xfrm>
          <a:prstGeom prst="ellipse">
            <a:avLst/>
          </a:prstGeom>
          <a:solidFill>
            <a:srgbClr val="1565C0">
              <a:alpha val="25000"/>
            </a:srgbClr>
          </a:solidFill>
          <a:ln w="12700">
            <a:solidFill>
              <a:srgbClr val="1565C0"/>
            </a:solidFill>
            <a:prstDash val="solid"/>
          </a:ln>
        </p:spPr>
      </p:sp>
      <p:sp>
        <p:nvSpPr>
          <p:cNvPr id="3" name="Shape 1"/>
          <p:cNvSpPr/>
          <p:nvPr/>
        </p:nvSpPr>
        <p:spPr>
          <a:xfrm>
            <a:off x="8046720" y="-2743200"/>
            <a:ext cx="6858000" cy="6858000"/>
          </a:xfrm>
          <a:prstGeom prst="ellipse">
            <a:avLst/>
          </a:prstGeom>
          <a:solidFill>
            <a:srgbClr val="1565C0">
              <a:alpha val="20000"/>
            </a:srgbClr>
          </a:solidFill>
          <a:ln w="12700">
            <a:solidFill>
              <a:srgbClr val="1565C0"/>
            </a:solidFill>
            <a:prstDash val="solid"/>
          </a:ln>
        </p:spPr>
      </p:sp>
      <p:sp>
        <p:nvSpPr>
          <p:cNvPr id="4" name="Text 2"/>
          <p:cNvSpPr/>
          <p:nvPr/>
        </p:nvSpPr>
        <p:spPr>
          <a:xfrm>
            <a:off x="731520" y="640080"/>
            <a:ext cx="10058400" cy="365760"/>
          </a:xfrm>
          <a:prstGeom prst="rect">
            <a:avLst/>
          </a:prstGeom>
          <a:noFill/>
        </p:spPr>
        <p:txBody>
          <a:bodyPr wrap="square" lIns="0" tIns="0" rIns="0" bIns="0" rtlCol="0" anchor="ctr"/>
          <a:lstStyle/>
          <a:p>
            <a:pPr marL="0" indent="0">
              <a:buNone/>
            </a:pPr>
            <a:r>
              <a:rPr lang="en-US" sz="1100" b="1" kern="0" spc="500" dirty="0">
                <a:solidFill>
                  <a:srgbClr val="F59E0B"/>
                </a:solidFill>
                <a:latin typeface="Calibri" pitchFamily="34" charset="0"/>
                <a:ea typeface="Calibri" pitchFamily="34" charset="-122"/>
                <a:cs typeface="Calibri" pitchFamily="34" charset="-120"/>
              </a:rPr>
              <a:t>CONCLUSION</a:t>
            </a:r>
            <a:endParaRPr lang="en-US" sz="1100" dirty="0"/>
          </a:p>
        </p:txBody>
      </p:sp>
      <p:sp>
        <p:nvSpPr>
          <p:cNvPr id="5" name="Text 3"/>
          <p:cNvSpPr/>
          <p:nvPr/>
        </p:nvSpPr>
        <p:spPr>
          <a:xfrm>
            <a:off x="731520" y="1188720"/>
            <a:ext cx="10698480" cy="1463040"/>
          </a:xfrm>
          <a:prstGeom prst="rect">
            <a:avLst/>
          </a:prstGeom>
          <a:noFill/>
        </p:spPr>
        <p:txBody>
          <a:bodyPr wrap="square" lIns="0" tIns="0" rIns="0" bIns="0" rtlCol="0" anchor="ctr"/>
          <a:lstStyle/>
          <a:p>
            <a:pPr marL="0" indent="0">
              <a:buNone/>
            </a:pPr>
            <a:r>
              <a:rPr lang="en-US" sz="2600" b="1" i="1" dirty="0">
                <a:solidFill>
                  <a:srgbClr val="FFFFFF"/>
                </a:solidFill>
                <a:latin typeface="Georgia" panose="02040502050405090303" pitchFamily="34" charset="0"/>
                <a:ea typeface="Georgia" panose="02040502050405090303" pitchFamily="34" charset="-122"/>
                <a:cs typeface="Georgia" panose="02040502050405090303" pitchFamily="34" charset="-120"/>
              </a:rPr>
              <a:t>Faire du Sénégal le premier pays sahélien à anticiper ses inondations grâce à l'IA.</a:t>
            </a:r>
            <a:endParaRPr lang="en-US" sz="2600" dirty="0"/>
          </a:p>
        </p:txBody>
      </p:sp>
      <p:sp>
        <p:nvSpPr>
          <p:cNvPr id="6" name="Shape 4"/>
          <p:cNvSpPr/>
          <p:nvPr/>
        </p:nvSpPr>
        <p:spPr>
          <a:xfrm>
            <a:off x="731520" y="2743200"/>
            <a:ext cx="10698480" cy="457200"/>
          </a:xfrm>
          <a:prstGeom prst="rect">
            <a:avLst/>
          </a:prstGeom>
          <a:solidFill>
            <a:srgbClr val="F59E0B"/>
          </a:solidFill>
          <a:ln w="12700">
            <a:solidFill>
              <a:srgbClr val="F59E0B"/>
            </a:solidFill>
            <a:prstDash val="solid"/>
          </a:ln>
        </p:spPr>
      </p:sp>
      <p:sp>
        <p:nvSpPr>
          <p:cNvPr id="7" name="Text 5"/>
          <p:cNvSpPr/>
          <p:nvPr/>
        </p:nvSpPr>
        <p:spPr>
          <a:xfrm>
            <a:off x="731520" y="2743200"/>
            <a:ext cx="10698480" cy="457200"/>
          </a:xfrm>
          <a:prstGeom prst="rect">
            <a:avLst/>
          </a:prstGeom>
          <a:noFill/>
        </p:spPr>
        <p:txBody>
          <a:bodyPr wrap="square" lIns="0" tIns="0" rIns="0" bIns="0" rtlCol="0" anchor="ctr"/>
          <a:lstStyle/>
          <a:p>
            <a:pPr marL="0" indent="0" algn="ctr">
              <a:buNone/>
            </a:pPr>
            <a:r>
              <a:rPr lang="en-US" sz="1100" b="1" kern="0" spc="300" dirty="0">
                <a:solidFill>
                  <a:srgbClr val="0D47A1"/>
                </a:solidFill>
                <a:latin typeface="Calibri" pitchFamily="34" charset="0"/>
                <a:ea typeface="Calibri" pitchFamily="34" charset="-122"/>
                <a:cs typeface="Calibri" pitchFamily="34" charset="-120"/>
              </a:rPr>
              <a:t>CE QUE NOUS PROPOSONS À LA DIRECTION DE LA PRÉVENTION ET DE LA GESTION DES INONDATIONS</a:t>
            </a:r>
            <a:endParaRPr lang="en-US" sz="1100" dirty="0"/>
          </a:p>
        </p:txBody>
      </p:sp>
      <p:sp>
        <p:nvSpPr>
          <p:cNvPr id="8" name="Shape 6"/>
          <p:cNvSpPr/>
          <p:nvPr/>
        </p:nvSpPr>
        <p:spPr>
          <a:xfrm>
            <a:off x="731520" y="3383280"/>
            <a:ext cx="5257800" cy="1097280"/>
          </a:xfrm>
          <a:prstGeom prst="rect">
            <a:avLst/>
          </a:prstGeom>
          <a:solidFill>
            <a:srgbClr val="FFFFFF">
              <a:alpha val="10000"/>
            </a:srgbClr>
          </a:solidFill>
          <a:ln w="12700">
            <a:solidFill>
              <a:srgbClr val="F59E0B"/>
            </a:solidFill>
            <a:prstDash val="solid"/>
          </a:ln>
        </p:spPr>
      </p:sp>
      <p:sp>
        <p:nvSpPr>
          <p:cNvPr id="9" name="Shape 7"/>
          <p:cNvSpPr/>
          <p:nvPr/>
        </p:nvSpPr>
        <p:spPr>
          <a:xfrm>
            <a:off x="914400" y="3657600"/>
            <a:ext cx="548640" cy="548640"/>
          </a:xfrm>
          <a:prstGeom prst="ellipse">
            <a:avLst/>
          </a:prstGeom>
          <a:solidFill>
            <a:srgbClr val="F59E0B"/>
          </a:solidFill>
          <a:ln w="12700">
            <a:solidFill>
              <a:srgbClr val="F59E0B"/>
            </a:solidFill>
            <a:prstDash val="solid"/>
          </a:ln>
        </p:spPr>
      </p:sp>
      <p:pic>
        <p:nvPicPr>
          <p:cNvPr id="10" name="Image 0" descr="preencoded.png"/>
          <p:cNvPicPr>
            <a:picLocks noChangeAspect="1"/>
          </p:cNvPicPr>
          <p:nvPr/>
        </p:nvPicPr>
        <p:blipFill>
          <a:blip r:embed="rId1"/>
          <a:stretch>
            <a:fillRect/>
          </a:stretch>
        </p:blipFill>
        <p:spPr>
          <a:xfrm>
            <a:off x="1005840" y="3749040"/>
            <a:ext cx="365760" cy="365760"/>
          </a:xfrm>
          <a:prstGeom prst="rect">
            <a:avLst/>
          </a:prstGeom>
        </p:spPr>
      </p:pic>
      <p:sp>
        <p:nvSpPr>
          <p:cNvPr id="11" name="Text 8"/>
          <p:cNvSpPr/>
          <p:nvPr/>
        </p:nvSpPr>
        <p:spPr>
          <a:xfrm>
            <a:off x="1645920" y="3520440"/>
            <a:ext cx="4206240" cy="320040"/>
          </a:xfrm>
          <a:prstGeom prst="rect">
            <a:avLst/>
          </a:prstGeom>
          <a:noFill/>
        </p:spPr>
        <p:txBody>
          <a:bodyPr wrap="square" lIns="0" tIns="0" rIns="0" bIns="0" rtlCol="0" anchor="ctr"/>
          <a:lstStyle/>
          <a:p>
            <a:pPr marL="0" indent="0">
              <a:buNone/>
            </a:pPr>
            <a:r>
              <a:rPr lang="en-US" sz="1300" b="1" dirty="0">
                <a:solidFill>
                  <a:srgbClr val="FFFFFF"/>
                </a:solidFill>
                <a:latin typeface="Georgia" panose="02040502050405090303" pitchFamily="34" charset="0"/>
                <a:ea typeface="Georgia" panose="02040502050405090303" pitchFamily="34" charset="-122"/>
                <a:cs typeface="Georgia" panose="02040502050405090303" pitchFamily="34" charset="-120"/>
              </a:rPr>
              <a:t>Cadrage opérationnel</a:t>
            </a:r>
            <a:endParaRPr lang="en-US" sz="1300" dirty="0"/>
          </a:p>
        </p:txBody>
      </p:sp>
      <p:sp>
        <p:nvSpPr>
          <p:cNvPr id="12" name="Text 9"/>
          <p:cNvSpPr/>
          <p:nvPr/>
        </p:nvSpPr>
        <p:spPr>
          <a:xfrm>
            <a:off x="1645920" y="3840480"/>
            <a:ext cx="4206240" cy="594360"/>
          </a:xfrm>
          <a:prstGeom prst="rect">
            <a:avLst/>
          </a:prstGeom>
          <a:noFill/>
        </p:spPr>
        <p:txBody>
          <a:bodyPr wrap="square" lIns="0" tIns="0" rIns="0" bIns="0" rtlCol="0" anchor="ctr"/>
          <a:lstStyle/>
          <a:p>
            <a:pPr marL="0" indent="0">
              <a:buNone/>
            </a:pPr>
            <a:r>
              <a:rPr lang="en-US" sz="1000" dirty="0">
                <a:solidFill>
                  <a:schemeClr val="bg1"/>
                </a:solidFill>
                <a:latin typeface="Calibri" pitchFamily="34" charset="0"/>
                <a:ea typeface="Calibri" pitchFamily="34" charset="-122"/>
                <a:cs typeface="Calibri" pitchFamily="34" charset="-120"/>
              </a:rPr>
              <a:t>Définir ensemble les besoins prioritaires terrain et les protocoles d'intervention</a:t>
            </a:r>
            <a:endParaRPr lang="en-US" sz="1000" dirty="0">
              <a:solidFill>
                <a:schemeClr val="bg1"/>
              </a:solidFill>
              <a:latin typeface="Calibri" pitchFamily="34" charset="0"/>
              <a:ea typeface="Calibri" pitchFamily="34" charset="-122"/>
              <a:cs typeface="Calibri" pitchFamily="34" charset="-120"/>
            </a:endParaRPr>
          </a:p>
        </p:txBody>
      </p:sp>
      <p:sp>
        <p:nvSpPr>
          <p:cNvPr id="13" name="Shape 10"/>
          <p:cNvSpPr/>
          <p:nvPr/>
        </p:nvSpPr>
        <p:spPr>
          <a:xfrm>
            <a:off x="6172200" y="3383280"/>
            <a:ext cx="5257800" cy="1097280"/>
          </a:xfrm>
          <a:prstGeom prst="rect">
            <a:avLst/>
          </a:prstGeom>
          <a:solidFill>
            <a:srgbClr val="FFFFFF">
              <a:alpha val="10000"/>
            </a:srgbClr>
          </a:solidFill>
          <a:ln w="12700">
            <a:solidFill>
              <a:srgbClr val="F59E0B"/>
            </a:solidFill>
            <a:prstDash val="solid"/>
          </a:ln>
        </p:spPr>
      </p:sp>
      <p:sp>
        <p:nvSpPr>
          <p:cNvPr id="14" name="Shape 11"/>
          <p:cNvSpPr/>
          <p:nvPr/>
        </p:nvSpPr>
        <p:spPr>
          <a:xfrm>
            <a:off x="6355080" y="3657600"/>
            <a:ext cx="548640" cy="548640"/>
          </a:xfrm>
          <a:prstGeom prst="ellipse">
            <a:avLst/>
          </a:prstGeom>
          <a:solidFill>
            <a:srgbClr val="F59E0B"/>
          </a:solidFill>
          <a:ln w="12700">
            <a:solidFill>
              <a:srgbClr val="F59E0B"/>
            </a:solidFill>
            <a:prstDash val="solid"/>
          </a:ln>
        </p:spPr>
      </p:sp>
      <p:pic>
        <p:nvPicPr>
          <p:cNvPr id="15" name="Image 1" descr="preencoded.png"/>
          <p:cNvPicPr>
            <a:picLocks noChangeAspect="1"/>
          </p:cNvPicPr>
          <p:nvPr/>
        </p:nvPicPr>
        <p:blipFill>
          <a:blip r:embed="rId2"/>
          <a:stretch>
            <a:fillRect/>
          </a:stretch>
        </p:blipFill>
        <p:spPr>
          <a:xfrm>
            <a:off x="6446520" y="3749040"/>
            <a:ext cx="365760" cy="365760"/>
          </a:xfrm>
          <a:prstGeom prst="rect">
            <a:avLst/>
          </a:prstGeom>
        </p:spPr>
      </p:pic>
      <p:sp>
        <p:nvSpPr>
          <p:cNvPr id="16" name="Text 12"/>
          <p:cNvSpPr/>
          <p:nvPr/>
        </p:nvSpPr>
        <p:spPr>
          <a:xfrm>
            <a:off x="7086600" y="3520440"/>
            <a:ext cx="4206240" cy="320040"/>
          </a:xfrm>
          <a:prstGeom prst="rect">
            <a:avLst/>
          </a:prstGeom>
          <a:noFill/>
        </p:spPr>
        <p:txBody>
          <a:bodyPr wrap="square" lIns="0" tIns="0" rIns="0" bIns="0" rtlCol="0" anchor="ctr"/>
          <a:lstStyle/>
          <a:p>
            <a:pPr marL="0" indent="0">
              <a:buNone/>
            </a:pPr>
            <a:r>
              <a:rPr lang="en-US" sz="1300" b="1" dirty="0">
                <a:solidFill>
                  <a:srgbClr val="FFFFFF"/>
                </a:solidFill>
                <a:latin typeface="Georgia" panose="02040502050405090303" pitchFamily="34" charset="0"/>
                <a:ea typeface="Georgia" panose="02040502050405090303" pitchFamily="34" charset="-122"/>
                <a:cs typeface="Georgia" panose="02040502050405090303" pitchFamily="34" charset="-120"/>
              </a:rPr>
              <a:t>Accès aux données</a:t>
            </a:r>
            <a:endParaRPr lang="en-US" sz="1300" dirty="0"/>
          </a:p>
        </p:txBody>
      </p:sp>
      <p:sp>
        <p:nvSpPr>
          <p:cNvPr id="17" name="Text 13"/>
          <p:cNvSpPr/>
          <p:nvPr/>
        </p:nvSpPr>
        <p:spPr>
          <a:xfrm>
            <a:off x="7086600" y="3840480"/>
            <a:ext cx="4206240" cy="594360"/>
          </a:xfrm>
          <a:prstGeom prst="rect">
            <a:avLst/>
          </a:prstGeom>
          <a:noFill/>
        </p:spPr>
        <p:txBody>
          <a:bodyPr wrap="square" lIns="0" tIns="0" rIns="0" bIns="0" rtlCol="0" anchor="ctr"/>
          <a:lstStyle/>
          <a:p>
            <a:pPr marL="0" indent="0">
              <a:buNone/>
            </a:pPr>
            <a:r>
              <a:rPr lang="en-US" sz="1000" dirty="0">
                <a:solidFill>
                  <a:schemeClr val="bg1"/>
                </a:solidFill>
                <a:latin typeface="Calibri" pitchFamily="34" charset="0"/>
                <a:ea typeface="Calibri" pitchFamily="34" charset="-122"/>
                <a:cs typeface="Calibri" pitchFamily="34" charset="-120"/>
              </a:rPr>
              <a:t>Historique des sinistres, cartes des zones critiques, contacts opérationnels</a:t>
            </a:r>
            <a:endParaRPr lang="en-US" sz="1000" dirty="0">
              <a:solidFill>
                <a:schemeClr val="bg1"/>
              </a:solidFill>
              <a:latin typeface="Calibri" pitchFamily="34" charset="0"/>
              <a:ea typeface="Calibri" pitchFamily="34" charset="-122"/>
              <a:cs typeface="Calibri" pitchFamily="34" charset="-120"/>
            </a:endParaRPr>
          </a:p>
        </p:txBody>
      </p:sp>
      <p:sp>
        <p:nvSpPr>
          <p:cNvPr id="18" name="Shape 14"/>
          <p:cNvSpPr/>
          <p:nvPr/>
        </p:nvSpPr>
        <p:spPr>
          <a:xfrm>
            <a:off x="731520" y="4617720"/>
            <a:ext cx="5257800" cy="1097280"/>
          </a:xfrm>
          <a:prstGeom prst="rect">
            <a:avLst/>
          </a:prstGeom>
          <a:solidFill>
            <a:srgbClr val="FFFFFF">
              <a:alpha val="10000"/>
            </a:srgbClr>
          </a:solidFill>
          <a:ln w="12700">
            <a:solidFill>
              <a:srgbClr val="F59E0B"/>
            </a:solidFill>
            <a:prstDash val="solid"/>
          </a:ln>
        </p:spPr>
      </p:sp>
      <p:sp>
        <p:nvSpPr>
          <p:cNvPr id="19" name="Shape 15"/>
          <p:cNvSpPr/>
          <p:nvPr/>
        </p:nvSpPr>
        <p:spPr>
          <a:xfrm>
            <a:off x="914400" y="4892040"/>
            <a:ext cx="548640" cy="548640"/>
          </a:xfrm>
          <a:prstGeom prst="ellipse">
            <a:avLst/>
          </a:prstGeom>
          <a:solidFill>
            <a:srgbClr val="F59E0B"/>
          </a:solidFill>
          <a:ln w="12700">
            <a:solidFill>
              <a:srgbClr val="F59E0B"/>
            </a:solidFill>
            <a:prstDash val="solid"/>
          </a:ln>
        </p:spPr>
      </p:sp>
      <p:pic>
        <p:nvPicPr>
          <p:cNvPr id="20" name="Image 2" descr="preencoded.png"/>
          <p:cNvPicPr>
            <a:picLocks noChangeAspect="1"/>
          </p:cNvPicPr>
          <p:nvPr/>
        </p:nvPicPr>
        <p:blipFill>
          <a:blip r:embed="rId3"/>
          <a:stretch>
            <a:fillRect/>
          </a:stretch>
        </p:blipFill>
        <p:spPr>
          <a:xfrm>
            <a:off x="1005840" y="4983480"/>
            <a:ext cx="365760" cy="365760"/>
          </a:xfrm>
          <a:prstGeom prst="rect">
            <a:avLst/>
          </a:prstGeom>
        </p:spPr>
      </p:pic>
      <p:sp>
        <p:nvSpPr>
          <p:cNvPr id="21" name="Text 16"/>
          <p:cNvSpPr/>
          <p:nvPr/>
        </p:nvSpPr>
        <p:spPr>
          <a:xfrm>
            <a:off x="1645920" y="4754880"/>
            <a:ext cx="4206240" cy="320040"/>
          </a:xfrm>
          <a:prstGeom prst="rect">
            <a:avLst/>
          </a:prstGeom>
          <a:noFill/>
        </p:spPr>
        <p:txBody>
          <a:bodyPr wrap="square" lIns="0" tIns="0" rIns="0" bIns="0" rtlCol="0" anchor="ctr"/>
          <a:lstStyle/>
          <a:p>
            <a:pPr marL="0" indent="0">
              <a:buNone/>
            </a:pPr>
            <a:r>
              <a:rPr lang="en-US" sz="1300" b="1" dirty="0">
                <a:solidFill>
                  <a:srgbClr val="FFFFFF"/>
                </a:solidFill>
                <a:latin typeface="Georgia" panose="02040502050405090303" pitchFamily="34" charset="0"/>
                <a:ea typeface="Georgia" panose="02040502050405090303" pitchFamily="34" charset="-122"/>
                <a:cs typeface="Georgia" panose="02040502050405090303" pitchFamily="34" charset="-120"/>
              </a:rPr>
              <a:t>Quartier pilote conjoint</a:t>
            </a:r>
            <a:endParaRPr lang="en-US" sz="1300" dirty="0"/>
          </a:p>
        </p:txBody>
      </p:sp>
      <p:sp>
        <p:nvSpPr>
          <p:cNvPr id="22" name="Text 17"/>
          <p:cNvSpPr/>
          <p:nvPr/>
        </p:nvSpPr>
        <p:spPr>
          <a:xfrm>
            <a:off x="1645920" y="5074920"/>
            <a:ext cx="4206240" cy="594360"/>
          </a:xfrm>
          <a:prstGeom prst="rect">
            <a:avLst/>
          </a:prstGeom>
          <a:noFill/>
        </p:spPr>
        <p:txBody>
          <a:bodyPr wrap="square" lIns="0" tIns="0" rIns="0" bIns="0" rtlCol="0" anchor="ctr"/>
          <a:lstStyle/>
          <a:p>
            <a:pPr marL="0" indent="0">
              <a:buNone/>
            </a:pPr>
            <a:r>
              <a:rPr lang="en-US" sz="1000" dirty="0">
                <a:solidFill>
                  <a:schemeClr val="bg1"/>
                </a:solidFill>
                <a:latin typeface="Calibri" pitchFamily="34" charset="0"/>
                <a:ea typeface="Calibri" pitchFamily="34" charset="-122"/>
                <a:cs typeface="Calibri" pitchFamily="34" charset="-120"/>
              </a:rPr>
              <a:t>Démarrer sur Keur Massar ou Pikine pour démontrer la valeur en saison des pluies</a:t>
            </a:r>
            <a:endParaRPr lang="en-US" sz="1000" dirty="0">
              <a:solidFill>
                <a:schemeClr val="bg1"/>
              </a:solidFill>
              <a:latin typeface="Calibri" pitchFamily="34" charset="0"/>
              <a:ea typeface="Calibri" pitchFamily="34" charset="-122"/>
              <a:cs typeface="Calibri" pitchFamily="34" charset="-120"/>
            </a:endParaRPr>
          </a:p>
        </p:txBody>
      </p:sp>
      <p:sp>
        <p:nvSpPr>
          <p:cNvPr id="23" name="Shape 18"/>
          <p:cNvSpPr/>
          <p:nvPr/>
        </p:nvSpPr>
        <p:spPr>
          <a:xfrm>
            <a:off x="6172200" y="4617720"/>
            <a:ext cx="5257800" cy="1097280"/>
          </a:xfrm>
          <a:prstGeom prst="rect">
            <a:avLst/>
          </a:prstGeom>
          <a:solidFill>
            <a:srgbClr val="FFFFFF">
              <a:alpha val="10000"/>
            </a:srgbClr>
          </a:solidFill>
          <a:ln w="12700">
            <a:solidFill>
              <a:srgbClr val="F59E0B"/>
            </a:solidFill>
            <a:prstDash val="solid"/>
          </a:ln>
        </p:spPr>
      </p:sp>
      <p:sp>
        <p:nvSpPr>
          <p:cNvPr id="24" name="Shape 19"/>
          <p:cNvSpPr/>
          <p:nvPr/>
        </p:nvSpPr>
        <p:spPr>
          <a:xfrm>
            <a:off x="6355080" y="4892040"/>
            <a:ext cx="548640" cy="548640"/>
          </a:xfrm>
          <a:prstGeom prst="ellipse">
            <a:avLst/>
          </a:prstGeom>
          <a:solidFill>
            <a:srgbClr val="F59E0B"/>
          </a:solidFill>
          <a:ln w="12700">
            <a:solidFill>
              <a:srgbClr val="F59E0B"/>
            </a:solidFill>
            <a:prstDash val="solid"/>
          </a:ln>
        </p:spPr>
      </p:sp>
      <p:pic>
        <p:nvPicPr>
          <p:cNvPr id="25" name="Image 3" descr="preencoded.png"/>
          <p:cNvPicPr>
            <a:picLocks noChangeAspect="1"/>
          </p:cNvPicPr>
          <p:nvPr/>
        </p:nvPicPr>
        <p:blipFill>
          <a:blip r:embed="rId4"/>
          <a:stretch>
            <a:fillRect/>
          </a:stretch>
        </p:blipFill>
        <p:spPr>
          <a:xfrm>
            <a:off x="6446520" y="4983480"/>
            <a:ext cx="365760" cy="365760"/>
          </a:xfrm>
          <a:prstGeom prst="rect">
            <a:avLst/>
          </a:prstGeom>
        </p:spPr>
      </p:pic>
      <p:sp>
        <p:nvSpPr>
          <p:cNvPr id="26" name="Text 20"/>
          <p:cNvSpPr/>
          <p:nvPr/>
        </p:nvSpPr>
        <p:spPr>
          <a:xfrm>
            <a:off x="7086600" y="4754880"/>
            <a:ext cx="4206240" cy="320040"/>
          </a:xfrm>
          <a:prstGeom prst="rect">
            <a:avLst/>
          </a:prstGeom>
          <a:noFill/>
        </p:spPr>
        <p:txBody>
          <a:bodyPr wrap="square" lIns="0" tIns="0" rIns="0" bIns="0" rtlCol="0" anchor="ctr"/>
          <a:lstStyle/>
          <a:p>
            <a:pPr marL="0" indent="0">
              <a:buNone/>
            </a:pPr>
            <a:r>
              <a:rPr lang="en-US" sz="1300" b="1" dirty="0">
                <a:solidFill>
                  <a:srgbClr val="FFFFFF"/>
                </a:solidFill>
                <a:latin typeface="Georgia" panose="02040502050405090303" pitchFamily="34" charset="0"/>
                <a:ea typeface="Georgia" panose="02040502050405090303" pitchFamily="34" charset="-122"/>
                <a:cs typeface="Georgia" panose="02040502050405090303" pitchFamily="34" charset="-120"/>
              </a:rPr>
              <a:t>Adossement institutionnel</a:t>
            </a:r>
            <a:endParaRPr lang="en-US" sz="1300" dirty="0"/>
          </a:p>
        </p:txBody>
      </p:sp>
      <p:sp>
        <p:nvSpPr>
          <p:cNvPr id="27" name="Text 21"/>
          <p:cNvSpPr/>
          <p:nvPr/>
        </p:nvSpPr>
        <p:spPr>
          <a:xfrm>
            <a:off x="7086600" y="5074920"/>
            <a:ext cx="4206240" cy="594360"/>
          </a:xfrm>
          <a:prstGeom prst="rect">
            <a:avLst/>
          </a:prstGeom>
          <a:noFill/>
        </p:spPr>
        <p:txBody>
          <a:bodyPr wrap="square" lIns="0" tIns="0" rIns="0" bIns="0" rtlCol="0" anchor="ctr"/>
          <a:lstStyle/>
          <a:p>
            <a:pPr marL="0" indent="0">
              <a:buNone/>
            </a:pPr>
            <a:r>
              <a:rPr lang="en-US" sz="1000" dirty="0">
                <a:solidFill>
                  <a:schemeClr val="bg1"/>
                </a:solidFill>
                <a:latin typeface="Calibri" pitchFamily="34" charset="0"/>
                <a:ea typeface="Calibri" pitchFamily="34" charset="-122"/>
                <a:cs typeface="Calibri" pitchFamily="34" charset="-120"/>
              </a:rPr>
              <a:t>Légitimer le système pour le déploiement progressif sur les 14 régions</a:t>
            </a:r>
            <a:endParaRPr lang="en-US" sz="1000" dirty="0">
              <a:solidFill>
                <a:schemeClr val="bg1"/>
              </a:solidFill>
              <a:latin typeface="Calibri" pitchFamily="34" charset="0"/>
              <a:ea typeface="Calibri" pitchFamily="34" charset="-122"/>
              <a:cs typeface="Calibri" pitchFamily="34" charset="-120"/>
            </a:endParaRPr>
          </a:p>
        </p:txBody>
      </p:sp>
      <p:sp>
        <p:nvSpPr>
          <p:cNvPr id="28" name="Shape 22"/>
          <p:cNvSpPr/>
          <p:nvPr/>
        </p:nvSpPr>
        <p:spPr>
          <a:xfrm>
            <a:off x="0" y="5943600"/>
            <a:ext cx="12161520" cy="914400"/>
          </a:xfrm>
          <a:prstGeom prst="rect">
            <a:avLst/>
          </a:prstGeom>
          <a:solidFill>
            <a:srgbClr val="000000">
              <a:alpha val="40000"/>
            </a:srgbClr>
          </a:solidFill>
          <a:ln w="12700">
            <a:solidFill>
              <a:srgbClr val="000000"/>
            </a:solidFill>
            <a:prstDash val="solid"/>
          </a:ln>
        </p:spPr>
      </p:sp>
      <p:sp>
        <p:nvSpPr>
          <p:cNvPr id="29" name="Text 23"/>
          <p:cNvSpPr/>
          <p:nvPr/>
        </p:nvSpPr>
        <p:spPr>
          <a:xfrm>
            <a:off x="731520" y="5989320"/>
            <a:ext cx="10698480" cy="365760"/>
          </a:xfrm>
          <a:prstGeom prst="rect">
            <a:avLst/>
          </a:prstGeom>
          <a:noFill/>
        </p:spPr>
        <p:txBody>
          <a:bodyPr wrap="square" lIns="0" tIns="0" rIns="0" bIns="0" rtlCol="0" anchor="ctr"/>
          <a:lstStyle/>
          <a:p>
            <a:pPr marL="0" indent="0">
              <a:buNone/>
            </a:pPr>
            <a:r>
              <a:rPr lang="en-US" sz="1100" b="1" kern="0" spc="400" dirty="0">
                <a:solidFill>
                  <a:srgbClr val="F59E0B"/>
                </a:solidFill>
                <a:latin typeface="Calibri" pitchFamily="34" charset="0"/>
                <a:ea typeface="Calibri" pitchFamily="34" charset="-122"/>
                <a:cs typeface="Calibri" pitchFamily="34" charset="-120"/>
              </a:rPr>
              <a:t>NOUS RESTONS À VOTRE DISPOSITION</a:t>
            </a:r>
            <a:endParaRPr lang="en-US" sz="1100" dirty="0"/>
          </a:p>
        </p:txBody>
      </p:sp>
      <p:sp>
        <p:nvSpPr>
          <p:cNvPr id="30" name="Text 24"/>
          <p:cNvSpPr/>
          <p:nvPr/>
        </p:nvSpPr>
        <p:spPr>
          <a:xfrm>
            <a:off x="731520" y="6355080"/>
            <a:ext cx="10698480" cy="457200"/>
          </a:xfrm>
          <a:prstGeom prst="rect">
            <a:avLst/>
          </a:prstGeom>
          <a:noFill/>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Adama Sow KÉBÉ</a:t>
            </a:r>
            <a:r>
              <a:rPr lang="en-US" sz="1000" dirty="0">
                <a:solidFill>
                  <a:srgbClr val="42A5F5"/>
                </a:solidFill>
                <a:latin typeface="Calibri" pitchFamily="34" charset="0"/>
                <a:ea typeface="Calibri" pitchFamily="34" charset="-122"/>
                <a:cs typeface="Calibri" pitchFamily="34" charset="-120"/>
              </a:rPr>
              <a:t> kebeadama100@gmail.com   </a:t>
            </a:r>
            <a:r>
              <a:rPr lang="en-US" sz="1200" b="1" dirty="0">
                <a:solidFill>
                  <a:srgbClr val="F59E0B"/>
                </a:solidFill>
                <a:latin typeface="Calibri" pitchFamily="34" charset="0"/>
                <a:ea typeface="Calibri" pitchFamily="34" charset="-122"/>
                <a:cs typeface="Calibri" pitchFamily="34" charset="-120"/>
              </a:rPr>
              <a:t>·  </a:t>
            </a:r>
            <a:r>
              <a:rPr lang="en-US" sz="1100" b="1" dirty="0">
                <a:solidFill>
                  <a:srgbClr val="FFFFFF"/>
                </a:solidFill>
                <a:latin typeface="Calibri" pitchFamily="34" charset="0"/>
                <a:ea typeface="Calibri" pitchFamily="34" charset="-122"/>
                <a:cs typeface="Calibri" pitchFamily="34" charset="-120"/>
              </a:rPr>
              <a:t>Papa Ahmadou Seydou SOW</a:t>
            </a:r>
            <a:r>
              <a:rPr lang="en-US" sz="1000" dirty="0">
                <a:solidFill>
                  <a:srgbClr val="42A5F5"/>
                </a:solidFill>
                <a:latin typeface="Calibri" pitchFamily="34" charset="0"/>
                <a:ea typeface="Calibri" pitchFamily="34" charset="-122"/>
                <a:cs typeface="Calibri" pitchFamily="34" charset="-120"/>
              </a:rPr>
              <a:t> paseydou.sow@univ-thies.sn   </a:t>
            </a:r>
            <a:r>
              <a:rPr lang="en-US" sz="1200" b="1" dirty="0">
                <a:solidFill>
                  <a:srgbClr val="F59E0B"/>
                </a:solidFill>
                <a:latin typeface="Calibri" pitchFamily="34" charset="0"/>
                <a:ea typeface="Calibri" pitchFamily="34" charset="-122"/>
                <a:cs typeface="Calibri" pitchFamily="34" charset="-120"/>
              </a:rPr>
              <a:t>·  </a:t>
            </a:r>
            <a:r>
              <a:rPr lang="en-US" sz="1000" i="1" dirty="0">
                <a:solidFill>
                  <a:srgbClr val="F59E0B"/>
                </a:solidFill>
                <a:latin typeface="Calibri" pitchFamily="34" charset="0"/>
                <a:ea typeface="Calibri" pitchFamily="34" charset="-122"/>
                <a:cs typeface="Calibri" pitchFamily="34" charset="-120"/>
              </a:rPr>
              <a:t>flood.yaataldigital.com</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D47A1"/>
        </a:solidFill>
        <a:effectLst/>
      </p:bgPr>
    </p:bg>
    <p:spTree>
      <p:nvGrpSpPr>
        <p:cNvPr id="1" name=""/>
        <p:cNvGrpSpPr/>
        <p:nvPr/>
      </p:nvGrpSpPr>
      <p:grpSpPr>
        <a:xfrm>
          <a:off x="0" y="0"/>
          <a:ext cx="0" cy="0"/>
          <a:chOff x="0" y="0"/>
          <a:chExt cx="0" cy="0"/>
        </a:xfrm>
      </p:grpSpPr>
      <p:sp>
        <p:nvSpPr>
          <p:cNvPr id="2" name="Shape 0"/>
          <p:cNvSpPr/>
          <p:nvPr/>
        </p:nvSpPr>
        <p:spPr>
          <a:xfrm>
            <a:off x="-2743200" y="-2743200"/>
            <a:ext cx="8229600" cy="8229600"/>
          </a:xfrm>
          <a:prstGeom prst="ellipse">
            <a:avLst/>
          </a:prstGeom>
          <a:solidFill>
            <a:srgbClr val="1565C0">
              <a:alpha val="30000"/>
            </a:srgbClr>
          </a:solidFill>
          <a:ln w="12700">
            <a:solidFill>
              <a:srgbClr val="1565C0"/>
            </a:solidFill>
            <a:prstDash val="solid"/>
          </a:ln>
        </p:spPr>
      </p:sp>
      <p:sp>
        <p:nvSpPr>
          <p:cNvPr id="3" name="Shape 1"/>
          <p:cNvSpPr/>
          <p:nvPr/>
        </p:nvSpPr>
        <p:spPr>
          <a:xfrm>
            <a:off x="7589520" y="2286000"/>
            <a:ext cx="8229600" cy="8229600"/>
          </a:xfrm>
          <a:prstGeom prst="ellipse">
            <a:avLst/>
          </a:prstGeom>
          <a:solidFill>
            <a:srgbClr val="1565C0">
              <a:alpha val="20000"/>
            </a:srgbClr>
          </a:solidFill>
          <a:ln w="12700">
            <a:solidFill>
              <a:srgbClr val="1565C0"/>
            </a:solidFill>
            <a:prstDash val="solid"/>
          </a:ln>
        </p:spPr>
      </p:sp>
      <p:sp>
        <p:nvSpPr>
          <p:cNvPr id="4" name="Shape 2"/>
          <p:cNvSpPr/>
          <p:nvPr/>
        </p:nvSpPr>
        <p:spPr>
          <a:xfrm>
            <a:off x="3977640" y="2194560"/>
            <a:ext cx="914400" cy="914400"/>
          </a:xfrm>
          <a:prstGeom prst="ellipse">
            <a:avLst/>
          </a:prstGeom>
          <a:solidFill>
            <a:srgbClr val="F59E0B"/>
          </a:solidFill>
          <a:ln w="12700">
            <a:solidFill>
              <a:srgbClr val="F59E0B"/>
            </a:solidFill>
            <a:prstDash val="solid"/>
          </a:ln>
        </p:spPr>
      </p:sp>
      <p:pic>
        <p:nvPicPr>
          <p:cNvPr id="5" name="Image 0" descr="preencoded.png"/>
          <p:cNvPicPr>
            <a:picLocks noChangeAspect="1"/>
          </p:cNvPicPr>
          <p:nvPr/>
        </p:nvPicPr>
        <p:blipFill>
          <a:blip r:embed="rId1"/>
          <a:stretch>
            <a:fillRect/>
          </a:stretch>
        </p:blipFill>
        <p:spPr>
          <a:xfrm>
            <a:off x="4206240" y="2423160"/>
            <a:ext cx="457200" cy="457200"/>
          </a:xfrm>
          <a:prstGeom prst="rect">
            <a:avLst/>
          </a:prstGeom>
        </p:spPr>
      </p:pic>
      <p:sp>
        <p:nvSpPr>
          <p:cNvPr id="6" name="Shape 3"/>
          <p:cNvSpPr/>
          <p:nvPr/>
        </p:nvSpPr>
        <p:spPr>
          <a:xfrm>
            <a:off x="5623560" y="2194560"/>
            <a:ext cx="914400" cy="914400"/>
          </a:xfrm>
          <a:prstGeom prst="ellipse">
            <a:avLst/>
          </a:prstGeom>
        </p:spPr>
        <p:style>
          <a:lnRef idx="0">
            <a:srgbClr val="FFFFFF"/>
          </a:lnRef>
          <a:fillRef idx="1">
            <a:schemeClr val="accent1"/>
          </a:fillRef>
          <a:effectRef idx="0">
            <a:srgbClr val="FFFFFF"/>
          </a:effectRef>
          <a:fontRef idx="minor">
            <a:schemeClr val="lt1"/>
          </a:fontRef>
        </p:style>
      </p:sp>
      <p:pic>
        <p:nvPicPr>
          <p:cNvPr id="7" name="Image 1" descr="preencoded.png"/>
          <p:cNvPicPr>
            <a:picLocks noChangeAspect="1"/>
          </p:cNvPicPr>
          <p:nvPr/>
        </p:nvPicPr>
        <p:blipFill>
          <a:blip r:embed="rId2"/>
          <a:stretch>
            <a:fillRect/>
          </a:stretch>
        </p:blipFill>
        <p:spPr>
          <a:xfrm>
            <a:off x="5852160" y="2423160"/>
            <a:ext cx="457200" cy="457200"/>
          </a:xfrm>
          <a:prstGeom prst="rect">
            <a:avLst/>
          </a:prstGeom>
        </p:spPr>
      </p:pic>
      <p:sp>
        <p:nvSpPr>
          <p:cNvPr id="8" name="Shape 4"/>
          <p:cNvSpPr/>
          <p:nvPr/>
        </p:nvSpPr>
        <p:spPr>
          <a:xfrm>
            <a:off x="7269480" y="2194560"/>
            <a:ext cx="914400" cy="914400"/>
          </a:xfrm>
          <a:prstGeom prst="ellipse">
            <a:avLst/>
          </a:prstGeom>
          <a:solidFill>
            <a:srgbClr val="059669"/>
          </a:solidFill>
          <a:ln w="12700">
            <a:solidFill>
              <a:srgbClr val="059669"/>
            </a:solidFill>
            <a:prstDash val="solid"/>
          </a:ln>
        </p:spPr>
      </p:sp>
      <p:pic>
        <p:nvPicPr>
          <p:cNvPr id="9" name="Image 2" descr="preencoded.png"/>
          <p:cNvPicPr>
            <a:picLocks noChangeAspect="1"/>
          </p:cNvPicPr>
          <p:nvPr/>
        </p:nvPicPr>
        <p:blipFill>
          <a:blip r:embed="rId3"/>
          <a:stretch>
            <a:fillRect/>
          </a:stretch>
        </p:blipFill>
        <p:spPr>
          <a:xfrm>
            <a:off x="7498080" y="2423160"/>
            <a:ext cx="457200" cy="457200"/>
          </a:xfrm>
          <a:prstGeom prst="rect">
            <a:avLst/>
          </a:prstGeom>
        </p:spPr>
      </p:pic>
      <p:sp>
        <p:nvSpPr>
          <p:cNvPr id="10" name="Text 5"/>
          <p:cNvSpPr/>
          <p:nvPr/>
        </p:nvSpPr>
        <p:spPr>
          <a:xfrm>
            <a:off x="457200" y="3749040"/>
            <a:ext cx="11247120" cy="1280160"/>
          </a:xfrm>
          <a:prstGeom prst="rect">
            <a:avLst/>
          </a:prstGeom>
          <a:noFill/>
        </p:spPr>
        <p:txBody>
          <a:bodyPr wrap="square" lIns="0" tIns="0" rIns="0" bIns="0" rtlCol="0" anchor="ctr"/>
          <a:lstStyle/>
          <a:p>
            <a:pPr marL="0" indent="0" algn="ctr">
              <a:buNone/>
            </a:pPr>
            <a:r>
              <a:rPr lang="en-US" sz="6000" b="1" i="1" dirty="0">
                <a:solidFill>
                  <a:srgbClr val="FFFFFF"/>
                </a:solidFill>
                <a:latin typeface="Georgia" panose="02040502050405090303" pitchFamily="34" charset="0"/>
                <a:ea typeface="Georgia" panose="02040502050405090303" pitchFamily="34" charset="-122"/>
                <a:cs typeface="Georgia" panose="02040502050405090303" pitchFamily="34" charset="-120"/>
              </a:rPr>
              <a:t>Merci pour votre attention</a:t>
            </a:r>
            <a:endParaRPr lang="en-US" sz="6000" dirty="0"/>
          </a:p>
        </p:txBody>
      </p:sp>
      <p:sp>
        <p:nvSpPr>
          <p:cNvPr id="11" name="Text 6"/>
          <p:cNvSpPr/>
          <p:nvPr/>
        </p:nvSpPr>
        <p:spPr>
          <a:xfrm>
            <a:off x="457200" y="5212080"/>
            <a:ext cx="11247120" cy="457200"/>
          </a:xfrm>
          <a:prstGeom prst="rect">
            <a:avLst/>
          </a:prstGeom>
          <a:noFill/>
        </p:spPr>
        <p:txBody>
          <a:bodyPr wrap="square" lIns="0" tIns="0" rIns="0" bIns="0" rtlCol="0" anchor="ctr"/>
          <a:lstStyle/>
          <a:p>
            <a:pPr marL="0" indent="0" algn="ctr">
              <a:buNone/>
            </a:pPr>
            <a:r>
              <a:rPr lang="en-US" sz="1600" i="1" dirty="0">
                <a:solidFill>
                  <a:srgbClr val="F59E0B"/>
                </a:solidFill>
                <a:latin typeface="Georgia" panose="02040502050405090303" pitchFamily="34" charset="0"/>
                <a:ea typeface="Georgia" panose="02040502050405090303" pitchFamily="34" charset="-122"/>
                <a:cs typeface="Georgia" panose="02040502050405090303" pitchFamily="34" charset="-120"/>
              </a:rPr>
              <a:t>Saytu Mbeund  ·  « Veiller sur les inondations »</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8738</Words>
  <Application>WPS Presentation</Application>
  <PresentationFormat>On-screen Show (16:9)</PresentationFormat>
  <Paragraphs>493</Paragraphs>
  <Slides>12</Slides>
  <Notes>12</Notes>
  <HiddenSlides>0</HiddenSlides>
  <MMClips>0</MMClips>
  <ScaleCrop>false</ScaleCrop>
  <HeadingPairs>
    <vt:vector size="6" baseType="variant">
      <vt:variant>
        <vt:lpstr>已用的字体</vt:lpstr>
      </vt:variant>
      <vt:variant>
        <vt:i4>14</vt:i4>
      </vt:variant>
      <vt:variant>
        <vt:lpstr>主题</vt:lpstr>
      </vt:variant>
      <vt:variant>
        <vt:i4>1</vt:i4>
      </vt:variant>
      <vt:variant>
        <vt:lpstr>幻灯片标题</vt:lpstr>
      </vt:variant>
      <vt:variant>
        <vt:i4>12</vt:i4>
      </vt:variant>
    </vt:vector>
  </HeadingPairs>
  <TitlesOfParts>
    <vt:vector size="27" baseType="lpstr">
      <vt:lpstr>Arial</vt:lpstr>
      <vt:lpstr>SimSun</vt:lpstr>
      <vt:lpstr>Wingdings</vt:lpstr>
      <vt:lpstr>Calibri</vt:lpstr>
      <vt:lpstr>Helvetica Neue</vt:lpstr>
      <vt:lpstr>Calibri</vt:lpstr>
      <vt:lpstr>Calibri</vt:lpstr>
      <vt:lpstr>Georgia</vt:lpstr>
      <vt:lpstr>Georgia</vt:lpstr>
      <vt:lpstr>Georgia</vt:lpstr>
      <vt:lpstr>Microsoft YaHei</vt:lpstr>
      <vt:lpstr>汉仪旗黑</vt:lpstr>
      <vt:lpstr>Arial Unicode MS</vt:lpstr>
      <vt:lpstr>汉仪书宋二KW</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Yaatal Digital</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Saytu Mbeund — FloodGuardAI</dc:title>
  <dc:creator>Papa Ahmadou Seydou Sow &amp; Adama Sow Kébé</dc:creator>
  <dc:subject>PptxGenJS Presentation</dc:subject>
  <cp:lastModifiedBy>Amadou Sow</cp:lastModifiedBy>
  <cp:revision>2</cp:revision>
  <dcterms:created xsi:type="dcterms:W3CDTF">2026-05-03T20:02:56Z</dcterms:created>
  <dcterms:modified xsi:type="dcterms:W3CDTF">2026-05-03T20:02:56Z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1033-12.1.25880.25880</vt:lpwstr>
  </property>
  <property fmtid="{D5CDD505-2E9C-101B-9397-08002B2CF9AE}" pid="3" name="ICV">
    <vt:lpwstr>AB79119528801A89F0A9F76973EA39CD_42</vt:lpwstr>
  </property>
</Properties>
</file>